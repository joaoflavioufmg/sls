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52" r:id="rId2"/>
    <p:sldId id="418" r:id="rId3"/>
    <p:sldId id="427" r:id="rId4"/>
    <p:sldId id="428" r:id="rId5"/>
    <p:sldId id="425" r:id="rId6"/>
    <p:sldId id="430" r:id="rId7"/>
    <p:sldId id="439" r:id="rId8"/>
    <p:sldId id="440" r:id="rId9"/>
    <p:sldId id="441" r:id="rId10"/>
    <p:sldId id="432" r:id="rId11"/>
    <p:sldId id="442" r:id="rId12"/>
    <p:sldId id="41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37" autoAdjust="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EA1EA-AA43-4931-9AEB-9721C5B5C56A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04BFB-6D26-4D8D-9FE7-8A994FCF2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51C96-70A2-4E65-87BB-17C124FF0544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DAC8B-3C38-4205-BA1D-CCF6421D598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DAC8B-3C38-4205-BA1D-CCF6421D5980}" type="slidenum">
              <a:rPr lang="pt-BR" smtClean="0"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F0FE-8542-4358-9499-178E2E967A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CaixaDeTexto 1"/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3" name="CaixaDeTexto 2"/>
          <p:cNvSpPr txBox="1"/>
          <p:nvPr userDrawn="1"/>
        </p:nvSpPr>
        <p:spPr>
          <a:xfrm>
            <a:off x="2740823" y="61995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4" name="CaixaDeTexto 3"/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6" name="CaixaDeTexto 5"/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7" name="CaixaDeTexto 6"/>
          <p:cNvSpPr txBox="1"/>
          <p:nvPr userDrawn="1"/>
        </p:nvSpPr>
        <p:spPr>
          <a:xfrm>
            <a:off x="9282545" y="6279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Naveg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408708" y="106429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12" name="CaixaDeTexto 11"/>
          <p:cNvSpPr txBox="1"/>
          <p:nvPr userDrawn="1"/>
        </p:nvSpPr>
        <p:spPr>
          <a:xfrm>
            <a:off x="2893223" y="109891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OBJETIVO GERAL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5842943" y="124002"/>
            <a:ext cx="23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OBJETIVOS ESPECÍFICOS</a:t>
            </a:r>
          </a:p>
        </p:txBody>
      </p:sp>
      <p:sp>
        <p:nvSpPr>
          <p:cNvPr id="14" name="CaixaDeTexto 13"/>
          <p:cNvSpPr txBox="1"/>
          <p:nvPr userDrawn="1"/>
        </p:nvSpPr>
        <p:spPr>
          <a:xfrm>
            <a:off x="8280396" y="127309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" name="CaixaDeTexto 1"/>
          <p:cNvSpPr txBox="1"/>
          <p:nvPr userDrawn="1"/>
        </p:nvSpPr>
        <p:spPr>
          <a:xfrm>
            <a:off x="9282545" y="11821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Retângulo 1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4" name="CaixaDeTexto 3"/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0" name="CaixaDeTexto 9"/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9" name="CaixaDeTexto 18"/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9" name="CaixaDeTexto 8"/>
          <p:cNvSpPr txBox="1"/>
          <p:nvPr userDrawn="1"/>
        </p:nvSpPr>
        <p:spPr>
          <a:xfrm>
            <a:off x="9282545" y="6279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Retângulo 1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4" name="CaixaDeTexto 3"/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0" name="CaixaDeTexto 9"/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9" name="CaixaDeTexto 18"/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9" name="CaixaDeTexto 8"/>
          <p:cNvSpPr txBox="1"/>
          <p:nvPr userDrawn="1"/>
        </p:nvSpPr>
        <p:spPr>
          <a:xfrm>
            <a:off x="9282545" y="6279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Retângulo 1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4" name="CaixaDeTexto 3"/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0" name="CaixaDeTexto 9"/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9" name="CaixaDeTexto 18"/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9" name="CaixaDeTexto 8"/>
          <p:cNvSpPr txBox="1"/>
          <p:nvPr userDrawn="1"/>
        </p:nvSpPr>
        <p:spPr>
          <a:xfrm>
            <a:off x="9282545" y="6279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cine Supply C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7" name="Retângulo 16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CaixaDeTexto 17"/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19" name="CaixaDeTexto 18"/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20" name="CaixaDeTexto 19"/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21" name="CaixaDeTexto 20"/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" name="CaixaDeTexto 1"/>
          <p:cNvSpPr txBox="1"/>
          <p:nvPr userDrawn="1"/>
        </p:nvSpPr>
        <p:spPr>
          <a:xfrm>
            <a:off x="9282545" y="6279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/>
          <p:cNvSpPr>
            <a:spLocks noGrp="1"/>
          </p:cNvSpPr>
          <p:nvPr>
            <p:ph idx="1" hasCustomPrompt="1"/>
          </p:nvPr>
        </p:nvSpPr>
        <p:spPr>
          <a:xfrm>
            <a:off x="264605" y="167990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9" name="Retângulo 8"/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12" name="CaixaDeTexto 11"/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4" name="CaixaDeTexto 13"/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" name="CaixaDeTexto 1"/>
          <p:cNvSpPr txBox="1"/>
          <p:nvPr userDrawn="1"/>
        </p:nvSpPr>
        <p:spPr>
          <a:xfrm>
            <a:off x="9282545" y="62792"/>
            <a:ext cx="2511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RESULTADOS E ANÁLISES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38200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CD4FF0FE-8542-4358-9499-178E2E967A55}" type="slidenum">
              <a:rPr lang="pt-BR" smtClean="0"/>
              <a:t>‹nº›</a:t>
            </a:fld>
            <a:r>
              <a:rPr lang="pt-BR" dirty="0"/>
              <a:t>/20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/>
        </p:nvSpPr>
        <p:spPr>
          <a:xfrm>
            <a:off x="8520662" y="-170119"/>
            <a:ext cx="10069268" cy="7816358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noProof="0" dirty="0">
              <a:solidFill>
                <a:srgbClr val="0073A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723331" y="8188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7" name="CaixaDeTexto 6"/>
          <p:cNvSpPr txBox="1"/>
          <p:nvPr/>
        </p:nvSpPr>
        <p:spPr>
          <a:xfrm>
            <a:off x="417432" y="1409060"/>
            <a:ext cx="11310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Aplicação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 </a:t>
            </a:r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Simulação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 Bloco </a:t>
            </a:r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Cirúrgico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 Hospital </a:t>
            </a:r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Risoleta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Neves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03785" y="2517543"/>
            <a:ext cx="715815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Curso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Programa de Pós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Graduação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em Engenharia de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Produção</a:t>
            </a:r>
            <a:endParaRPr lang="en-US" sz="16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Disciplina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Simulação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Sistemas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Logísticos</a:t>
            </a:r>
            <a:endParaRPr lang="en-US" sz="16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Alunos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Bráulio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Frances Barcelos, Camila Ribeiro Batista e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Naiara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Helena Vieira</a:t>
            </a:r>
          </a:p>
          <a:p>
            <a:pPr>
              <a:lnSpc>
                <a:spcPct val="150000"/>
              </a:lnSpc>
            </a:pPr>
            <a:r>
              <a:rPr lang="en-US" sz="1600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Orientador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Prof. Dr. João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Flávio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Freitas Almeida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sz="16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noProof="0" dirty="0">
                <a:latin typeface="Cambria" panose="02040503050406030204" pitchFamily="18" charset="0"/>
                <a:ea typeface="Cambria" panose="02040503050406030204" pitchFamily="18" charset="0"/>
              </a:rPr>
              <a:t>Belo Horizonte, 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23</a:t>
            </a:r>
            <a:r>
              <a:rPr lang="en-US" sz="14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Novembro</a:t>
            </a:r>
            <a:r>
              <a:rPr lang="en-US" sz="14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2025</a:t>
            </a: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94" b="99221" l="0" r="8850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9788" y="1901371"/>
            <a:ext cx="1810702" cy="329326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300" y="5299297"/>
            <a:ext cx="2321758" cy="90056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432" y="5334604"/>
            <a:ext cx="3366912" cy="1409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03717"/>
            <a:ext cx="11662790" cy="44849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/>
              <a:t>A complexidade operacional do Bloco Cirúrgico do Hospital Risoleta Tolentino Neves é notória. Sendo um ponto de acesso crucial para a população da Região Norte de Belo Horizonte e municípios vizinhos, com atendimento 100% SUS, a unidade lida simultaneamente com múltiplos desafios:</a:t>
            </a:r>
          </a:p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Gestão de fluxos eletivos, de urgência e emergência;</a:t>
            </a:r>
          </a:p>
          <a:p>
            <a:endParaRPr lang="pt-BR" sz="2000" dirty="0"/>
          </a:p>
          <a:p>
            <a:r>
              <a:rPr lang="pt-BR" sz="2000" dirty="0"/>
              <a:t>Coordenação de diversas equipes multidisciplinares;</a:t>
            </a:r>
          </a:p>
          <a:p>
            <a:endParaRPr lang="pt-BR" sz="2000" dirty="0"/>
          </a:p>
          <a:p>
            <a:r>
              <a:rPr lang="pt-BR" sz="2000" dirty="0"/>
              <a:t>Integração de atividades de ensino e pesquisa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2</a:t>
            </a:fld>
            <a:endParaRPr lang="en-U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Objetivo</a:t>
            </a:r>
            <a:r>
              <a:rPr lang="en-US" dirty="0"/>
              <a:t> </a:t>
            </a:r>
            <a:r>
              <a:rPr lang="en-US" dirty="0" err="1"/>
              <a:t>Geral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7"/>
            <a:ext cx="11662790" cy="4427168"/>
          </a:xfrm>
        </p:spPr>
        <p:txBody>
          <a:bodyPr>
            <a:normAutofit/>
          </a:bodyPr>
          <a:lstStyle/>
          <a:p>
            <a:r>
              <a:rPr lang="pt-BR" sz="2000" dirty="0"/>
              <a:t>Compreender e representar, por meio de </a:t>
            </a:r>
            <a:r>
              <a:rPr lang="pt-BR" sz="2000" b="1" dirty="0"/>
              <a:t>modelagem e simulação</a:t>
            </a:r>
            <a:r>
              <a:rPr lang="pt-BR" sz="2000" dirty="0"/>
              <a:t>, o fluxo de operação do Bloco Cirúrgico do Hospital Risoleta Tolentino Neves, identificando gargalos, avaliando demandas por recursos, analisando impactos decorrentes de variações de demanda e oferecendo subsídios para o planejamento operacional do setor.</a:t>
            </a:r>
          </a:p>
          <a:p>
            <a:endParaRPr lang="pt-BR" sz="2000" dirty="0"/>
          </a:p>
          <a:p>
            <a:r>
              <a:rPr lang="pt-BR" sz="2100" dirty="0"/>
              <a:t>Analisar cenários de expansão de capacidade e/ou de demanda a fim de verificar seus impactos em indicadores de desempenho como tempo de espera, utilização de recursos e identificar estratégias para melhoria da eficiência global do sistema cirúrgico;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3</a:t>
            </a:fld>
            <a:endParaRPr lang="en-U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- </a:t>
            </a:r>
            <a:r>
              <a:rPr lang="en-US" dirty="0" err="1"/>
              <a:t>Específicos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7"/>
            <a:ext cx="11662790" cy="4427168"/>
          </a:xfrm>
        </p:spPr>
        <p:txBody>
          <a:bodyPr>
            <a:normAutofit fontScale="92500" lnSpcReduction="20000"/>
          </a:bodyPr>
          <a:lstStyle/>
          <a:p>
            <a:r>
              <a:rPr lang="pt-BR" sz="2000" dirty="0"/>
              <a:t>Identificar os principais gargalos operacionais, padrões de utilização de recursos e fatores que limitam a capacidade atual da unidade cirúrgica, por meio de um modelo de simulação construído com dados históricos e validado junto a stakeholders clínicos e gestores;</a:t>
            </a:r>
          </a:p>
          <a:p>
            <a:endParaRPr lang="pt-BR" sz="2000" dirty="0"/>
          </a:p>
          <a:p>
            <a:r>
              <a:rPr lang="pt-BR" sz="2000" dirty="0"/>
              <a:t>Avaliar e propor configurações operacionais que maximizem a eficiência e o quantitativo de cirurgias, utilizando os recursos atualmente disponíveis no hospital;</a:t>
            </a:r>
          </a:p>
          <a:p>
            <a:endParaRPr lang="pt-BR" sz="2000" dirty="0"/>
          </a:p>
          <a:p>
            <a:r>
              <a:rPr lang="pt-BR" sz="2100" dirty="0"/>
              <a:t>Analisar cenários de expansão de capacidade e/ou de demanda a fim de verificar seus impactos em indicadores de desempenho como tempo de espera, utilização de recursos e identificar estratégias para melhoria da eficiência global do sistema cirúrgico;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4</a:t>
            </a:fld>
            <a:endParaRPr lang="en-US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Atividades</a:t>
            </a:r>
            <a:r>
              <a:rPr lang="en-US" dirty="0"/>
              <a:t> - DCA</a:t>
            </a:r>
          </a:p>
        </p:txBody>
      </p:sp>
      <p:sp>
        <p:nvSpPr>
          <p:cNvPr id="6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12" y="1644752"/>
            <a:ext cx="10674288" cy="4429829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7"/>
            <a:ext cx="11662790" cy="44693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sz="2000" dirty="0"/>
              <a:t>PACIENTES ATENDIDOS:</a:t>
            </a:r>
          </a:p>
          <a:p>
            <a:r>
              <a:rPr lang="pt-BR" sz="2000" dirty="0"/>
              <a:t>Número de pacientes eletivos atendidos:  204 ±  7 (IC 95%)</a:t>
            </a:r>
          </a:p>
          <a:p>
            <a:r>
              <a:rPr lang="pt-BR" sz="2000" dirty="0"/>
              <a:t>Número de pacientes urgentes atendidos:  233 ±  13 (IC 95%)</a:t>
            </a:r>
          </a:p>
          <a:p>
            <a:r>
              <a:rPr lang="pt-BR" sz="2000" dirty="0"/>
              <a:t>Número de pacientes emergentes atendidos:  5 ±  2 (IC 95%)</a:t>
            </a:r>
          </a:p>
          <a:p>
            <a:r>
              <a:rPr lang="pt-BR" sz="2000" dirty="0"/>
              <a:t>Número TOTAL de pacientes atendidos:  442</a:t>
            </a:r>
          </a:p>
          <a:p>
            <a:pPr marL="0" indent="0">
              <a:buNone/>
            </a:pPr>
            <a:r>
              <a:rPr lang="pt-BR" sz="2000" dirty="0"/>
              <a:t>PACIENTES NO SISTEMA</a:t>
            </a:r>
          </a:p>
          <a:p>
            <a:r>
              <a:rPr lang="pt-BR" sz="2000" dirty="0"/>
              <a:t>Taxa média de chegada: 15 pacientes por dia ±  0.3494 (IC 95%)</a:t>
            </a:r>
          </a:p>
          <a:p>
            <a:r>
              <a:rPr lang="pt-BR" sz="2000" dirty="0"/>
              <a:t>Tempo médio no sistema: 1220.49 min ±  99.87 (IC 95%)</a:t>
            </a:r>
          </a:p>
          <a:p>
            <a:r>
              <a:rPr lang="pt-BR" sz="2000" dirty="0"/>
              <a:t>Número médio de pacientes no sistema: 12.51 ±  1.24 (IC 95%)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6</a:t>
            </a:fld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7"/>
            <a:ext cx="11662790" cy="48377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FILAS</a:t>
            </a:r>
          </a:p>
          <a:p>
            <a:pPr marL="0" indent="0">
              <a:buNone/>
            </a:pPr>
            <a:r>
              <a:rPr lang="pt-BR" sz="2000" dirty="0"/>
              <a:t>Tempo médio de espera para início da preparação de sala: 0.00 min ±  0.00 (IC 95%)</a:t>
            </a:r>
          </a:p>
          <a:p>
            <a:pPr marL="0" indent="0">
              <a:buNone/>
            </a:pPr>
            <a:r>
              <a:rPr lang="pt-BR" sz="2000" dirty="0"/>
              <a:t>Numero médio de pacientes na fila de preparação de sala: 0.00 ±  0.00 (IC 95%)</a:t>
            </a:r>
          </a:p>
          <a:p>
            <a:pPr marL="0" indent="0">
              <a:buNone/>
            </a:pPr>
            <a:r>
              <a:rPr lang="pt-BR" sz="2000" dirty="0"/>
              <a:t>Tempo médio de espera para início da cirurgia: 5.18 min ±  0.36 (IC 95%)</a:t>
            </a:r>
          </a:p>
          <a:p>
            <a:pPr marL="0" indent="0">
              <a:buNone/>
            </a:pPr>
            <a:r>
              <a:rPr lang="pt-BR" sz="2000" dirty="0"/>
              <a:t>Numero médio de pacientes na fila de cirurgia: 0.00 ±  0.00 (IC 95%)</a:t>
            </a:r>
          </a:p>
          <a:p>
            <a:pPr marL="0" indent="0">
              <a:buNone/>
            </a:pPr>
            <a:r>
              <a:rPr lang="pt-BR" sz="2000" dirty="0"/>
              <a:t>Numero médio de pacientes na fila de cirurgia no emergente: 0.00 ±  0.00 (IC 95%)</a:t>
            </a:r>
          </a:p>
          <a:p>
            <a:pPr marL="0" indent="0">
              <a:buNone/>
            </a:pPr>
            <a:r>
              <a:rPr lang="pt-BR" sz="2000" dirty="0"/>
              <a:t>Tempo médio de espera para encaminhamento ao pós operatório: 152.38 min ±  93.45 (IC 95%)</a:t>
            </a:r>
          </a:p>
          <a:p>
            <a:pPr marL="0" indent="0">
              <a:buNone/>
            </a:pPr>
            <a:r>
              <a:rPr lang="pt-BR" sz="2000" dirty="0"/>
              <a:t>Numero médio de pacientes na fila de SRPA: 1.42 ±  0.99 (IC 95%)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7</a:t>
            </a:fld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6"/>
            <a:ext cx="11662790" cy="4611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TEMPOS TOTAIS:</a:t>
            </a:r>
          </a:p>
          <a:p>
            <a:pPr marL="0" indent="0">
              <a:buNone/>
            </a:pPr>
            <a:r>
              <a:rPr lang="pt-BR" sz="2000" dirty="0"/>
              <a:t>Tempo médio total no bloco de pacientes eletivos: 1237.77 min ±  96.57 (IC 95%)</a:t>
            </a:r>
          </a:p>
          <a:p>
            <a:pPr marL="0" indent="0">
              <a:buNone/>
            </a:pPr>
            <a:r>
              <a:rPr lang="pt-BR" sz="2000" dirty="0"/>
              <a:t>Tempo médio total no bloco de pacientes urgentes: 1228.23 min ±  103.78 (IC 95%)</a:t>
            </a:r>
          </a:p>
          <a:p>
            <a:pPr marL="0" indent="0">
              <a:buNone/>
            </a:pPr>
            <a:r>
              <a:rPr lang="pt-BR" sz="2000" dirty="0"/>
              <a:t>Tempo médio total no bloco de pacientes emergentes: 81.45 min ±  2.03 (IC 95%)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8</a:t>
            </a:fld>
            <a:endParaRPr lang="en-US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6"/>
            <a:ext cx="11662790" cy="46110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 dirty="0"/>
              <a:t>UTILIZACAO DOS RECURSOS:</a:t>
            </a:r>
          </a:p>
          <a:p>
            <a:r>
              <a:rPr lang="pt-BR" sz="2000" dirty="0"/>
              <a:t>Utilização total do médico: 287582.95 min -&gt; 36.98% ±  0.87 (IC 95%)</a:t>
            </a:r>
          </a:p>
          <a:p>
            <a:r>
              <a:rPr lang="pt-BR" sz="2000" dirty="0"/>
              <a:t>Utilização total da técnico de enfermagem: 41367.19 min -&gt; 14.51% ±  0.39 (IC 95%)</a:t>
            </a:r>
          </a:p>
          <a:p>
            <a:r>
              <a:rPr lang="pt-BR" sz="2000" dirty="0"/>
              <a:t>Utilização total da enfermagem: 391.57 min -&gt; 0.50% ±  0.22 (IC 95%)</a:t>
            </a:r>
          </a:p>
          <a:p>
            <a:r>
              <a:rPr lang="pt-BR" sz="2000" dirty="0"/>
              <a:t>Utilização total do instrumentador: 40975.62 min -&gt; 59.28% ±  1.48 (IC 95%)</a:t>
            </a:r>
          </a:p>
          <a:p>
            <a:r>
              <a:rPr lang="pt-BR" sz="2000" dirty="0"/>
              <a:t>Utilização total da SRPA: 430680.25 min -&gt; 90.63% ±  2.38 (IC 95%)</a:t>
            </a:r>
          </a:p>
          <a:p>
            <a:r>
              <a:rPr lang="pt-BR" sz="2000" dirty="0"/>
              <a:t>Utilização total das salas do bloco: 40584.05 min -&gt; 18.79% ±  0.45 (IC 95%)</a:t>
            </a:r>
          </a:p>
          <a:p>
            <a:r>
              <a:rPr lang="pt-BR" sz="2000" dirty="0"/>
              <a:t>Utilização total da sala de emergência: 391.57 min -&gt; 0.91% ±  0.40 (IC 95%)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9</a:t>
            </a:fld>
            <a:endParaRPr lang="en-US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" y="1619277"/>
            <a:ext cx="11662790" cy="4611092"/>
          </a:xfrm>
        </p:spPr>
        <p:txBody>
          <a:bodyPr>
            <a:normAutofit fontScale="92500" lnSpcReduction="10000"/>
          </a:bodyPr>
          <a:lstStyle/>
          <a:p>
            <a:r>
              <a:rPr lang="pt-BR" sz="2000" dirty="0"/>
              <a:t>Esse comportamento reafirma que o gargalo operacional não se manifesta em forma de fila, mas em permanências prolongadas, especialmente dentro da SRPA. </a:t>
            </a:r>
          </a:p>
          <a:p>
            <a:r>
              <a:rPr lang="pt-BR" sz="2000" dirty="0"/>
              <a:t>Essa condição decorre de fatores estruturais já reconhecidos no funcionamento real do hospital, como a ausência de leitos suficientes nas enfermarias e unidades de internação, o que frequentemente prolonga a permanência do paciente no pós-operatório imediato</a:t>
            </a:r>
          </a:p>
          <a:p>
            <a:r>
              <a:rPr lang="pt-BR" sz="2000" dirty="0"/>
              <a:t>De modo geral, os resultados confirmam que o bloco cirúrgico possui capacidade instalada significativa, mas que sua eficiência é limitada por alguns gargalos, especialmente ligados à capacidade de leitos de recuperação pós-operatória e aos tempos prolongados de permanência no SRPA;</a:t>
            </a:r>
          </a:p>
          <a:p>
            <a:r>
              <a:rPr lang="pt-BR" sz="2000" dirty="0"/>
              <a:t>Esses achados reforçam a necessidade de ações integradas no SRPA, para que o potencial produtivo do bloco seja plenamente utilizado.</a:t>
            </a:r>
          </a:p>
          <a:p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5" name="Espaço Reservado para Número de Slide 1"/>
          <p:cNvSpPr txBox="1"/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10</a:t>
            </a:fld>
            <a:endParaRPr lang="en-US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fila-novo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" y="2256790"/>
            <a:ext cx="4455795" cy="3830955"/>
          </a:xfrm>
          <a:prstGeom prst="rect">
            <a:avLst/>
          </a:prstGeom>
        </p:spPr>
      </p:pic>
      <p:sp>
        <p:nvSpPr>
          <p:cNvPr id="5" name="Caixa de Texto 4"/>
          <p:cNvSpPr txBox="1"/>
          <p:nvPr/>
        </p:nvSpPr>
        <p:spPr>
          <a:xfrm>
            <a:off x="430530" y="15709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altLang="en-US">
                <a:sym typeface="+mn-ea"/>
              </a:rPr>
              <a:t>Sugestão:  Ampliação para 15 leitos</a:t>
            </a:r>
          </a:p>
        </p:txBody>
      </p:sp>
      <p:pic>
        <p:nvPicPr>
          <p:cNvPr id="7" name="Espaço Reservado para Conteúdo 3" descr="utilizacao-nov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205" y="2433320"/>
            <a:ext cx="7306310" cy="3844925"/>
          </a:xfrm>
          <a:prstGeom prst="rect">
            <a:avLst/>
          </a:prstGeom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1"/>
          <p:cNvSpPr txBox="1"/>
          <p:nvPr/>
        </p:nvSpPr>
        <p:spPr>
          <a:xfrm>
            <a:off x="256308" y="62622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5" name="CaixaDeTexto 4"/>
          <p:cNvSpPr txBox="1"/>
          <p:nvPr/>
        </p:nvSpPr>
        <p:spPr>
          <a:xfrm>
            <a:off x="3821195" y="2573080"/>
            <a:ext cx="4549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latin typeface="Cambria" panose="02040503050406030204" pitchFamily="18" charset="0"/>
                <a:ea typeface="Cambria" panose="02040503050406030204" pitchFamily="18" charset="0"/>
              </a:rPr>
              <a:t>Obrigado</a:t>
            </a:r>
            <a:r>
              <a:rPr lang="en-US" sz="6000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896</Words>
  <Application>Microsoft Office PowerPoint</Application>
  <PresentationFormat>Widescreen</PresentationFormat>
  <Paragraphs>114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Araújo</dc:creator>
  <cp:lastModifiedBy>NAIARA HELENA VIEIRA</cp:lastModifiedBy>
  <cp:revision>283</cp:revision>
  <dcterms:created xsi:type="dcterms:W3CDTF">2025-05-31T18:00:00Z</dcterms:created>
  <dcterms:modified xsi:type="dcterms:W3CDTF">2025-11-24T00:39:13Z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2DEF8BE54FED473781F502EE0D200CFB_13</vt:lpwstr>
  </property>
  <property fmtid="{D5CDD505-2E9C-101B-9397-08002B2CF9AE}" pid="3" name="KSOProductBuildVer">
    <vt:lpwstr>1046-12.2.0.23155</vt:lpwstr>
  </property>
</Properties>
</file>