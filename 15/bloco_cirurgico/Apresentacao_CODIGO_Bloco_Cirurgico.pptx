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352" r:id="rId2"/>
    <p:sldId id="418" r:id="rId3"/>
    <p:sldId id="419" r:id="rId4"/>
    <p:sldId id="420" r:id="rId5"/>
    <p:sldId id="421" r:id="rId6"/>
    <p:sldId id="422" r:id="rId7"/>
    <p:sldId id="425" r:id="rId8"/>
    <p:sldId id="424" r:id="rId9"/>
    <p:sldId id="417" r:id="rId10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37" autoAdjust="0"/>
  </p:normalViewPr>
  <p:slideViewPr>
    <p:cSldViewPr snapToGrid="0">
      <p:cViewPr varScale="1">
        <p:scale>
          <a:sx n="66" d="100"/>
          <a:sy n="66" d="100"/>
        </p:scale>
        <p:origin x="48" y="72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>
            <a:extLst>
              <a:ext uri="{FF2B5EF4-FFF2-40B4-BE49-F238E27FC236}">
                <a16:creationId xmlns:a16="http://schemas.microsoft.com/office/drawing/2014/main" id="{3DC66051-4EAC-9FBE-B696-126A7606B51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5E186DEF-442A-E567-792E-1A1A0E0C133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B9EA1EA-AA43-4931-9AEB-9721C5B5C56A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DAF08D0-4A77-A3A0-0DA6-6D559587D9C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0475BF70-4C58-849D-DB79-ECB0B3F7487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204BFB-6D26-4D8D-9FE7-8A994FCF2A1A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459177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1C51C96-70A2-4E65-87BB-17C124FF0544}" type="datetimeFigureOut">
              <a:rPr lang="pt-BR" smtClean="0"/>
              <a:t>23/11/2025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36DAC8B-3C38-4205-BA1D-CCF6421D598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0532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36DAC8B-3C38-4205-BA1D-CCF6421D5980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570328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81142C5-9C54-4B2F-C8AB-ACE581587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EAB25195-7F04-24B5-CB56-4302BEBCD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4FF0FE-8542-4358-9499-178E2E967A5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68471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radecimen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949F074-7DCD-B99A-D020-74233AD50687}"/>
              </a:ext>
            </a:extLst>
          </p:cNvPr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821B121-B839-1558-7131-93196AEF8EB8}"/>
              </a:ext>
            </a:extLst>
          </p:cNvPr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6BA282D9-0E9C-D28F-DA95-78630C42E2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>
            <a:extLst>
              <a:ext uri="{FF2B5EF4-FFF2-40B4-BE49-F238E27FC236}">
                <a16:creationId xmlns:a16="http://schemas.microsoft.com/office/drawing/2014/main" id="{8BF24236-6D7E-FC1A-200B-34104DB2E2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6308" y="166148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2567F14-1F57-4C2A-81C6-F297D610351C}"/>
              </a:ext>
            </a:extLst>
          </p:cNvPr>
          <p:cNvSpPr txBox="1"/>
          <p:nvPr userDrawn="1"/>
        </p:nvSpPr>
        <p:spPr>
          <a:xfrm>
            <a:off x="256308" y="58533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122F1A2-06F7-9A28-561E-3F2475419A67}"/>
              </a:ext>
            </a:extLst>
          </p:cNvPr>
          <p:cNvSpPr txBox="1"/>
          <p:nvPr userDrawn="1"/>
        </p:nvSpPr>
        <p:spPr>
          <a:xfrm>
            <a:off x="2740823" y="61995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AF40974E-E88E-565E-5056-8EE977B356B0}"/>
              </a:ext>
            </a:extLst>
          </p:cNvPr>
          <p:cNvSpPr txBox="1"/>
          <p:nvPr userDrawn="1"/>
        </p:nvSpPr>
        <p:spPr>
          <a:xfrm>
            <a:off x="5850872" y="49386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E58D278-0E21-0BEE-484C-7C9D6E4FB3A3}"/>
              </a:ext>
            </a:extLst>
          </p:cNvPr>
          <p:cNvSpPr txBox="1"/>
          <p:nvPr userDrawn="1"/>
        </p:nvSpPr>
        <p:spPr>
          <a:xfrm>
            <a:off x="8127996" y="53287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CC0427F-97CF-7F16-B940-60467B186763}"/>
              </a:ext>
            </a:extLst>
          </p:cNvPr>
          <p:cNvSpPr txBox="1"/>
          <p:nvPr userDrawn="1"/>
        </p:nvSpPr>
        <p:spPr>
          <a:xfrm>
            <a:off x="10405120" y="62792"/>
            <a:ext cx="1389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CÓDIGO</a:t>
            </a:r>
          </a:p>
        </p:txBody>
      </p:sp>
    </p:spTree>
    <p:extLst>
      <p:ext uri="{BB962C8B-B14F-4D97-AF65-F5344CB8AC3E}">
        <p14:creationId xmlns:p14="http://schemas.microsoft.com/office/powerpoint/2010/main" val="815282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e Naveg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949F074-7DCD-B99A-D020-74233AD50687}"/>
              </a:ext>
            </a:extLst>
          </p:cNvPr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4E0AA4A-E688-B6EA-DCCD-C3B3B099BE48}"/>
              </a:ext>
            </a:extLst>
          </p:cNvPr>
          <p:cNvSpPr/>
          <p:nvPr userDrawn="1"/>
        </p:nvSpPr>
        <p:spPr>
          <a:xfrm>
            <a:off x="0" y="702138"/>
            <a:ext cx="12192000" cy="707887"/>
          </a:xfrm>
          <a:prstGeom prst="rect">
            <a:avLst/>
          </a:prstGeom>
          <a:solidFill>
            <a:srgbClr val="007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71AC571E-3470-E4A4-4FD3-99687FDE7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08" y="769351"/>
            <a:ext cx="8305800" cy="573463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821B121-B839-1558-7131-93196AEF8EB8}"/>
              </a:ext>
            </a:extLst>
          </p:cNvPr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6BA282D9-0E9C-D28F-DA95-78630C42E2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>
            <a:extLst>
              <a:ext uri="{FF2B5EF4-FFF2-40B4-BE49-F238E27FC236}">
                <a16:creationId xmlns:a16="http://schemas.microsoft.com/office/drawing/2014/main" id="{8BF24236-6D7E-FC1A-200B-34104DB2E2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6308" y="166148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639736A-1337-79E7-E548-E8A640FCD5A1}"/>
              </a:ext>
            </a:extLst>
          </p:cNvPr>
          <p:cNvSpPr txBox="1"/>
          <p:nvPr userDrawn="1"/>
        </p:nvSpPr>
        <p:spPr>
          <a:xfrm>
            <a:off x="408708" y="106429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55444AC-B9D4-3923-B0E2-5B062B5A126D}"/>
              </a:ext>
            </a:extLst>
          </p:cNvPr>
          <p:cNvSpPr txBox="1"/>
          <p:nvPr userDrawn="1"/>
        </p:nvSpPr>
        <p:spPr>
          <a:xfrm>
            <a:off x="2893223" y="109891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5E9C682A-02E4-5656-3623-C56BA9291473}"/>
              </a:ext>
            </a:extLst>
          </p:cNvPr>
          <p:cNvSpPr txBox="1"/>
          <p:nvPr userDrawn="1"/>
        </p:nvSpPr>
        <p:spPr>
          <a:xfrm>
            <a:off x="6003272" y="123408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404B233D-F544-871D-AC85-7844BBCCD38B}"/>
              </a:ext>
            </a:extLst>
          </p:cNvPr>
          <p:cNvSpPr txBox="1"/>
          <p:nvPr userDrawn="1"/>
        </p:nvSpPr>
        <p:spPr>
          <a:xfrm>
            <a:off x="8280396" y="127309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9BC2D4D-6680-563C-775E-7444B73FDDAB}"/>
              </a:ext>
            </a:extLst>
          </p:cNvPr>
          <p:cNvSpPr txBox="1"/>
          <p:nvPr userDrawn="1"/>
        </p:nvSpPr>
        <p:spPr>
          <a:xfrm>
            <a:off x="10557520" y="110688"/>
            <a:ext cx="1389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CÓDIGO</a:t>
            </a:r>
          </a:p>
        </p:txBody>
      </p:sp>
    </p:spTree>
    <p:extLst>
      <p:ext uri="{BB962C8B-B14F-4D97-AF65-F5344CB8AC3E}">
        <p14:creationId xmlns:p14="http://schemas.microsoft.com/office/powerpoint/2010/main" val="266682043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ext Step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949F074-7DCD-B99A-D020-74233AD50687}"/>
              </a:ext>
            </a:extLst>
          </p:cNvPr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4E0AA4A-E688-B6EA-DCCD-C3B3B099BE48}"/>
              </a:ext>
            </a:extLst>
          </p:cNvPr>
          <p:cNvSpPr/>
          <p:nvPr userDrawn="1"/>
        </p:nvSpPr>
        <p:spPr>
          <a:xfrm>
            <a:off x="0" y="702138"/>
            <a:ext cx="12192000" cy="707887"/>
          </a:xfrm>
          <a:prstGeom prst="rect">
            <a:avLst/>
          </a:prstGeom>
          <a:solidFill>
            <a:srgbClr val="007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71AC571E-3470-E4A4-4FD3-99687FDE7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08" y="769351"/>
            <a:ext cx="8305800" cy="573463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821B121-B839-1558-7131-93196AEF8EB8}"/>
              </a:ext>
            </a:extLst>
          </p:cNvPr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6BA282D9-0E9C-D28F-DA95-78630C42E2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>
            <a:extLst>
              <a:ext uri="{FF2B5EF4-FFF2-40B4-BE49-F238E27FC236}">
                <a16:creationId xmlns:a16="http://schemas.microsoft.com/office/drawing/2014/main" id="{8BF24236-6D7E-FC1A-200B-34104DB2E2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6308" y="166148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5DFA489D-0C39-AB6B-A213-2D5AC30BF8E7}"/>
              </a:ext>
            </a:extLst>
          </p:cNvPr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C9CFC77-4CA1-2B05-33A7-02762FC2FFD5}"/>
              </a:ext>
            </a:extLst>
          </p:cNvPr>
          <p:cNvSpPr txBox="1"/>
          <p:nvPr userDrawn="1"/>
        </p:nvSpPr>
        <p:spPr>
          <a:xfrm>
            <a:off x="256308" y="58533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EC77F4B1-3729-68E8-5C1E-B09E0F5FFBEC}"/>
              </a:ext>
            </a:extLst>
          </p:cNvPr>
          <p:cNvSpPr txBox="1"/>
          <p:nvPr userDrawn="1"/>
        </p:nvSpPr>
        <p:spPr>
          <a:xfrm>
            <a:off x="2740823" y="53286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18608C3B-1F22-1DC1-E4F1-0653049C3160}"/>
              </a:ext>
            </a:extLst>
          </p:cNvPr>
          <p:cNvSpPr txBox="1"/>
          <p:nvPr userDrawn="1"/>
        </p:nvSpPr>
        <p:spPr>
          <a:xfrm>
            <a:off x="5850872" y="49386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D7FA35DF-269C-A610-DCFE-5ED85333BE05}"/>
              </a:ext>
            </a:extLst>
          </p:cNvPr>
          <p:cNvSpPr txBox="1"/>
          <p:nvPr userDrawn="1"/>
        </p:nvSpPr>
        <p:spPr>
          <a:xfrm>
            <a:off x="8127996" y="53287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133907B4-E3EF-F3F4-1C86-4B454F0512B3}"/>
              </a:ext>
            </a:extLst>
          </p:cNvPr>
          <p:cNvSpPr txBox="1"/>
          <p:nvPr userDrawn="1"/>
        </p:nvSpPr>
        <p:spPr>
          <a:xfrm>
            <a:off x="10405120" y="54083"/>
            <a:ext cx="1389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CÓDIGO</a:t>
            </a:r>
          </a:p>
        </p:txBody>
      </p:sp>
    </p:spTree>
    <p:extLst>
      <p:ext uri="{BB962C8B-B14F-4D97-AF65-F5344CB8AC3E}">
        <p14:creationId xmlns:p14="http://schemas.microsoft.com/office/powerpoint/2010/main" val="2459866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esults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949F074-7DCD-B99A-D020-74233AD50687}"/>
              </a:ext>
            </a:extLst>
          </p:cNvPr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4E0AA4A-E688-B6EA-DCCD-C3B3B099BE48}"/>
              </a:ext>
            </a:extLst>
          </p:cNvPr>
          <p:cNvSpPr/>
          <p:nvPr userDrawn="1"/>
        </p:nvSpPr>
        <p:spPr>
          <a:xfrm>
            <a:off x="0" y="702138"/>
            <a:ext cx="12192000" cy="707887"/>
          </a:xfrm>
          <a:prstGeom prst="rect">
            <a:avLst/>
          </a:prstGeom>
          <a:solidFill>
            <a:srgbClr val="007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71AC571E-3470-E4A4-4FD3-99687FDE7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08" y="769351"/>
            <a:ext cx="8305800" cy="573463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821B121-B839-1558-7131-93196AEF8EB8}"/>
              </a:ext>
            </a:extLst>
          </p:cNvPr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6BA282D9-0E9C-D28F-DA95-78630C42E2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>
            <a:extLst>
              <a:ext uri="{FF2B5EF4-FFF2-40B4-BE49-F238E27FC236}">
                <a16:creationId xmlns:a16="http://schemas.microsoft.com/office/drawing/2014/main" id="{8BF24236-6D7E-FC1A-200B-34104DB2E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308" y="166148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AC0F315-7556-EE04-4F9E-B6F2BE49F7E0}"/>
              </a:ext>
            </a:extLst>
          </p:cNvPr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8555CE1-BA36-CD5C-DA54-D1D72DB6E695}"/>
              </a:ext>
            </a:extLst>
          </p:cNvPr>
          <p:cNvSpPr txBox="1"/>
          <p:nvPr userDrawn="1"/>
        </p:nvSpPr>
        <p:spPr>
          <a:xfrm>
            <a:off x="256308" y="58533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5B4C714-903B-5933-9EAA-ADE2199157FA}"/>
              </a:ext>
            </a:extLst>
          </p:cNvPr>
          <p:cNvSpPr txBox="1"/>
          <p:nvPr userDrawn="1"/>
        </p:nvSpPr>
        <p:spPr>
          <a:xfrm>
            <a:off x="2740823" y="53286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775932C5-8AD4-8DEA-828C-9F174A48A88C}"/>
              </a:ext>
            </a:extLst>
          </p:cNvPr>
          <p:cNvSpPr txBox="1"/>
          <p:nvPr userDrawn="1"/>
        </p:nvSpPr>
        <p:spPr>
          <a:xfrm>
            <a:off x="5850872" y="49386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35E543D4-3A18-9E5D-592C-E2772C075053}"/>
              </a:ext>
            </a:extLst>
          </p:cNvPr>
          <p:cNvSpPr txBox="1"/>
          <p:nvPr userDrawn="1"/>
        </p:nvSpPr>
        <p:spPr>
          <a:xfrm>
            <a:off x="8127996" y="53287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EB7FC8C1-9B0C-3261-99E2-452F94DBFC63}"/>
              </a:ext>
            </a:extLst>
          </p:cNvPr>
          <p:cNvSpPr txBox="1"/>
          <p:nvPr userDrawn="1"/>
        </p:nvSpPr>
        <p:spPr>
          <a:xfrm>
            <a:off x="10405120" y="54083"/>
            <a:ext cx="1389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CÓDIGO</a:t>
            </a:r>
          </a:p>
        </p:txBody>
      </p:sp>
    </p:spTree>
    <p:extLst>
      <p:ext uri="{BB962C8B-B14F-4D97-AF65-F5344CB8AC3E}">
        <p14:creationId xmlns:p14="http://schemas.microsoft.com/office/powerpoint/2010/main" val="1617541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tho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949F074-7DCD-B99A-D020-74233AD50687}"/>
              </a:ext>
            </a:extLst>
          </p:cNvPr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4E0AA4A-E688-B6EA-DCCD-C3B3B099BE48}"/>
              </a:ext>
            </a:extLst>
          </p:cNvPr>
          <p:cNvSpPr/>
          <p:nvPr userDrawn="1"/>
        </p:nvSpPr>
        <p:spPr>
          <a:xfrm>
            <a:off x="0" y="702138"/>
            <a:ext cx="12192000" cy="707887"/>
          </a:xfrm>
          <a:prstGeom prst="rect">
            <a:avLst/>
          </a:prstGeom>
          <a:solidFill>
            <a:srgbClr val="007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71AC571E-3470-E4A4-4FD3-99687FDE7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08" y="769351"/>
            <a:ext cx="8305800" cy="573463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821B121-B839-1558-7131-93196AEF8EB8}"/>
              </a:ext>
            </a:extLst>
          </p:cNvPr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6BA282D9-0E9C-D28F-DA95-78630C42E2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>
            <a:extLst>
              <a:ext uri="{FF2B5EF4-FFF2-40B4-BE49-F238E27FC236}">
                <a16:creationId xmlns:a16="http://schemas.microsoft.com/office/drawing/2014/main" id="{8BF24236-6D7E-FC1A-200B-34104DB2E2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6308" y="166148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032DFD23-7355-97EF-676B-022546B2D1F5}"/>
              </a:ext>
            </a:extLst>
          </p:cNvPr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CD8F3FE-DC78-EE5A-B4A5-2E033D7C141E}"/>
              </a:ext>
            </a:extLst>
          </p:cNvPr>
          <p:cNvSpPr txBox="1"/>
          <p:nvPr userDrawn="1"/>
        </p:nvSpPr>
        <p:spPr>
          <a:xfrm>
            <a:off x="256308" y="58533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83C22CA-F354-09A4-B3DC-8EFEB68CF21F}"/>
              </a:ext>
            </a:extLst>
          </p:cNvPr>
          <p:cNvSpPr txBox="1"/>
          <p:nvPr userDrawn="1"/>
        </p:nvSpPr>
        <p:spPr>
          <a:xfrm>
            <a:off x="2740823" y="53286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DE54DF67-ADB8-7A7F-0C1F-43B365BF3BE8}"/>
              </a:ext>
            </a:extLst>
          </p:cNvPr>
          <p:cNvSpPr txBox="1"/>
          <p:nvPr userDrawn="1"/>
        </p:nvSpPr>
        <p:spPr>
          <a:xfrm>
            <a:off x="5850872" y="49386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423368DD-EE2E-E4AF-C3AD-067A000DA862}"/>
              </a:ext>
            </a:extLst>
          </p:cNvPr>
          <p:cNvSpPr txBox="1"/>
          <p:nvPr userDrawn="1"/>
        </p:nvSpPr>
        <p:spPr>
          <a:xfrm>
            <a:off x="8127996" y="53287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4D9E8160-1897-60F8-115D-A7CCB498A1A8}"/>
              </a:ext>
            </a:extLst>
          </p:cNvPr>
          <p:cNvSpPr txBox="1"/>
          <p:nvPr userDrawn="1"/>
        </p:nvSpPr>
        <p:spPr>
          <a:xfrm>
            <a:off x="10405120" y="54083"/>
            <a:ext cx="1389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CÓDIGO</a:t>
            </a:r>
          </a:p>
        </p:txBody>
      </p:sp>
    </p:spTree>
    <p:extLst>
      <p:ext uri="{BB962C8B-B14F-4D97-AF65-F5344CB8AC3E}">
        <p14:creationId xmlns:p14="http://schemas.microsoft.com/office/powerpoint/2010/main" val="7398159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accine Supply Ch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949F074-7DCD-B99A-D020-74233AD50687}"/>
              </a:ext>
            </a:extLst>
          </p:cNvPr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4E0AA4A-E688-B6EA-DCCD-C3B3B099BE48}"/>
              </a:ext>
            </a:extLst>
          </p:cNvPr>
          <p:cNvSpPr/>
          <p:nvPr userDrawn="1"/>
        </p:nvSpPr>
        <p:spPr>
          <a:xfrm>
            <a:off x="0" y="702138"/>
            <a:ext cx="12192000" cy="707887"/>
          </a:xfrm>
          <a:prstGeom prst="rect">
            <a:avLst/>
          </a:prstGeom>
          <a:solidFill>
            <a:srgbClr val="007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71AC571E-3470-E4A4-4FD3-99687FDE7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08" y="769351"/>
            <a:ext cx="8305800" cy="573463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821B121-B839-1558-7131-93196AEF8EB8}"/>
              </a:ext>
            </a:extLst>
          </p:cNvPr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6BA282D9-0E9C-D28F-DA95-78630C42E2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>
            <a:extLst>
              <a:ext uri="{FF2B5EF4-FFF2-40B4-BE49-F238E27FC236}">
                <a16:creationId xmlns:a16="http://schemas.microsoft.com/office/drawing/2014/main" id="{8BF24236-6D7E-FC1A-200B-34104DB2E26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56308" y="166148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99CF838A-7B9A-B49D-2C50-B32D8F5002BF}"/>
              </a:ext>
            </a:extLst>
          </p:cNvPr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93C6C471-336A-4F58-260D-F8D6B3C6E039}"/>
              </a:ext>
            </a:extLst>
          </p:cNvPr>
          <p:cNvSpPr txBox="1"/>
          <p:nvPr userDrawn="1"/>
        </p:nvSpPr>
        <p:spPr>
          <a:xfrm>
            <a:off x="256308" y="58533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19" name="CaixaDeTexto 18">
            <a:extLst>
              <a:ext uri="{FF2B5EF4-FFF2-40B4-BE49-F238E27FC236}">
                <a16:creationId xmlns:a16="http://schemas.microsoft.com/office/drawing/2014/main" id="{613B5526-EF43-9227-EF41-4CB908DBDAFA}"/>
              </a:ext>
            </a:extLst>
          </p:cNvPr>
          <p:cNvSpPr txBox="1"/>
          <p:nvPr userDrawn="1"/>
        </p:nvSpPr>
        <p:spPr>
          <a:xfrm>
            <a:off x="2740823" y="53286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448C3B5-6C75-5469-DCB8-22A107FF9DA6}"/>
              </a:ext>
            </a:extLst>
          </p:cNvPr>
          <p:cNvSpPr txBox="1"/>
          <p:nvPr userDrawn="1"/>
        </p:nvSpPr>
        <p:spPr>
          <a:xfrm>
            <a:off x="5850872" y="49386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02FE43EC-FA30-2E54-A54B-97670E8AA21B}"/>
              </a:ext>
            </a:extLst>
          </p:cNvPr>
          <p:cNvSpPr txBox="1"/>
          <p:nvPr userDrawn="1"/>
        </p:nvSpPr>
        <p:spPr>
          <a:xfrm>
            <a:off x="8127996" y="53287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DCC3D25C-932A-46D6-2ABE-1F4A44CDBD71}"/>
              </a:ext>
            </a:extLst>
          </p:cNvPr>
          <p:cNvSpPr txBox="1"/>
          <p:nvPr userDrawn="1"/>
        </p:nvSpPr>
        <p:spPr>
          <a:xfrm>
            <a:off x="10405120" y="54083"/>
            <a:ext cx="1389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CÓDIGO</a:t>
            </a:r>
          </a:p>
        </p:txBody>
      </p:sp>
    </p:spTree>
    <p:extLst>
      <p:ext uri="{BB962C8B-B14F-4D97-AF65-F5344CB8AC3E}">
        <p14:creationId xmlns:p14="http://schemas.microsoft.com/office/powerpoint/2010/main" val="3019592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4949F074-7DCD-B99A-D020-74233AD50687}"/>
              </a:ext>
            </a:extLst>
          </p:cNvPr>
          <p:cNvSpPr/>
          <p:nvPr userDrawn="1"/>
        </p:nvSpPr>
        <p:spPr>
          <a:xfrm>
            <a:off x="0" y="432262"/>
            <a:ext cx="12192000" cy="269878"/>
          </a:xfrm>
          <a:prstGeom prst="rect">
            <a:avLst/>
          </a:prstGeom>
          <a:solidFill>
            <a:srgbClr val="B71C1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14E0AA4A-E688-B6EA-DCCD-C3B3B099BE48}"/>
              </a:ext>
            </a:extLst>
          </p:cNvPr>
          <p:cNvSpPr/>
          <p:nvPr userDrawn="1"/>
        </p:nvSpPr>
        <p:spPr>
          <a:xfrm>
            <a:off x="0" y="702138"/>
            <a:ext cx="12192000" cy="707887"/>
          </a:xfrm>
          <a:prstGeom prst="rect">
            <a:avLst/>
          </a:prstGeom>
          <a:solidFill>
            <a:srgbClr val="0073A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spaço Reservado para Texto 13">
            <a:extLst>
              <a:ext uri="{FF2B5EF4-FFF2-40B4-BE49-F238E27FC236}">
                <a16:creationId xmlns:a16="http://schemas.microsoft.com/office/drawing/2014/main" id="{71AC571E-3470-E4A4-4FD3-99687FDE7FC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6308" y="769351"/>
            <a:ext cx="8305800" cy="573463"/>
          </a:xfrm>
        </p:spPr>
        <p:txBody>
          <a:bodyPr/>
          <a:lstStyle>
            <a:lvl1pPr marL="0" indent="0">
              <a:buNone/>
              <a:defRPr b="1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2821B121-B839-1558-7131-93196AEF8EB8}"/>
              </a:ext>
            </a:extLst>
          </p:cNvPr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pic>
        <p:nvPicPr>
          <p:cNvPr id="27" name="Imagem 26">
            <a:extLst>
              <a:ext uri="{FF2B5EF4-FFF2-40B4-BE49-F238E27FC236}">
                <a16:creationId xmlns:a16="http://schemas.microsoft.com/office/drawing/2014/main" id="{6BA282D9-0E9C-D28F-DA95-78630C42E2F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9990164" y="6272211"/>
            <a:ext cx="1446663" cy="531197"/>
          </a:xfrm>
          <a:prstGeom prst="rect">
            <a:avLst/>
          </a:prstGeom>
        </p:spPr>
      </p:pic>
      <p:sp>
        <p:nvSpPr>
          <p:cNvPr id="32" name="Espaço Reservado para Texto 2">
            <a:extLst>
              <a:ext uri="{FF2B5EF4-FFF2-40B4-BE49-F238E27FC236}">
                <a16:creationId xmlns:a16="http://schemas.microsoft.com/office/drawing/2014/main" id="{8BF24236-6D7E-FC1A-200B-34104DB2E2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4605" y="1679901"/>
            <a:ext cx="11662790" cy="425022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algn="just">
              <a:lnSpc>
                <a:spcPct val="150000"/>
              </a:lnSpc>
              <a:defRPr sz="1800"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pPr lvl="0"/>
            <a:r>
              <a:rPr lang="pt-BR" dirty="0"/>
              <a:t>Clique para editar os estilos de texto Mestres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1A1526B0-6AB3-EE52-D8EF-B29377DBE866}"/>
              </a:ext>
            </a:extLst>
          </p:cNvPr>
          <p:cNvSpPr/>
          <p:nvPr userDrawn="1"/>
        </p:nvSpPr>
        <p:spPr>
          <a:xfrm>
            <a:off x="0" y="-1"/>
            <a:ext cx="12192000" cy="432263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2">
                  <a:lumMod val="75000"/>
                </a:schemeClr>
              </a:solidFill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946875A-41F0-DEE8-E0B5-7307D644CB6B}"/>
              </a:ext>
            </a:extLst>
          </p:cNvPr>
          <p:cNvSpPr txBox="1"/>
          <p:nvPr userDrawn="1"/>
        </p:nvSpPr>
        <p:spPr>
          <a:xfrm>
            <a:off x="256308" y="58533"/>
            <a:ext cx="156089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INTRODUÇÃO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82C96250-0F5A-C272-9799-6F871E5D6475}"/>
              </a:ext>
            </a:extLst>
          </p:cNvPr>
          <p:cNvSpPr txBox="1"/>
          <p:nvPr userDrawn="1"/>
        </p:nvSpPr>
        <p:spPr>
          <a:xfrm>
            <a:off x="2740823" y="53286"/>
            <a:ext cx="218643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METODOLOGIA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6EADB5C8-0735-7C69-E77C-6F30532B16CE}"/>
              </a:ext>
            </a:extLst>
          </p:cNvPr>
          <p:cNvSpPr txBox="1"/>
          <p:nvPr userDrawn="1"/>
        </p:nvSpPr>
        <p:spPr>
          <a:xfrm>
            <a:off x="5850872" y="49386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DADOS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31742783-FF1D-11EB-1E49-069A1B8A0B5D}"/>
              </a:ext>
            </a:extLst>
          </p:cNvPr>
          <p:cNvSpPr txBox="1"/>
          <p:nvPr userDrawn="1"/>
        </p:nvSpPr>
        <p:spPr>
          <a:xfrm>
            <a:off x="8127996" y="53287"/>
            <a:ext cx="103774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DCA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D418083D-23C5-E86C-18B9-AC7F04517C6A}"/>
              </a:ext>
            </a:extLst>
          </p:cNvPr>
          <p:cNvSpPr txBox="1"/>
          <p:nvPr userDrawn="1"/>
        </p:nvSpPr>
        <p:spPr>
          <a:xfrm>
            <a:off x="10405120" y="54083"/>
            <a:ext cx="13890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b="1" dirty="0">
                <a:solidFill>
                  <a:schemeClr val="bg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CÓDIGO</a:t>
            </a:r>
          </a:p>
        </p:txBody>
      </p:sp>
    </p:spTree>
    <p:extLst>
      <p:ext uri="{BB962C8B-B14F-4D97-AF65-F5344CB8AC3E}">
        <p14:creationId xmlns:p14="http://schemas.microsoft.com/office/powerpoint/2010/main" val="22158801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6DC433D-3C45-232A-8CDE-6848B1B0FA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C397F68-54DC-F343-04E3-6A2E12CD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33DDAC8-7E0C-BDF4-7019-1D322E9DB6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1031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</a:defRPr>
            </a:lvl1pPr>
          </a:lstStyle>
          <a:p>
            <a:fld id="{CD4FF0FE-8542-4358-9499-178E2E967A55}" type="slidenum">
              <a:rPr lang="pt-BR" smtClean="0"/>
              <a:pPr/>
              <a:t>‹nº›</a:t>
            </a:fld>
            <a:r>
              <a:rPr lang="pt-BR" dirty="0"/>
              <a:t>/20</a:t>
            </a:r>
          </a:p>
        </p:txBody>
      </p:sp>
    </p:spTree>
    <p:extLst>
      <p:ext uri="{BB962C8B-B14F-4D97-AF65-F5344CB8AC3E}">
        <p14:creationId xmlns:p14="http://schemas.microsoft.com/office/powerpoint/2010/main" val="3342747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61" r:id="rId2"/>
    <p:sldLayoutId id="2147483672" r:id="rId3"/>
    <p:sldLayoutId id="2147483666" r:id="rId4"/>
    <p:sldLayoutId id="2147483665" r:id="rId5"/>
    <p:sldLayoutId id="2147483664" r:id="rId6"/>
    <p:sldLayoutId id="2147483663" r:id="rId7"/>
    <p:sldLayoutId id="2147483662" r:id="rId8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microsoft.com/office/2007/relationships/hdphoto" Target="../media/hdphoto1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lipse 4">
            <a:extLst>
              <a:ext uri="{FF2B5EF4-FFF2-40B4-BE49-F238E27FC236}">
                <a16:creationId xmlns:a16="http://schemas.microsoft.com/office/drawing/2014/main" id="{FA3D901E-17BA-0CB4-C131-798005D87FF0}"/>
              </a:ext>
            </a:extLst>
          </p:cNvPr>
          <p:cNvSpPr/>
          <p:nvPr/>
        </p:nvSpPr>
        <p:spPr>
          <a:xfrm>
            <a:off x="8520662" y="-170119"/>
            <a:ext cx="10069268" cy="7816358"/>
          </a:xfrm>
          <a:prstGeom prst="ellipse">
            <a:avLst/>
          </a:prstGeom>
          <a:solidFill>
            <a:srgbClr val="E8E8E8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 sz="2400" b="1" noProof="0" dirty="0">
              <a:solidFill>
                <a:srgbClr val="0073A8"/>
              </a:solidFill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F9DDD4F-3275-A844-E4DA-F712DD3CBFFB}"/>
              </a:ext>
            </a:extLst>
          </p:cNvPr>
          <p:cNvSpPr txBox="1"/>
          <p:nvPr/>
        </p:nvSpPr>
        <p:spPr>
          <a:xfrm>
            <a:off x="723331" y="81886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noProof="0" dirty="0"/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FE9F6853-D512-04BE-4F5D-F41572493657}"/>
              </a:ext>
            </a:extLst>
          </p:cNvPr>
          <p:cNvSpPr txBox="1"/>
          <p:nvPr/>
        </p:nvSpPr>
        <p:spPr>
          <a:xfrm>
            <a:off x="417432" y="1409060"/>
            <a:ext cx="113107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noProof="0" dirty="0" err="1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Aplicação</a:t>
            </a:r>
            <a:r>
              <a:rPr lang="en-US" sz="2800" b="1" noProof="0" dirty="0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da </a:t>
            </a:r>
            <a:r>
              <a:rPr lang="en-US" sz="2800" b="1" noProof="0" dirty="0" err="1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Simulação</a:t>
            </a:r>
            <a:r>
              <a:rPr lang="en-US" sz="2800" b="1" noProof="0" dirty="0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no Bloco </a:t>
            </a:r>
            <a:r>
              <a:rPr lang="en-US" sz="2800" b="1" noProof="0" dirty="0" err="1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Cirúrgico</a:t>
            </a:r>
            <a:r>
              <a:rPr lang="en-US" sz="2800" b="1" noProof="0" dirty="0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do Hospital </a:t>
            </a:r>
            <a:r>
              <a:rPr lang="en-US" sz="2800" b="1" noProof="0" dirty="0" err="1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Risoleta</a:t>
            </a:r>
            <a:r>
              <a:rPr lang="en-US" sz="2800" b="1" noProof="0" dirty="0">
                <a:solidFill>
                  <a:srgbClr val="0073A8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 Neves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FB6DA11-5199-96E2-7EFC-018C98D359A7}"/>
              </a:ext>
            </a:extLst>
          </p:cNvPr>
          <p:cNvSpPr txBox="1"/>
          <p:nvPr/>
        </p:nvSpPr>
        <p:spPr>
          <a:xfrm>
            <a:off x="403785" y="2517543"/>
            <a:ext cx="7158158" cy="21544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Curso</a:t>
            </a:r>
            <a:r>
              <a:rPr lang="en-US" sz="16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Programa de Pós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Graduação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 em Engenharia de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Produção</a:t>
            </a:r>
            <a:endParaRPr lang="en-US" sz="16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dirty="0" err="1">
                <a:latin typeface="Cambria" panose="02040503050406030204" pitchFamily="18" charset="0"/>
                <a:ea typeface="Cambria" panose="02040503050406030204" pitchFamily="18" charset="0"/>
              </a:rPr>
              <a:t>Disciplina</a:t>
            </a:r>
            <a:r>
              <a:rPr lang="en-US" sz="16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Simulação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 de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Sistemas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Logísticos</a:t>
            </a:r>
            <a:endParaRPr lang="en-US" sz="16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r>
              <a:rPr lang="en-US" sz="1600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Alunos</a:t>
            </a:r>
            <a:r>
              <a:rPr lang="en-US" sz="16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Bráulio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 Frances Barcelos, Camila Ribeiro Batista e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Naiara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 Helena Vieira</a:t>
            </a:r>
          </a:p>
          <a:p>
            <a:pPr>
              <a:lnSpc>
                <a:spcPct val="150000"/>
              </a:lnSpc>
            </a:pPr>
            <a:r>
              <a:rPr lang="en-US" sz="1600" b="1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Orientador</a:t>
            </a:r>
            <a:r>
              <a:rPr lang="en-US" sz="1600" b="1" noProof="0" dirty="0">
                <a:latin typeface="Cambria" panose="02040503050406030204" pitchFamily="18" charset="0"/>
                <a:ea typeface="Cambria" panose="02040503050406030204" pitchFamily="18" charset="0"/>
              </a:rPr>
              <a:t>: 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Prof. Dr. João </a:t>
            </a:r>
            <a:r>
              <a:rPr lang="en-US" sz="1600" noProof="0" dirty="0" err="1">
                <a:latin typeface="Cambria" panose="02040503050406030204" pitchFamily="18" charset="0"/>
                <a:ea typeface="Cambria" panose="02040503050406030204" pitchFamily="18" charset="0"/>
              </a:rPr>
              <a:t>Flávio</a:t>
            </a:r>
            <a:r>
              <a:rPr lang="en-US" sz="1600" noProof="0" dirty="0">
                <a:latin typeface="Cambria" panose="02040503050406030204" pitchFamily="18" charset="0"/>
                <a:ea typeface="Cambria" panose="02040503050406030204" pitchFamily="18" charset="0"/>
              </a:rPr>
              <a:t> de Freitas Almeida</a:t>
            </a:r>
            <a:endParaRPr lang="en-US" sz="16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>
              <a:lnSpc>
                <a:spcPct val="150000"/>
              </a:lnSpc>
            </a:pPr>
            <a:endParaRPr lang="en-US" sz="1600" noProof="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r>
              <a:rPr lang="en-US" sz="1400" noProof="0" dirty="0">
                <a:latin typeface="Cambria" panose="02040503050406030204" pitchFamily="18" charset="0"/>
                <a:ea typeface="Cambria" panose="02040503050406030204" pitchFamily="18" charset="0"/>
              </a:rPr>
              <a:t>Belo Horizonte, </a:t>
            </a:r>
            <a:r>
              <a:rPr lang="en-US" sz="1400" dirty="0">
                <a:latin typeface="Cambria" panose="02040503050406030204" pitchFamily="18" charset="0"/>
                <a:ea typeface="Cambria" panose="02040503050406030204" pitchFamily="18" charset="0"/>
              </a:rPr>
              <a:t>23</a:t>
            </a:r>
            <a:r>
              <a:rPr lang="en-US" sz="1400" noProof="0" dirty="0">
                <a:latin typeface="Cambria" panose="02040503050406030204" pitchFamily="18" charset="0"/>
                <a:ea typeface="Cambria" panose="02040503050406030204" pitchFamily="18" charset="0"/>
              </a:rPr>
              <a:t> de </a:t>
            </a:r>
            <a:r>
              <a:rPr lang="en-US" sz="1400" dirty="0" err="1">
                <a:latin typeface="Cambria" panose="02040503050406030204" pitchFamily="18" charset="0"/>
                <a:ea typeface="Cambria" panose="02040503050406030204" pitchFamily="18" charset="0"/>
              </a:rPr>
              <a:t>Novembro</a:t>
            </a:r>
            <a:r>
              <a:rPr lang="en-US" sz="1400" noProof="0" dirty="0">
                <a:latin typeface="Cambria" panose="02040503050406030204" pitchFamily="18" charset="0"/>
                <a:ea typeface="Cambria" panose="02040503050406030204" pitchFamily="18" charset="0"/>
              </a:rPr>
              <a:t> de 2025</a:t>
            </a:r>
          </a:p>
        </p:txBody>
      </p:sp>
      <p:pic>
        <p:nvPicPr>
          <p:cNvPr id="16" name="Imagem 15">
            <a:extLst>
              <a:ext uri="{FF2B5EF4-FFF2-40B4-BE49-F238E27FC236}">
                <a16:creationId xmlns:a16="http://schemas.microsoft.com/office/drawing/2014/main" id="{FC38C40E-9827-9AC0-E634-ECAEE97A40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6494" b="99221" l="0" r="88506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9869788" y="1901371"/>
            <a:ext cx="1810702" cy="3293266"/>
          </a:xfrm>
          <a:prstGeom prst="rect">
            <a:avLst/>
          </a:prstGeom>
        </p:spPr>
      </p:pic>
      <p:pic>
        <p:nvPicPr>
          <p:cNvPr id="18" name="Imagem 17">
            <a:extLst>
              <a:ext uri="{FF2B5EF4-FFF2-40B4-BE49-F238E27FC236}">
                <a16:creationId xmlns:a16="http://schemas.microsoft.com/office/drawing/2014/main" id="{C9A7516A-4DB4-0A0B-E390-A2A24892E4E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84300" y="5299297"/>
            <a:ext cx="2321758" cy="900562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446C22BC-66B7-7B52-15C0-7F3D2B9FEF8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7432" y="5334604"/>
            <a:ext cx="3366912" cy="140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66712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B8B19D42-C03F-5254-B8B6-24DADFD762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/>
              <a:t>Introdução </a:t>
            </a:r>
            <a:endParaRPr lang="en-US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197B077-647F-9DB7-5FF7-3EE5783ACA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000"/>
              <a:t>Foram realizadas visitas técnicas com o objetivo de compreender o funcionamento cotidiano do bloco cirúrgico do Hospital Risoleta Neves;</a:t>
            </a:r>
          </a:p>
          <a:p>
            <a:endParaRPr lang="pt-BR" sz="2000"/>
          </a:p>
          <a:p>
            <a:endParaRPr lang="pt-BR" sz="2000"/>
          </a:p>
          <a:p>
            <a:r>
              <a:rPr lang="en-US" sz="2000"/>
              <a:t>O objetivo foi observar as dinâmicas de trabalho e registrar os </a:t>
            </a:r>
            <a:r>
              <a:rPr lang="pt-BR" sz="2000"/>
              <a:t>dados históricos </a:t>
            </a:r>
            <a:r>
              <a:rPr lang="en-US" sz="2000"/>
              <a:t>dos </a:t>
            </a:r>
            <a:r>
              <a:rPr lang="pt-BR" sz="2000"/>
              <a:t>eventos ocorridos ao longo d</a:t>
            </a:r>
            <a:r>
              <a:rPr lang="en-US" sz="2000"/>
              <a:t>o</a:t>
            </a:r>
            <a:r>
              <a:rPr lang="pt-BR" sz="2000"/>
              <a:t>s últimos meses (Jan/25 a Out/25). </a:t>
            </a:r>
          </a:p>
          <a:p>
            <a:endParaRPr lang="pt-BR"/>
          </a:p>
          <a:p>
            <a:endParaRPr lang="pt-BR"/>
          </a:p>
          <a:p>
            <a:endParaRPr lang="en-US" dirty="0"/>
          </a:p>
        </p:txBody>
      </p:sp>
      <p:sp>
        <p:nvSpPr>
          <p:cNvPr id="5" name="Espaço Reservado para Número de Slide 1">
            <a:extLst>
              <a:ext uri="{FF2B5EF4-FFF2-40B4-BE49-F238E27FC236}">
                <a16:creationId xmlns:a16="http://schemas.microsoft.com/office/drawing/2014/main" id="{B7360E95-08AB-C59F-BF29-A205294596A2}"/>
              </a:ext>
            </a:extLst>
          </p:cNvPr>
          <p:cNvSpPr txBox="1">
            <a:spLocks/>
          </p:cNvSpPr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pPr/>
              <a:t>2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700375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A3653565-80F6-F34B-87A8-DF53607B966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Metodologia</a:t>
            </a:r>
            <a:endParaRPr lang="en-US" dirty="0"/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ABA93AD-0692-D96C-9A46-5350B2A708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sz="2400" dirty="0"/>
              <a:t>Durante as </a:t>
            </a:r>
            <a:r>
              <a:rPr lang="pt-BR" sz="2400" dirty="0"/>
              <a:t>duas </a:t>
            </a:r>
            <a:r>
              <a:rPr lang="en-US" sz="2400" dirty="0" err="1"/>
              <a:t>visitas</a:t>
            </a:r>
            <a:r>
              <a:rPr lang="en-US" sz="2400" dirty="0"/>
              <a:t>, </a:t>
            </a:r>
            <a:r>
              <a:rPr lang="en-US" sz="2400" dirty="0" err="1"/>
              <a:t>foram</a:t>
            </a:r>
            <a:r>
              <a:rPr lang="en-US" sz="2400" dirty="0"/>
              <a:t> </a:t>
            </a:r>
            <a:r>
              <a:rPr lang="en-US" sz="2400" dirty="0" err="1"/>
              <a:t>realizadas</a:t>
            </a:r>
            <a:r>
              <a:rPr lang="en-US" sz="2400" dirty="0"/>
              <a:t> </a:t>
            </a:r>
            <a:r>
              <a:rPr lang="en-US" sz="2400" dirty="0" err="1"/>
              <a:t>entrevistas</a:t>
            </a:r>
            <a:r>
              <a:rPr lang="en-US" sz="2400" dirty="0"/>
              <a:t> semiestruturadas e um breve </a:t>
            </a:r>
            <a:r>
              <a:rPr lang="en-US" sz="2400" dirty="0" err="1"/>
              <a:t>acompanhamento</a:t>
            </a:r>
            <a:r>
              <a:rPr lang="en-US" sz="2400" dirty="0"/>
              <a:t> das </a:t>
            </a:r>
            <a:r>
              <a:rPr lang="en-US" sz="2400" dirty="0" err="1"/>
              <a:t>atividades</a:t>
            </a:r>
            <a:r>
              <a:rPr lang="en-US" sz="2400" dirty="0"/>
              <a:t> </a:t>
            </a:r>
            <a:r>
              <a:rPr lang="en-US" sz="2400" dirty="0" err="1"/>
              <a:t>cir</a:t>
            </a:r>
            <a:r>
              <a:rPr lang="pt-BR" altLang="zh-CN" sz="2400" dirty="0"/>
              <a:t>ú</a:t>
            </a:r>
            <a:r>
              <a:rPr lang="en-US" sz="2400" dirty="0" err="1"/>
              <a:t>rgicas</a:t>
            </a:r>
            <a:r>
              <a:rPr lang="en-US" sz="2400" dirty="0"/>
              <a:t> junto </a:t>
            </a:r>
            <a:r>
              <a:rPr lang="pt-BR" altLang="zh-CN" sz="2400" dirty="0"/>
              <a:t>à</a:t>
            </a:r>
            <a:r>
              <a:rPr lang="en-US" sz="2400" dirty="0"/>
              <a:t> </a:t>
            </a:r>
            <a:r>
              <a:rPr lang="en-US" sz="2400" dirty="0" err="1"/>
              <a:t>coordenadora</a:t>
            </a:r>
            <a:r>
              <a:rPr lang="en-US" sz="2400" dirty="0"/>
              <a:t> do </a:t>
            </a:r>
            <a:r>
              <a:rPr lang="en-US" sz="2400" dirty="0" err="1"/>
              <a:t>bloco</a:t>
            </a:r>
            <a:r>
              <a:rPr lang="pt-BR" sz="2400" dirty="0"/>
              <a:t>;</a:t>
            </a:r>
          </a:p>
          <a:p>
            <a:endParaRPr lang="pt-BR" sz="2400" dirty="0"/>
          </a:p>
          <a:p>
            <a:r>
              <a:rPr lang="pt-BR" sz="2400" dirty="0"/>
              <a:t> </a:t>
            </a:r>
            <a:r>
              <a:rPr lang="en-US" sz="2400" dirty="0" err="1"/>
              <a:t>Todas</a:t>
            </a:r>
            <a:r>
              <a:rPr lang="en-US" sz="2400" dirty="0"/>
              <a:t> as </a:t>
            </a:r>
            <a:r>
              <a:rPr lang="en-US" sz="2400" dirty="0" err="1"/>
              <a:t>entrevistas</a:t>
            </a:r>
            <a:r>
              <a:rPr lang="en-US" sz="2400" dirty="0"/>
              <a:t> </a:t>
            </a:r>
            <a:r>
              <a:rPr lang="en-US" sz="2400" dirty="0" err="1"/>
              <a:t>foram</a:t>
            </a:r>
            <a:r>
              <a:rPr lang="en-US" sz="2400" dirty="0"/>
              <a:t> </a:t>
            </a:r>
            <a:r>
              <a:rPr lang="en-US" sz="2400" dirty="0" err="1"/>
              <a:t>gravadas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pt-BR" altLang="zh-CN" sz="2400" dirty="0"/>
              <a:t>á</a:t>
            </a:r>
            <a:r>
              <a:rPr lang="en-US" sz="2400" dirty="0" err="1"/>
              <a:t>udio</a:t>
            </a:r>
            <a:r>
              <a:rPr lang="en-US" sz="2400" dirty="0"/>
              <a:t> com a </a:t>
            </a:r>
            <a:r>
              <a:rPr lang="en-US" sz="2400" dirty="0" err="1"/>
              <a:t>autorização</a:t>
            </a:r>
            <a:r>
              <a:rPr lang="en-US" sz="2400" dirty="0"/>
              <a:t> pr</a:t>
            </a:r>
            <a:r>
              <a:rPr lang="pt-BR" altLang="zh-CN" sz="2400" dirty="0"/>
              <a:t>é</a:t>
            </a:r>
            <a:r>
              <a:rPr lang="en-US" sz="2400" dirty="0"/>
              <a:t>via</a:t>
            </a:r>
            <a:r>
              <a:rPr lang="pt-BR" sz="2400" dirty="0"/>
              <a:t>;</a:t>
            </a:r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As conversas </a:t>
            </a:r>
            <a:r>
              <a:rPr lang="en-US" sz="2400" dirty="0" err="1"/>
              <a:t>foram</a:t>
            </a:r>
            <a:r>
              <a:rPr lang="en-US" sz="2400" dirty="0"/>
              <a:t> </a:t>
            </a:r>
            <a:r>
              <a:rPr lang="en-US" sz="2400" dirty="0" err="1"/>
              <a:t>complementadas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anotações</a:t>
            </a:r>
            <a:r>
              <a:rPr lang="en-US" sz="2400" dirty="0"/>
              <a:t> </a:t>
            </a:r>
            <a:r>
              <a:rPr lang="en-US" sz="2400" dirty="0" err="1"/>
              <a:t>em</a:t>
            </a:r>
            <a:r>
              <a:rPr lang="en-US" sz="2400" dirty="0"/>
              <a:t> di</a:t>
            </a:r>
            <a:r>
              <a:rPr lang="pt-BR" altLang="zh-CN" sz="2400" dirty="0"/>
              <a:t>á</a:t>
            </a:r>
            <a:r>
              <a:rPr lang="en-US" sz="2400" dirty="0" err="1"/>
              <a:t>rio</a:t>
            </a:r>
            <a:r>
              <a:rPr lang="en-US" sz="2400" dirty="0"/>
              <a:t> de campo</a:t>
            </a:r>
            <a:r>
              <a:rPr lang="pt-BR" sz="2400" dirty="0"/>
              <a:t>,</a:t>
            </a:r>
            <a:r>
              <a:rPr lang="en-US" sz="2400" dirty="0"/>
              <a:t> e as d</a:t>
            </a:r>
            <a:r>
              <a:rPr lang="pt-BR" altLang="zh-CN" sz="2400" dirty="0"/>
              <a:t>ú</a:t>
            </a:r>
            <a:r>
              <a:rPr lang="en-US" sz="2400" dirty="0" err="1"/>
              <a:t>vidas</a:t>
            </a:r>
            <a:r>
              <a:rPr lang="en-US" sz="2400" dirty="0"/>
              <a:t> e </a:t>
            </a:r>
            <a:r>
              <a:rPr lang="en-US" sz="2400" dirty="0" err="1"/>
              <a:t>esclarecimentos</a:t>
            </a:r>
            <a:r>
              <a:rPr lang="en-US" sz="2400" dirty="0"/>
              <a:t> </a:t>
            </a:r>
            <a:r>
              <a:rPr lang="en-US" sz="2400" dirty="0" err="1"/>
              <a:t>adicionais</a:t>
            </a:r>
            <a:r>
              <a:rPr lang="en-US" sz="2400" dirty="0"/>
              <a:t> </a:t>
            </a:r>
            <a:r>
              <a:rPr lang="en-US" sz="2400" dirty="0" err="1"/>
              <a:t>foram</a:t>
            </a:r>
            <a:r>
              <a:rPr lang="en-US" sz="2400" dirty="0"/>
              <a:t> </a:t>
            </a:r>
            <a:r>
              <a:rPr lang="en-US" sz="2400" dirty="0" err="1"/>
              <a:t>obtidos</a:t>
            </a:r>
            <a:r>
              <a:rPr lang="en-US" sz="2400" dirty="0"/>
              <a:t> </a:t>
            </a:r>
            <a:r>
              <a:rPr lang="en-US" sz="2400" dirty="0" err="1"/>
              <a:t>por</a:t>
            </a:r>
            <a:r>
              <a:rPr lang="en-US" sz="2400" dirty="0"/>
              <a:t> </a:t>
            </a:r>
            <a:r>
              <a:rPr lang="en-US" sz="2400" dirty="0" err="1"/>
              <a:t>meio</a:t>
            </a:r>
            <a:r>
              <a:rPr lang="en-US" sz="2400" dirty="0"/>
              <a:t> do </a:t>
            </a:r>
            <a:r>
              <a:rPr lang="en-US" sz="2400" dirty="0" err="1"/>
              <a:t>aplicativo</a:t>
            </a:r>
            <a:r>
              <a:rPr lang="en-US" sz="2400" dirty="0"/>
              <a:t> WhatsApp;</a:t>
            </a:r>
          </a:p>
          <a:p>
            <a:endParaRPr lang="en-US" sz="2400" dirty="0"/>
          </a:p>
          <a:p>
            <a:r>
              <a:rPr lang="en-US" sz="2400" dirty="0"/>
              <a:t>Todo o material </a:t>
            </a:r>
            <a:r>
              <a:rPr lang="en-US" sz="2400" dirty="0" err="1"/>
              <a:t>foi</a:t>
            </a:r>
            <a:r>
              <a:rPr lang="en-US" sz="2400" dirty="0"/>
              <a:t> </a:t>
            </a:r>
            <a:r>
              <a:rPr lang="en-US" sz="2400" dirty="0" err="1"/>
              <a:t>posteriormente</a:t>
            </a:r>
            <a:r>
              <a:rPr lang="en-US" sz="2400" dirty="0"/>
              <a:t> </a:t>
            </a:r>
            <a:r>
              <a:rPr lang="en-US" sz="2400" dirty="0" err="1"/>
              <a:t>transcrito</a:t>
            </a:r>
            <a:r>
              <a:rPr lang="en-US" sz="2400" dirty="0"/>
              <a:t> para fins de an</a:t>
            </a:r>
            <a:r>
              <a:rPr lang="pt-BR" altLang="zh-CN" sz="2400" dirty="0"/>
              <a:t>á</a:t>
            </a:r>
            <a:r>
              <a:rPr lang="en-US" sz="2400" dirty="0" err="1"/>
              <a:t>lise</a:t>
            </a:r>
            <a:r>
              <a:rPr lang="en-US" sz="2400" dirty="0"/>
              <a:t>.</a:t>
            </a:r>
            <a:endParaRPr lang="pt-BR" sz="2400" dirty="0"/>
          </a:p>
          <a:p>
            <a:endParaRPr lang="en-US" dirty="0"/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F17F3263-5283-4D77-BAC5-60751F41B5B9}"/>
              </a:ext>
            </a:extLst>
          </p:cNvPr>
          <p:cNvSpPr txBox="1">
            <a:spLocks/>
          </p:cNvSpPr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pPr/>
              <a:t>3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312648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1405F7B0-370A-B7BF-AB58-157AFB5AAA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 err="1"/>
              <a:t>Metodologia</a:t>
            </a:r>
            <a:endParaRPr lang="en-US" dirty="0"/>
          </a:p>
          <a:p>
            <a:endParaRPr lang="en-US" dirty="0"/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D3BD069C-77D8-680E-2CFC-B291C345AEF6}"/>
              </a:ext>
            </a:extLst>
          </p:cNvPr>
          <p:cNvSpPr txBox="1">
            <a:spLocks/>
          </p:cNvSpPr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pPr/>
              <a:t>4</a:t>
            </a:fld>
            <a:endParaRPr lang="en-US" noProof="0" dirty="0"/>
          </a:p>
        </p:txBody>
      </p:sp>
      <p:graphicFrame>
        <p:nvGraphicFramePr>
          <p:cNvPr id="12" name="Espaço Reservado para Conteúdo 8">
            <a:extLst>
              <a:ext uri="{FF2B5EF4-FFF2-40B4-BE49-F238E27FC236}">
                <a16:creationId xmlns:a16="http://schemas.microsoft.com/office/drawing/2014/main" id="{70344F0A-C1AA-FB52-37D2-C6C4D29310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3937196"/>
              </p:ext>
            </p:extLst>
          </p:nvPr>
        </p:nvGraphicFramePr>
        <p:xfrm>
          <a:off x="1237956" y="2065289"/>
          <a:ext cx="8305799" cy="4023360"/>
        </p:xfrm>
        <a:graphic>
          <a:graphicData uri="http://schemas.openxmlformats.org/drawingml/2006/table">
            <a:tbl>
              <a:tblPr firstRow="1" firstCol="1" bandRow="1"/>
              <a:tblGrid>
                <a:gridCol w="1425734">
                  <a:extLst>
                    <a:ext uri="{9D8B030D-6E8A-4147-A177-3AD203B41FA5}">
                      <a16:colId xmlns:a16="http://schemas.microsoft.com/office/drawing/2014/main" val="425678443"/>
                    </a:ext>
                  </a:extLst>
                </a:gridCol>
                <a:gridCol w="4885033">
                  <a:extLst>
                    <a:ext uri="{9D8B030D-6E8A-4147-A177-3AD203B41FA5}">
                      <a16:colId xmlns:a16="http://schemas.microsoft.com/office/drawing/2014/main" val="106553833"/>
                    </a:ext>
                  </a:extLst>
                </a:gridCol>
                <a:gridCol w="1995032">
                  <a:extLst>
                    <a:ext uri="{9D8B030D-6E8A-4147-A177-3AD203B41FA5}">
                      <a16:colId xmlns:a16="http://schemas.microsoft.com/office/drawing/2014/main" val="2868228089"/>
                    </a:ext>
                  </a:extLst>
                </a:gridCol>
              </a:tblGrid>
              <a:tr h="402336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Data</a:t>
                      </a:r>
                      <a:endParaRPr lang="pt-BR" sz="1600" dirty="0">
                        <a:effectLst/>
                        <a:highlight>
                          <a:srgbClr val="D0CECE"/>
                        </a:highlight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600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Objetivo</a:t>
                      </a:r>
                      <a:endParaRPr lang="pt-BR" sz="1600" dirty="0">
                        <a:effectLst/>
                        <a:highlight>
                          <a:srgbClr val="D0CECE"/>
                        </a:highlight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>
                          <a:solidFill>
                            <a:srgbClr val="000000"/>
                          </a:solidFill>
                          <a:effectLst/>
                          <a:highlight>
                            <a:srgbClr val="D0CECE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Retorno</a:t>
                      </a:r>
                      <a:endParaRPr lang="pt-BR" sz="1600" dirty="0">
                        <a:effectLst/>
                        <a:highlight>
                          <a:srgbClr val="D0CECE"/>
                        </a:highlight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CEC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6778325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16/09/2025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Dúvidas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DCA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pt-BR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Texto</a:t>
                      </a: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9186073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06/10/2025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Conhece</a:t>
                      </a:r>
                      <a:r>
                        <a:rPr lang="pt-BR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ndo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a </a:t>
                      </a:r>
                      <a:r>
                        <a:rPr lang="pt-BR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dinâmica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do Bloco 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Cirúrgico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Visita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8470116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09/10/2025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Esclalrecimento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visita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06/10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Áudio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8203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11/10/2025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Esclalrecimento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visita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06/10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Áudio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2631064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12/10/2025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Esclalrecimento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áudio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11/10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Áudio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9951303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14/10/2025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Esclalrecimento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áudio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12/10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Áudio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1426748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15/10/2025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Esclalrecimento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áudio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14/10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Áudio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3646469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17/10/2025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Esclalrecimento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áudio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14-15/10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Áudio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0745991"/>
                  </a:ext>
                </a:extLst>
              </a:tr>
              <a:tr h="402336"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24/10/2025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Esclarecendo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todas</a:t>
                      </a:r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 as </a:t>
                      </a:r>
                      <a:r>
                        <a:rPr lang="en-US" sz="1600" dirty="0" err="1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dúvidas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600" dirty="0"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Visita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Cambria" panose="020405030504060302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071608"/>
                  </a:ext>
                </a:extLst>
              </a:tr>
            </a:tbl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A655DC76-8D14-5C04-CD4D-636AD4668CBD}"/>
              </a:ext>
            </a:extLst>
          </p:cNvPr>
          <p:cNvSpPr txBox="1"/>
          <p:nvPr/>
        </p:nvSpPr>
        <p:spPr>
          <a:xfrm>
            <a:off x="2096086" y="1647539"/>
            <a:ext cx="711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Quadro 1</a:t>
            </a:r>
            <a:r>
              <a:rPr lang="pt-BR" dirty="0"/>
              <a:t>: Informações entrevistas realizadas – Hospital Risoleta Neves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7416FB2-B69B-0BB1-FB6C-94797F145207}"/>
              </a:ext>
            </a:extLst>
          </p:cNvPr>
          <p:cNvSpPr txBox="1"/>
          <p:nvPr/>
        </p:nvSpPr>
        <p:spPr>
          <a:xfrm>
            <a:off x="1237956" y="6222535"/>
            <a:ext cx="711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Fonte</a:t>
            </a:r>
            <a:r>
              <a:rPr lang="pt-BR" dirty="0"/>
              <a:t>: Elaborado pelos autores (2025)</a:t>
            </a:r>
          </a:p>
        </p:txBody>
      </p:sp>
    </p:spTree>
    <p:extLst>
      <p:ext uri="{BB962C8B-B14F-4D97-AF65-F5344CB8AC3E}">
        <p14:creationId xmlns:p14="http://schemas.microsoft.com/office/powerpoint/2010/main" val="16483593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80AB44D-BA49-4796-C8CC-59DE352FC5B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Dados </a:t>
            </a: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8B6884E6-DFFC-AC42-D1D9-F63E57B6BC3E}"/>
              </a:ext>
            </a:extLst>
          </p:cNvPr>
          <p:cNvSpPr txBox="1">
            <a:spLocks/>
          </p:cNvSpPr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pPr/>
              <a:t>5</a:t>
            </a:fld>
            <a:endParaRPr lang="en-US" noProof="0" dirty="0"/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8F21A9F2-C56B-E14E-0A3B-5E8AF06620E9}"/>
              </a:ext>
            </a:extLst>
          </p:cNvPr>
          <p:cNvSpPr txBox="1"/>
          <p:nvPr/>
        </p:nvSpPr>
        <p:spPr>
          <a:xfrm>
            <a:off x="2096086" y="1577199"/>
            <a:ext cx="71182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Tabela 1</a:t>
            </a:r>
            <a:r>
              <a:rPr lang="pt-BR" dirty="0"/>
              <a:t>: Informações referentes ao tipo de Cirurgia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53AA15C6-BDEB-316C-426C-D83B1EE1355B}"/>
              </a:ext>
            </a:extLst>
          </p:cNvPr>
          <p:cNvSpPr txBox="1"/>
          <p:nvPr/>
        </p:nvSpPr>
        <p:spPr>
          <a:xfrm>
            <a:off x="1955409" y="5775736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Fonte</a:t>
            </a:r>
            <a:r>
              <a:rPr lang="pt-BR" dirty="0"/>
              <a:t>: Elaborado pelos autores (2025)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5A0E59A4-0555-8722-2921-EE8DA0ACD8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6357662"/>
              </p:ext>
            </p:extLst>
          </p:nvPr>
        </p:nvGraphicFramePr>
        <p:xfrm>
          <a:off x="2096086" y="2060115"/>
          <a:ext cx="7765366" cy="3573901"/>
        </p:xfrm>
        <a:graphic>
          <a:graphicData uri="http://schemas.openxmlformats.org/drawingml/2006/table">
            <a:tbl>
              <a:tblPr/>
              <a:tblGrid>
                <a:gridCol w="1842868">
                  <a:extLst>
                    <a:ext uri="{9D8B030D-6E8A-4147-A177-3AD203B41FA5}">
                      <a16:colId xmlns:a16="http://schemas.microsoft.com/office/drawing/2014/main" val="3615247699"/>
                    </a:ext>
                  </a:extLst>
                </a:gridCol>
                <a:gridCol w="632426">
                  <a:extLst>
                    <a:ext uri="{9D8B030D-6E8A-4147-A177-3AD203B41FA5}">
                      <a16:colId xmlns:a16="http://schemas.microsoft.com/office/drawing/2014/main" val="1024241770"/>
                    </a:ext>
                  </a:extLst>
                </a:gridCol>
                <a:gridCol w="1098413">
                  <a:extLst>
                    <a:ext uri="{9D8B030D-6E8A-4147-A177-3AD203B41FA5}">
                      <a16:colId xmlns:a16="http://schemas.microsoft.com/office/drawing/2014/main" val="1440938626"/>
                    </a:ext>
                  </a:extLst>
                </a:gridCol>
                <a:gridCol w="845726">
                  <a:extLst>
                    <a:ext uri="{9D8B030D-6E8A-4147-A177-3AD203B41FA5}">
                      <a16:colId xmlns:a16="http://schemas.microsoft.com/office/drawing/2014/main" val="2652614821"/>
                    </a:ext>
                  </a:extLst>
                </a:gridCol>
                <a:gridCol w="968493">
                  <a:extLst>
                    <a:ext uri="{9D8B030D-6E8A-4147-A177-3AD203B41FA5}">
                      <a16:colId xmlns:a16="http://schemas.microsoft.com/office/drawing/2014/main" val="471334447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1481078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4206390"/>
                    </a:ext>
                  </a:extLst>
                </a:gridCol>
              </a:tblGrid>
              <a:tr h="502211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1" i="0" u="none" strike="noStrike" dirty="0" err="1">
                          <a:solidFill>
                            <a:srgbClr val="000000"/>
                          </a:solidFill>
                          <a:effectLst/>
                          <a:highlight>
                            <a:srgbClr val="AEAAAA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tip_cirurgia</a:t>
                      </a:r>
                      <a:r>
                        <a:rPr lang="pt-BR" sz="1600" b="1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AEAAAA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/Mês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AEAAAA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Eletiva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AEAAAA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Emergência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AEAAAA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Urgência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AEAAAA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% Eletiva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% Emergência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% Urgência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3584685"/>
                  </a:ext>
                </a:extLst>
              </a:tr>
              <a:tr h="307169">
                <a:tc>
                  <a:txBody>
                    <a:bodyPr/>
                    <a:lstStyle/>
                    <a:p>
                      <a:pPr algn="ctr" fontAlgn="t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Jan/2025</a:t>
                      </a:r>
                    </a:p>
                  </a:txBody>
                  <a:tcPr marL="9525" marR="9525" marT="9525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39,09%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1,42%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59,49%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523211"/>
                  </a:ext>
                </a:extLst>
              </a:tr>
              <a:tr h="30716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Fev/2025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143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44,55%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1,56%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53,89%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9059249"/>
                  </a:ext>
                </a:extLst>
              </a:tr>
              <a:tr h="30716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Mar/2025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194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41,44%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0,30%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58,26%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109805"/>
                  </a:ext>
                </a:extLst>
              </a:tr>
              <a:tr h="30716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Abr/2025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162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171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47,93%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1,48%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50,59%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80229904"/>
                  </a:ext>
                </a:extLst>
              </a:tr>
              <a:tr h="30716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Mai/2025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43,59%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0,96%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55,45%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44372379"/>
                  </a:ext>
                </a:extLst>
              </a:tr>
              <a:tr h="30716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Jun/2025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139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43,30%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2,49%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54,21%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81831162"/>
                  </a:ext>
                </a:extLst>
              </a:tr>
              <a:tr h="30716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Jul/2025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138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178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42,86%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1,86%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55,28%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5618487"/>
                  </a:ext>
                </a:extLst>
              </a:tr>
              <a:tr h="30716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highlight>
                            <a:srgbClr val="FFFFFF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Ago/2025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164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47,26%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0,86%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51,87%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437024"/>
                  </a:ext>
                </a:extLst>
              </a:tr>
              <a:tr h="30716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Set/2025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141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40,75%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2,89%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56,36%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6651984"/>
                  </a:ext>
                </a:extLst>
              </a:tr>
              <a:tr h="30716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Out/2025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185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48,33%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0,28%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51,39%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5042868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548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51D3E0-83FD-C829-8E2D-A2F2FFB4EF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Dados</a:t>
            </a: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7DF7754E-AC76-2AA5-D42D-86ED8040D280}"/>
              </a:ext>
            </a:extLst>
          </p:cNvPr>
          <p:cNvSpPr txBox="1">
            <a:spLocks/>
          </p:cNvSpPr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pPr/>
              <a:t>6</a:t>
            </a:fld>
            <a:endParaRPr lang="en-US" noProof="0" dirty="0"/>
          </a:p>
        </p:txBody>
      </p:sp>
      <p:graphicFrame>
        <p:nvGraphicFramePr>
          <p:cNvPr id="14" name="Espaço Reservado para Conteúdo 2">
            <a:extLst>
              <a:ext uri="{FF2B5EF4-FFF2-40B4-BE49-F238E27FC236}">
                <a16:creationId xmlns:a16="http://schemas.microsoft.com/office/drawing/2014/main" id="{41DC70E4-2D4B-AFD6-5967-39A4389B851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85027162"/>
              </p:ext>
            </p:extLst>
          </p:nvPr>
        </p:nvGraphicFramePr>
        <p:xfrm>
          <a:off x="1933880" y="1942206"/>
          <a:ext cx="5922504" cy="3305045"/>
        </p:xfrm>
        <a:graphic>
          <a:graphicData uri="http://schemas.openxmlformats.org/drawingml/2006/table">
            <a:tbl>
              <a:tblPr/>
              <a:tblGrid>
                <a:gridCol w="1564012">
                  <a:extLst>
                    <a:ext uri="{9D8B030D-6E8A-4147-A177-3AD203B41FA5}">
                      <a16:colId xmlns:a16="http://schemas.microsoft.com/office/drawing/2014/main" val="1338229736"/>
                    </a:ext>
                  </a:extLst>
                </a:gridCol>
                <a:gridCol w="1528863">
                  <a:extLst>
                    <a:ext uri="{9D8B030D-6E8A-4147-A177-3AD203B41FA5}">
                      <a16:colId xmlns:a16="http://schemas.microsoft.com/office/drawing/2014/main" val="426691650"/>
                    </a:ext>
                  </a:extLst>
                </a:gridCol>
                <a:gridCol w="1124682">
                  <a:extLst>
                    <a:ext uri="{9D8B030D-6E8A-4147-A177-3AD203B41FA5}">
                      <a16:colId xmlns:a16="http://schemas.microsoft.com/office/drawing/2014/main" val="1606658004"/>
                    </a:ext>
                  </a:extLst>
                </a:gridCol>
                <a:gridCol w="1704947">
                  <a:extLst>
                    <a:ext uri="{9D8B030D-6E8A-4147-A177-3AD203B41FA5}">
                      <a16:colId xmlns:a16="http://schemas.microsoft.com/office/drawing/2014/main" val="77310004"/>
                    </a:ext>
                  </a:extLst>
                </a:gridCol>
              </a:tblGrid>
              <a:tr h="7007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AEAAAA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Tipo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AEAAAA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Tipos cirurgias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AEAAAA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AEAAAA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% ACUMULADO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AEAAA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0724074"/>
                  </a:ext>
                </a:extLst>
              </a:tr>
              <a:tr h="6344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ELETIVA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1473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43,93%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0,44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1900054"/>
                  </a:ext>
                </a:extLst>
              </a:tr>
              <a:tr h="6344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URGENCIA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1833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54,67%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0,99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9865367"/>
                  </a:ext>
                </a:extLst>
              </a:tr>
              <a:tr h="7007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EMERGÊNCIA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47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1,40%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1,00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151365"/>
                  </a:ext>
                </a:extLst>
              </a:tr>
              <a:tr h="634489"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highlight>
                            <a:srgbClr val="E7E6E6"/>
                          </a:highlight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TOTAL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3353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</a:rPr>
                        <a:t>100,00%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mbria" panose="02040503050406030204" pitchFamily="18" charset="0"/>
                          <a:ea typeface="Cambria" panose="02040503050406030204" pitchFamily="18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2596087"/>
                  </a:ext>
                </a:extLst>
              </a:tr>
            </a:tbl>
          </a:graphicData>
        </a:graphic>
      </p:graphicFrame>
      <p:sp>
        <p:nvSpPr>
          <p:cNvPr id="15" name="CaixaDeTexto 14">
            <a:extLst>
              <a:ext uri="{FF2B5EF4-FFF2-40B4-BE49-F238E27FC236}">
                <a16:creationId xmlns:a16="http://schemas.microsoft.com/office/drawing/2014/main" id="{C5A8C5AA-588F-BF0F-6D88-7C1AC2EA4414}"/>
              </a:ext>
            </a:extLst>
          </p:cNvPr>
          <p:cNvSpPr txBox="1"/>
          <p:nvPr/>
        </p:nvSpPr>
        <p:spPr>
          <a:xfrm>
            <a:off x="1798478" y="1457844"/>
            <a:ext cx="52214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/>
              <a:t>Tabela 2</a:t>
            </a:r>
            <a:r>
              <a:rPr lang="pt-BR" dirty="0"/>
              <a:t>: Informações referentes aos tipos de Cirurgia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86DCC4EE-1AD7-FDFF-4B08-CB2DBFF37DC2}"/>
              </a:ext>
            </a:extLst>
          </p:cNvPr>
          <p:cNvSpPr txBox="1"/>
          <p:nvPr/>
        </p:nvSpPr>
        <p:spPr>
          <a:xfrm>
            <a:off x="1845960" y="5400156"/>
            <a:ext cx="609834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b="1" dirty="0"/>
              <a:t>Fonte</a:t>
            </a:r>
            <a:r>
              <a:rPr lang="pt-BR" dirty="0"/>
              <a:t>: Elaborado pelos autores (2025)</a:t>
            </a:r>
          </a:p>
        </p:txBody>
      </p:sp>
    </p:spTree>
    <p:extLst>
      <p:ext uri="{BB962C8B-B14F-4D97-AF65-F5344CB8AC3E}">
        <p14:creationId xmlns:p14="http://schemas.microsoft.com/office/powerpoint/2010/main" val="9273151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D351D3E0-83FD-C829-8E2D-A2F2FFB4EF2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DCA</a:t>
            </a:r>
          </a:p>
        </p:txBody>
      </p:sp>
      <p:sp>
        <p:nvSpPr>
          <p:cNvPr id="6" name="Espaço Reservado para Número de Slide 1">
            <a:extLst>
              <a:ext uri="{FF2B5EF4-FFF2-40B4-BE49-F238E27FC236}">
                <a16:creationId xmlns:a16="http://schemas.microsoft.com/office/drawing/2014/main" id="{7DF7754E-AC76-2AA5-D42D-86ED8040D280}"/>
              </a:ext>
            </a:extLst>
          </p:cNvPr>
          <p:cNvSpPr txBox="1">
            <a:spLocks/>
          </p:cNvSpPr>
          <p:nvPr/>
        </p:nvSpPr>
        <p:spPr>
          <a:xfrm>
            <a:off x="256308" y="623036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10" name="Espaço Reservado para Conteúdo 9">
            <a:extLst>
              <a:ext uri="{FF2B5EF4-FFF2-40B4-BE49-F238E27FC236}">
                <a16:creationId xmlns:a16="http://schemas.microsoft.com/office/drawing/2014/main" id="{BD46D5AB-A73E-3445-C2AA-17B274155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11" name="Espaço Reservado para Conteúdo 6">
            <a:extLst>
              <a:ext uri="{FF2B5EF4-FFF2-40B4-BE49-F238E27FC236}">
                <a16:creationId xmlns:a16="http://schemas.microsoft.com/office/drawing/2014/main" id="{39BB98DA-F6B5-9FA1-BA1D-139F874395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512" y="1644752"/>
            <a:ext cx="10392934" cy="4313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0744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exto 1">
            <a:extLst>
              <a:ext uri="{FF2B5EF4-FFF2-40B4-BE49-F238E27FC236}">
                <a16:creationId xmlns:a16="http://schemas.microsoft.com/office/drawing/2014/main" id="{F2B035BF-3BC9-4419-D042-B9B04C781F1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pt-BR" dirty="0"/>
              <a:t>Código – Bloco Cirúrgico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80CA9D3-F826-477C-9397-7333E64AA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192720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Número de Slide 1">
            <a:extLst>
              <a:ext uri="{FF2B5EF4-FFF2-40B4-BE49-F238E27FC236}">
                <a16:creationId xmlns:a16="http://schemas.microsoft.com/office/drawing/2014/main" id="{45E1FE49-9FCB-2909-9DD3-3E9CF359067A}"/>
              </a:ext>
            </a:extLst>
          </p:cNvPr>
          <p:cNvSpPr txBox="1">
            <a:spLocks/>
          </p:cNvSpPr>
          <p:nvPr/>
        </p:nvSpPr>
        <p:spPr>
          <a:xfrm>
            <a:off x="256308" y="626226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D4FF0FE-8542-4358-9499-178E2E967A55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188F0F9-1E7C-E71F-C9A0-02CB3C7139CC}"/>
              </a:ext>
            </a:extLst>
          </p:cNvPr>
          <p:cNvSpPr txBox="1"/>
          <p:nvPr/>
        </p:nvSpPr>
        <p:spPr>
          <a:xfrm>
            <a:off x="3821195" y="2573080"/>
            <a:ext cx="45496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 err="1">
                <a:latin typeface="Cambria" panose="02040503050406030204" pitchFamily="18" charset="0"/>
                <a:ea typeface="Cambria" panose="02040503050406030204" pitchFamily="18" charset="0"/>
              </a:rPr>
              <a:t>Obrigado</a:t>
            </a:r>
            <a:r>
              <a:rPr lang="en-US" sz="6000" dirty="0">
                <a:latin typeface="Cambria" panose="02040503050406030204" pitchFamily="18" charset="0"/>
                <a:ea typeface="Cambria" panose="02040503050406030204" pitchFamily="18" charset="0"/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449983777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11828</TotalTime>
  <Words>476</Words>
  <Application>Microsoft Office PowerPoint</Application>
  <PresentationFormat>Widescreen</PresentationFormat>
  <Paragraphs>168</Paragraphs>
  <Slides>9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3" baseType="lpstr">
      <vt:lpstr>Arial</vt:lpstr>
      <vt:lpstr>Calibri</vt:lpstr>
      <vt:lpstr>Cambria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Samantha Araújo</dc:creator>
  <cp:lastModifiedBy>Acer</cp:lastModifiedBy>
  <cp:revision>247</cp:revision>
  <dcterms:created xsi:type="dcterms:W3CDTF">2025-05-31T18:00:55Z</dcterms:created>
  <dcterms:modified xsi:type="dcterms:W3CDTF">2025-11-23T22:35:25Z</dcterms:modified>
</cp:coreProperties>
</file>