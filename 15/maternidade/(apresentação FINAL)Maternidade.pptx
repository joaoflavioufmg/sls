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Petrona" panose="020B0604020202020204" charset="0"/>
      <p:regular r:id="rId16"/>
    </p:embeddedFont>
    <p:embeddedFont>
      <p:font typeface="Petrona Bold" panose="020B0604020202020204" charset="0"/>
      <p:regular r:id="rId17"/>
    </p:embeddedFont>
    <p:embeddedFont>
      <p:font typeface="Petrona Light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45A5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A5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0703977" cy="10287000"/>
            <a:chOff x="0" y="0"/>
            <a:chExt cx="1138555" cy="10942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8555" cy="1094202"/>
            </a:xfrm>
            <a:custGeom>
              <a:avLst/>
              <a:gdLst/>
              <a:ahLst/>
              <a:cxnLst/>
              <a:rect l="l" t="t" r="r" b="b"/>
              <a:pathLst>
                <a:path w="1138555" h="1094202">
                  <a:moveTo>
                    <a:pt x="16635" y="0"/>
                  </a:moveTo>
                  <a:lnTo>
                    <a:pt x="1121920" y="0"/>
                  </a:lnTo>
                  <a:cubicBezTo>
                    <a:pt x="1126331" y="0"/>
                    <a:pt x="1130563" y="1753"/>
                    <a:pt x="1133682" y="4872"/>
                  </a:cubicBezTo>
                  <a:cubicBezTo>
                    <a:pt x="1136802" y="7992"/>
                    <a:pt x="1138555" y="12223"/>
                    <a:pt x="1138555" y="16635"/>
                  </a:cubicBezTo>
                  <a:lnTo>
                    <a:pt x="1138555" y="1077567"/>
                  </a:lnTo>
                  <a:cubicBezTo>
                    <a:pt x="1138555" y="1086754"/>
                    <a:pt x="1131107" y="1094202"/>
                    <a:pt x="1121920" y="1094202"/>
                  </a:cubicBezTo>
                  <a:lnTo>
                    <a:pt x="16635" y="1094202"/>
                  </a:lnTo>
                  <a:cubicBezTo>
                    <a:pt x="12223" y="1094202"/>
                    <a:pt x="7992" y="1092449"/>
                    <a:pt x="4872" y="1089330"/>
                  </a:cubicBezTo>
                  <a:cubicBezTo>
                    <a:pt x="1753" y="1086210"/>
                    <a:pt x="0" y="1081979"/>
                    <a:pt x="0" y="1077567"/>
                  </a:cubicBezTo>
                  <a:lnTo>
                    <a:pt x="0" y="16635"/>
                  </a:lnTo>
                  <a:cubicBezTo>
                    <a:pt x="0" y="12223"/>
                    <a:pt x="1753" y="7992"/>
                    <a:pt x="4872" y="4872"/>
                  </a:cubicBezTo>
                  <a:cubicBezTo>
                    <a:pt x="7992" y="1753"/>
                    <a:pt x="12223" y="0"/>
                    <a:pt x="16635" y="0"/>
                  </a:cubicBezTo>
                  <a:close/>
                </a:path>
              </a:pathLst>
            </a:custGeom>
            <a:blipFill>
              <a:blip r:embed="rId3"/>
              <a:stretch>
                <a:fillRect l="-20612" r="-5044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107168" y="2932907"/>
            <a:ext cx="6932671" cy="128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2"/>
              </a:lnSpc>
            </a:pPr>
            <a:r>
              <a:rPr lang="en-US" sz="3999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Avaliação da Capacidade Operacional da Maternidade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07168" y="4669631"/>
            <a:ext cx="6513862" cy="1309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Análise via simulação computacional do fluxo materno-neonatal do Hospital Risoleta Tolentino Neves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A5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-102870"/>
            <a:ext cx="18288000" cy="4245202"/>
            <a:chOff x="0" y="0"/>
            <a:chExt cx="2833290" cy="657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33290" cy="657693"/>
            </a:xfrm>
            <a:custGeom>
              <a:avLst/>
              <a:gdLst/>
              <a:ahLst/>
              <a:cxnLst/>
              <a:rect l="l" t="t" r="r" b="b"/>
              <a:pathLst>
                <a:path w="2833290" h="657693">
                  <a:moveTo>
                    <a:pt x="0" y="0"/>
                  </a:moveTo>
                  <a:lnTo>
                    <a:pt x="2833290" y="0"/>
                  </a:lnTo>
                  <a:lnTo>
                    <a:pt x="2833290" y="657693"/>
                  </a:lnTo>
                  <a:lnTo>
                    <a:pt x="0" y="657693"/>
                  </a:lnTo>
                  <a:close/>
                </a:path>
              </a:pathLst>
            </a:custGeom>
            <a:blipFill>
              <a:blip r:embed="rId3"/>
              <a:stretch>
                <a:fillRect t="-88894" b="-5313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75559" y="4494758"/>
            <a:ext cx="6096595" cy="900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9"/>
              </a:lnSpc>
            </a:pPr>
            <a:r>
              <a:rPr lang="en-US" sz="5681">
                <a:solidFill>
                  <a:srgbClr val="181B1A"/>
                </a:solidFill>
                <a:latin typeface="Petrona"/>
                <a:ea typeface="Petrona"/>
                <a:cs typeface="Petrona"/>
                <a:sym typeface="Petrona"/>
              </a:rPr>
              <a:t>Contexto do Estudo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1756" y="5682406"/>
            <a:ext cx="3569345" cy="48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O Hospital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1756" y="6362254"/>
            <a:ext cx="7860506" cy="138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Hospital Risoleta Tolentino Neves (HRTN) é 100% SUS, filantrópico e opera porta aberta 24h/dia, atendendo mais de 1,5 milhão de pessoas.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1756" y="7912001"/>
            <a:ext cx="7860506" cy="138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 Maternidade realiza </a:t>
            </a:r>
            <a:r>
              <a:rPr lang="en-US" sz="2125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2.200 partos/ano</a:t>
            </a: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(6/dia) e </a:t>
            </a:r>
            <a:r>
              <a:rPr lang="en-US" sz="2125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15.000 atendimentos clínicos/ano</a:t>
            </a: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(40/dia), com taxa de </a:t>
            </a:r>
            <a:r>
              <a:rPr lang="en-US" sz="2125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76% de partos normais</a:t>
            </a: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85262" y="5682406"/>
            <a:ext cx="3569345" cy="48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O Desafio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85262" y="6362254"/>
            <a:ext cx="7860506" cy="1816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Modo porta aberta gera chegadas estocásticas e imprevisíveis. A complexidade do fluxo e natureza urgente das entradas tornam o dimensionamento de capacidade uma tarefa crítica.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85262" y="8347025"/>
            <a:ext cx="7860506" cy="9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Tempos de espera não podem ser excessivamente altos em sistema de saúde.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A5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992238" y="1788765"/>
            <a:ext cx="7442746" cy="9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Metodologia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2238" y="3305175"/>
            <a:ext cx="607962" cy="426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Petrona Light"/>
                <a:ea typeface="Petrona Light"/>
                <a:cs typeface="Petrona Light"/>
                <a:sym typeface="Petrona Light"/>
              </a:rPr>
              <a:t>01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92238" y="3777555"/>
            <a:ext cx="8009930" cy="38100"/>
            <a:chOff x="0" y="0"/>
            <a:chExt cx="10679907" cy="508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" r="-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238" y="3966865"/>
            <a:ext cx="3721299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Modelagem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544914"/>
            <a:ext cx="800993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Desenvolvimento de modelo de simulação de eventos discretos usando SimPy/Python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85684" y="3261326"/>
            <a:ext cx="467915" cy="426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E0D6DE"/>
                </a:solidFill>
                <a:latin typeface="Petrona Light"/>
                <a:ea typeface="Petrona Light"/>
                <a:cs typeface="Petrona Light"/>
                <a:sym typeface="Petrona Light"/>
              </a:rPr>
              <a:t>02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9285685" y="3777555"/>
            <a:ext cx="8010079" cy="38100"/>
            <a:chOff x="0" y="0"/>
            <a:chExt cx="10680105" cy="5080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0680065" cy="50800"/>
            </a:xfrm>
            <a:custGeom>
              <a:avLst/>
              <a:gdLst/>
              <a:ahLst/>
              <a:cxnLst/>
              <a:rect l="l" t="t" r="r" b="b"/>
              <a:pathLst>
                <a:path w="10680065" h="50800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r="-3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285685" y="3966865"/>
            <a:ext cx="3721299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Validação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85685" y="4544914"/>
            <a:ext cx="801007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Testes estatísticos (Friedman) e validação com especialista do hospital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5929164"/>
            <a:ext cx="455562" cy="426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E0D6DE"/>
                </a:solidFill>
                <a:latin typeface="Petrona Light"/>
                <a:ea typeface="Petrona Light"/>
                <a:cs typeface="Petrona Light"/>
                <a:sym typeface="Petrona Light"/>
              </a:rPr>
              <a:t>03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992238" y="6449318"/>
            <a:ext cx="8009930" cy="38100"/>
            <a:chOff x="0" y="0"/>
            <a:chExt cx="10679907" cy="508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" r="-3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92238" y="6667054"/>
            <a:ext cx="3721299" cy="49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Simulação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238" y="7245102"/>
            <a:ext cx="800993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100 replicações independentes de 30 dias cada, com período de warm-up de 2880 minutos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85684" y="5961515"/>
            <a:ext cx="455561" cy="426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E0D6DE"/>
                </a:solidFill>
                <a:latin typeface="Petrona Light"/>
                <a:ea typeface="Petrona Light"/>
                <a:cs typeface="Petrona Light"/>
                <a:sym typeface="Petrona Light"/>
              </a:rPr>
              <a:t>04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9285685" y="6449318"/>
            <a:ext cx="8010079" cy="38100"/>
            <a:chOff x="0" y="0"/>
            <a:chExt cx="10680105" cy="5080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0680065" cy="50800"/>
            </a:xfrm>
            <a:custGeom>
              <a:avLst/>
              <a:gdLst/>
              <a:ahLst/>
              <a:cxnLst/>
              <a:rect l="l" t="t" r="r" b="b"/>
              <a:pathLst>
                <a:path w="10680065" h="50800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r="-3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9285685" y="6667054"/>
            <a:ext cx="3721299" cy="49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Análise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85685" y="7245102"/>
            <a:ext cx="801007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Intervalo de confiança de 95% para todos os indicadores de desempenho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A5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85974" y="657969"/>
            <a:ext cx="7745015" cy="86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Recursos da Maternidade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81211" y="1901577"/>
            <a:ext cx="4711899" cy="3481090"/>
            <a:chOff x="0" y="0"/>
            <a:chExt cx="6282532" cy="4641453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6269863" cy="4628769"/>
            </a:xfrm>
            <a:custGeom>
              <a:avLst/>
              <a:gdLst/>
              <a:ahLst/>
              <a:cxnLst/>
              <a:rect l="l" t="t" r="r" b="b"/>
              <a:pathLst>
                <a:path w="6269863" h="4628769">
                  <a:moveTo>
                    <a:pt x="0" y="141732"/>
                  </a:moveTo>
                  <a:cubicBezTo>
                    <a:pt x="0" y="63500"/>
                    <a:pt x="63500" y="0"/>
                    <a:pt x="141859" y="0"/>
                  </a:cubicBezTo>
                  <a:lnTo>
                    <a:pt x="6128004" y="0"/>
                  </a:lnTo>
                  <a:cubicBezTo>
                    <a:pt x="6206363" y="0"/>
                    <a:pt x="6269863" y="63500"/>
                    <a:pt x="6269863" y="141732"/>
                  </a:cubicBezTo>
                  <a:lnTo>
                    <a:pt x="6269863" y="4487037"/>
                  </a:lnTo>
                  <a:cubicBezTo>
                    <a:pt x="6269863" y="4565396"/>
                    <a:pt x="6206363" y="4628769"/>
                    <a:pt x="6128004" y="4628769"/>
                  </a:cubicBezTo>
                  <a:lnTo>
                    <a:pt x="141859" y="4628769"/>
                  </a:lnTo>
                  <a:cubicBezTo>
                    <a:pt x="63500" y="4628769"/>
                    <a:pt x="0" y="4565269"/>
                    <a:pt x="0" y="4487037"/>
                  </a:cubicBezTo>
                  <a:close/>
                </a:path>
              </a:pathLst>
            </a:custGeom>
            <a:solidFill>
              <a:srgbClr val="181B1A"/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6282563" cy="4641469"/>
            </a:xfrm>
            <a:custGeom>
              <a:avLst/>
              <a:gdLst/>
              <a:ahLst/>
              <a:cxnLst/>
              <a:rect l="l" t="t" r="r" b="b"/>
              <a:pathLst>
                <a:path w="6282563" h="4641469">
                  <a:moveTo>
                    <a:pt x="0" y="148082"/>
                  </a:moveTo>
                  <a:cubicBezTo>
                    <a:pt x="0" y="66294"/>
                    <a:pt x="66421" y="0"/>
                    <a:pt x="148209" y="0"/>
                  </a:cubicBezTo>
                  <a:lnTo>
                    <a:pt x="6134354" y="0"/>
                  </a:lnTo>
                  <a:lnTo>
                    <a:pt x="6134354" y="6350"/>
                  </a:lnTo>
                  <a:lnTo>
                    <a:pt x="6134354" y="0"/>
                  </a:lnTo>
                  <a:cubicBezTo>
                    <a:pt x="6216269" y="0"/>
                    <a:pt x="6282563" y="66294"/>
                    <a:pt x="6282563" y="148082"/>
                  </a:cubicBezTo>
                  <a:lnTo>
                    <a:pt x="6276213" y="148082"/>
                  </a:lnTo>
                  <a:lnTo>
                    <a:pt x="6282563" y="148082"/>
                  </a:lnTo>
                  <a:lnTo>
                    <a:pt x="6282563" y="4493387"/>
                  </a:lnTo>
                  <a:lnTo>
                    <a:pt x="6276213" y="4493387"/>
                  </a:lnTo>
                  <a:lnTo>
                    <a:pt x="6282563" y="4493387"/>
                  </a:lnTo>
                  <a:cubicBezTo>
                    <a:pt x="6282563" y="4575175"/>
                    <a:pt x="6216142" y="4641469"/>
                    <a:pt x="6134354" y="4641469"/>
                  </a:cubicBezTo>
                  <a:lnTo>
                    <a:pt x="6134354" y="4635119"/>
                  </a:lnTo>
                  <a:lnTo>
                    <a:pt x="6134354" y="4641469"/>
                  </a:lnTo>
                  <a:lnTo>
                    <a:pt x="148209" y="4641469"/>
                  </a:lnTo>
                  <a:lnTo>
                    <a:pt x="148209" y="4635119"/>
                  </a:lnTo>
                  <a:lnTo>
                    <a:pt x="148209" y="4641469"/>
                  </a:lnTo>
                  <a:cubicBezTo>
                    <a:pt x="66421" y="4641469"/>
                    <a:pt x="0" y="4575175"/>
                    <a:pt x="0" y="4493387"/>
                  </a:cubicBezTo>
                  <a:lnTo>
                    <a:pt x="0" y="148082"/>
                  </a:lnTo>
                  <a:lnTo>
                    <a:pt x="6350" y="148082"/>
                  </a:lnTo>
                  <a:lnTo>
                    <a:pt x="0" y="148082"/>
                  </a:lnTo>
                  <a:moveTo>
                    <a:pt x="12700" y="148082"/>
                  </a:moveTo>
                  <a:lnTo>
                    <a:pt x="12700" y="4493387"/>
                  </a:lnTo>
                  <a:lnTo>
                    <a:pt x="6350" y="4493387"/>
                  </a:lnTo>
                  <a:lnTo>
                    <a:pt x="12700" y="4493387"/>
                  </a:lnTo>
                  <a:cubicBezTo>
                    <a:pt x="12700" y="4568190"/>
                    <a:pt x="73406" y="4628769"/>
                    <a:pt x="148209" y="4628769"/>
                  </a:cubicBezTo>
                  <a:lnTo>
                    <a:pt x="6134354" y="4628769"/>
                  </a:lnTo>
                  <a:cubicBezTo>
                    <a:pt x="6209157" y="4628769"/>
                    <a:pt x="6269863" y="4568190"/>
                    <a:pt x="6269863" y="4493387"/>
                  </a:cubicBezTo>
                  <a:lnTo>
                    <a:pt x="6269863" y="148082"/>
                  </a:lnTo>
                  <a:cubicBezTo>
                    <a:pt x="6269863" y="73279"/>
                    <a:pt x="6209157" y="12700"/>
                    <a:pt x="6134354" y="12700"/>
                  </a:cubicBezTo>
                  <a:lnTo>
                    <a:pt x="148209" y="12700"/>
                  </a:lnTo>
                  <a:lnTo>
                    <a:pt x="148209" y="6350"/>
                  </a:lnTo>
                  <a:lnTo>
                    <a:pt x="148209" y="12700"/>
                  </a:lnTo>
                  <a:cubicBezTo>
                    <a:pt x="73406" y="12700"/>
                    <a:pt x="12700" y="73279"/>
                    <a:pt x="12700" y="148082"/>
                  </a:cubicBezTo>
                  <a:close/>
                </a:path>
              </a:pathLst>
            </a:custGeom>
            <a:solidFill>
              <a:srgbClr val="48367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148655" y="2130921"/>
            <a:ext cx="3322736" cy="45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Equipe Médica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8655" y="2650480"/>
            <a:ext cx="4177010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 Médicos Obstetras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8655" y="3143994"/>
            <a:ext cx="4177010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 Médicos Pediatras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8655" y="3637509"/>
            <a:ext cx="4177010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 Médico Anestesista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836741" y="1901577"/>
            <a:ext cx="4712048" cy="3481090"/>
            <a:chOff x="0" y="0"/>
            <a:chExt cx="6282730" cy="4641453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6269990" cy="4628769"/>
            </a:xfrm>
            <a:custGeom>
              <a:avLst/>
              <a:gdLst/>
              <a:ahLst/>
              <a:cxnLst/>
              <a:rect l="l" t="t" r="r" b="b"/>
              <a:pathLst>
                <a:path w="6269990" h="4628769">
                  <a:moveTo>
                    <a:pt x="0" y="141732"/>
                  </a:moveTo>
                  <a:cubicBezTo>
                    <a:pt x="0" y="63500"/>
                    <a:pt x="63500" y="0"/>
                    <a:pt x="141859" y="0"/>
                  </a:cubicBezTo>
                  <a:lnTo>
                    <a:pt x="6128131" y="0"/>
                  </a:lnTo>
                  <a:cubicBezTo>
                    <a:pt x="6206490" y="0"/>
                    <a:pt x="6269990" y="63500"/>
                    <a:pt x="6269990" y="141732"/>
                  </a:cubicBezTo>
                  <a:lnTo>
                    <a:pt x="6269990" y="4487037"/>
                  </a:lnTo>
                  <a:cubicBezTo>
                    <a:pt x="6269990" y="4565396"/>
                    <a:pt x="6206490" y="4628769"/>
                    <a:pt x="6128131" y="4628769"/>
                  </a:cubicBezTo>
                  <a:lnTo>
                    <a:pt x="141859" y="4628769"/>
                  </a:lnTo>
                  <a:cubicBezTo>
                    <a:pt x="63500" y="4628769"/>
                    <a:pt x="0" y="4565269"/>
                    <a:pt x="0" y="4487037"/>
                  </a:cubicBezTo>
                  <a:close/>
                </a:path>
              </a:pathLst>
            </a:custGeom>
            <a:solidFill>
              <a:srgbClr val="181B1A"/>
            </a:solidFill>
            <a:ln w="12700">
              <a:solidFill>
                <a:srgbClr val="00000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6282690" cy="4641469"/>
            </a:xfrm>
            <a:custGeom>
              <a:avLst/>
              <a:gdLst/>
              <a:ahLst/>
              <a:cxnLst/>
              <a:rect l="l" t="t" r="r" b="b"/>
              <a:pathLst>
                <a:path w="6282690" h="4641469">
                  <a:moveTo>
                    <a:pt x="0" y="148082"/>
                  </a:moveTo>
                  <a:cubicBezTo>
                    <a:pt x="0" y="66294"/>
                    <a:pt x="66421" y="0"/>
                    <a:pt x="148209" y="0"/>
                  </a:cubicBezTo>
                  <a:lnTo>
                    <a:pt x="6134481" y="0"/>
                  </a:lnTo>
                  <a:lnTo>
                    <a:pt x="6134481" y="6350"/>
                  </a:lnTo>
                  <a:lnTo>
                    <a:pt x="6134481" y="0"/>
                  </a:lnTo>
                  <a:cubicBezTo>
                    <a:pt x="6216396" y="0"/>
                    <a:pt x="6282690" y="66294"/>
                    <a:pt x="6282690" y="148082"/>
                  </a:cubicBezTo>
                  <a:lnTo>
                    <a:pt x="6276340" y="148082"/>
                  </a:lnTo>
                  <a:lnTo>
                    <a:pt x="6282690" y="148082"/>
                  </a:lnTo>
                  <a:lnTo>
                    <a:pt x="6282690" y="4493387"/>
                  </a:lnTo>
                  <a:lnTo>
                    <a:pt x="6276340" y="4493387"/>
                  </a:lnTo>
                  <a:lnTo>
                    <a:pt x="6282690" y="4493387"/>
                  </a:lnTo>
                  <a:cubicBezTo>
                    <a:pt x="6282690" y="4575175"/>
                    <a:pt x="6216269" y="4641469"/>
                    <a:pt x="6134481" y="4641469"/>
                  </a:cubicBezTo>
                  <a:lnTo>
                    <a:pt x="6134481" y="4635119"/>
                  </a:lnTo>
                  <a:lnTo>
                    <a:pt x="6134481" y="4641469"/>
                  </a:lnTo>
                  <a:lnTo>
                    <a:pt x="148209" y="4641469"/>
                  </a:lnTo>
                  <a:lnTo>
                    <a:pt x="148209" y="4635119"/>
                  </a:lnTo>
                  <a:lnTo>
                    <a:pt x="148209" y="4641469"/>
                  </a:lnTo>
                  <a:cubicBezTo>
                    <a:pt x="66421" y="4641469"/>
                    <a:pt x="0" y="4575175"/>
                    <a:pt x="0" y="4493387"/>
                  </a:cubicBezTo>
                  <a:lnTo>
                    <a:pt x="0" y="148082"/>
                  </a:lnTo>
                  <a:lnTo>
                    <a:pt x="6350" y="148082"/>
                  </a:lnTo>
                  <a:lnTo>
                    <a:pt x="0" y="148082"/>
                  </a:lnTo>
                  <a:moveTo>
                    <a:pt x="12700" y="148082"/>
                  </a:moveTo>
                  <a:lnTo>
                    <a:pt x="12700" y="4493387"/>
                  </a:lnTo>
                  <a:lnTo>
                    <a:pt x="6350" y="4493387"/>
                  </a:lnTo>
                  <a:lnTo>
                    <a:pt x="12700" y="4493387"/>
                  </a:lnTo>
                  <a:cubicBezTo>
                    <a:pt x="12700" y="4568190"/>
                    <a:pt x="73406" y="4628769"/>
                    <a:pt x="148209" y="4628769"/>
                  </a:cubicBezTo>
                  <a:lnTo>
                    <a:pt x="6134481" y="4628769"/>
                  </a:lnTo>
                  <a:cubicBezTo>
                    <a:pt x="6209284" y="4628769"/>
                    <a:pt x="6269990" y="4568190"/>
                    <a:pt x="6269990" y="4493387"/>
                  </a:cubicBezTo>
                  <a:lnTo>
                    <a:pt x="6269990" y="148082"/>
                  </a:lnTo>
                  <a:cubicBezTo>
                    <a:pt x="6269990" y="73279"/>
                    <a:pt x="6209411" y="12700"/>
                    <a:pt x="6134481" y="12700"/>
                  </a:cubicBezTo>
                  <a:lnTo>
                    <a:pt x="148209" y="12700"/>
                  </a:lnTo>
                  <a:lnTo>
                    <a:pt x="148209" y="6350"/>
                  </a:lnTo>
                  <a:lnTo>
                    <a:pt x="148209" y="12700"/>
                  </a:lnTo>
                  <a:cubicBezTo>
                    <a:pt x="73406" y="12700"/>
                    <a:pt x="12700" y="73279"/>
                    <a:pt x="12700" y="148082"/>
                  </a:cubicBezTo>
                  <a:close/>
                </a:path>
              </a:pathLst>
            </a:custGeom>
            <a:solidFill>
              <a:srgbClr val="48367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6104185" y="2130921"/>
            <a:ext cx="3542109" cy="45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Equipe de Enfermagem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04185" y="2650480"/>
            <a:ext cx="4177159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 Enfermeiro Triagem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04185" y="3143994"/>
            <a:ext cx="4177159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 Enfermeiro Obstetra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04185" y="3637509"/>
            <a:ext cx="4177159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 Enfermeiro Neonatal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04185" y="4131022"/>
            <a:ext cx="4177159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6 Técnicos Bloco Obstétrico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04185" y="4624536"/>
            <a:ext cx="4177159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8 Técnicos Neonatais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1211" y="5626299"/>
            <a:ext cx="9667578" cy="3974604"/>
            <a:chOff x="0" y="0"/>
            <a:chExt cx="12890103" cy="5299472"/>
          </a:xfrm>
        </p:grpSpPr>
        <p:sp>
          <p:nvSpPr>
            <p:cNvPr id="22" name="Freeform 22"/>
            <p:cNvSpPr/>
            <p:nvPr/>
          </p:nvSpPr>
          <p:spPr>
            <a:xfrm>
              <a:off x="6350" y="6350"/>
              <a:ext cx="12877419" cy="5286756"/>
            </a:xfrm>
            <a:custGeom>
              <a:avLst/>
              <a:gdLst/>
              <a:ahLst/>
              <a:cxnLst/>
              <a:rect l="l" t="t" r="r" b="b"/>
              <a:pathLst>
                <a:path w="12877419" h="5286756">
                  <a:moveTo>
                    <a:pt x="0" y="141732"/>
                  </a:moveTo>
                  <a:cubicBezTo>
                    <a:pt x="0" y="63500"/>
                    <a:pt x="63627" y="0"/>
                    <a:pt x="141986" y="0"/>
                  </a:cubicBezTo>
                  <a:lnTo>
                    <a:pt x="12735433" y="0"/>
                  </a:lnTo>
                  <a:cubicBezTo>
                    <a:pt x="12813792" y="0"/>
                    <a:pt x="12877419" y="63500"/>
                    <a:pt x="12877419" y="141732"/>
                  </a:cubicBezTo>
                  <a:lnTo>
                    <a:pt x="12877419" y="5145024"/>
                  </a:lnTo>
                  <a:cubicBezTo>
                    <a:pt x="12877419" y="5223383"/>
                    <a:pt x="12813792" y="5286756"/>
                    <a:pt x="12735433" y="5286756"/>
                  </a:cubicBezTo>
                  <a:lnTo>
                    <a:pt x="141986" y="5286756"/>
                  </a:lnTo>
                  <a:cubicBezTo>
                    <a:pt x="63627" y="5286756"/>
                    <a:pt x="0" y="5223256"/>
                    <a:pt x="0" y="5145024"/>
                  </a:cubicBezTo>
                  <a:close/>
                </a:path>
              </a:pathLst>
            </a:custGeom>
            <a:solidFill>
              <a:srgbClr val="181B1A"/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12890119" cy="5299456"/>
            </a:xfrm>
            <a:custGeom>
              <a:avLst/>
              <a:gdLst/>
              <a:ahLst/>
              <a:cxnLst/>
              <a:rect l="l" t="t" r="r" b="b"/>
              <a:pathLst>
                <a:path w="12890119" h="5299456">
                  <a:moveTo>
                    <a:pt x="0" y="148082"/>
                  </a:moveTo>
                  <a:cubicBezTo>
                    <a:pt x="0" y="66294"/>
                    <a:pt x="66421" y="0"/>
                    <a:pt x="148336" y="0"/>
                  </a:cubicBezTo>
                  <a:lnTo>
                    <a:pt x="12741783" y="0"/>
                  </a:lnTo>
                  <a:lnTo>
                    <a:pt x="12741783" y="6350"/>
                  </a:lnTo>
                  <a:lnTo>
                    <a:pt x="12741783" y="0"/>
                  </a:lnTo>
                  <a:cubicBezTo>
                    <a:pt x="12823698" y="0"/>
                    <a:pt x="12890119" y="66294"/>
                    <a:pt x="12890119" y="148082"/>
                  </a:cubicBezTo>
                  <a:lnTo>
                    <a:pt x="12883769" y="148082"/>
                  </a:lnTo>
                  <a:lnTo>
                    <a:pt x="12890119" y="148082"/>
                  </a:lnTo>
                  <a:lnTo>
                    <a:pt x="12890119" y="5151374"/>
                  </a:lnTo>
                  <a:lnTo>
                    <a:pt x="12883769" y="5151374"/>
                  </a:lnTo>
                  <a:lnTo>
                    <a:pt x="12890119" y="5151374"/>
                  </a:lnTo>
                  <a:cubicBezTo>
                    <a:pt x="12890119" y="5233162"/>
                    <a:pt x="12823698" y="5299456"/>
                    <a:pt x="12741783" y="5299456"/>
                  </a:cubicBezTo>
                  <a:lnTo>
                    <a:pt x="12741783" y="5293106"/>
                  </a:lnTo>
                  <a:lnTo>
                    <a:pt x="12741783" y="5299456"/>
                  </a:lnTo>
                  <a:lnTo>
                    <a:pt x="148336" y="5299456"/>
                  </a:lnTo>
                  <a:lnTo>
                    <a:pt x="148336" y="5293106"/>
                  </a:lnTo>
                  <a:lnTo>
                    <a:pt x="148336" y="5299456"/>
                  </a:lnTo>
                  <a:cubicBezTo>
                    <a:pt x="66421" y="5299456"/>
                    <a:pt x="0" y="5233162"/>
                    <a:pt x="0" y="5151374"/>
                  </a:cubicBezTo>
                  <a:lnTo>
                    <a:pt x="0" y="148082"/>
                  </a:lnTo>
                  <a:lnTo>
                    <a:pt x="6350" y="148082"/>
                  </a:lnTo>
                  <a:lnTo>
                    <a:pt x="0" y="148082"/>
                  </a:lnTo>
                  <a:moveTo>
                    <a:pt x="12700" y="148082"/>
                  </a:moveTo>
                  <a:lnTo>
                    <a:pt x="12700" y="5151374"/>
                  </a:lnTo>
                  <a:lnTo>
                    <a:pt x="6350" y="5151374"/>
                  </a:lnTo>
                  <a:lnTo>
                    <a:pt x="12700" y="5151374"/>
                  </a:lnTo>
                  <a:cubicBezTo>
                    <a:pt x="12700" y="5226177"/>
                    <a:pt x="73406" y="5286756"/>
                    <a:pt x="148336" y="5286756"/>
                  </a:cubicBezTo>
                  <a:lnTo>
                    <a:pt x="12741783" y="5286756"/>
                  </a:lnTo>
                  <a:cubicBezTo>
                    <a:pt x="12816713" y="5286756"/>
                    <a:pt x="12877419" y="5226050"/>
                    <a:pt x="12877419" y="5151374"/>
                  </a:cubicBezTo>
                  <a:lnTo>
                    <a:pt x="12877419" y="148082"/>
                  </a:lnTo>
                  <a:cubicBezTo>
                    <a:pt x="12877419" y="73279"/>
                    <a:pt x="12816713" y="12700"/>
                    <a:pt x="12741783" y="12700"/>
                  </a:cubicBezTo>
                  <a:lnTo>
                    <a:pt x="148336" y="12700"/>
                  </a:lnTo>
                  <a:lnTo>
                    <a:pt x="148336" y="6350"/>
                  </a:lnTo>
                  <a:lnTo>
                    <a:pt x="148336" y="12700"/>
                  </a:lnTo>
                  <a:cubicBezTo>
                    <a:pt x="73406" y="12700"/>
                    <a:pt x="12700" y="73406"/>
                    <a:pt x="12700" y="148082"/>
                  </a:cubicBezTo>
                  <a:close/>
                </a:path>
              </a:pathLst>
            </a:custGeom>
            <a:solidFill>
              <a:srgbClr val="48367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148655" y="5855642"/>
            <a:ext cx="3322736" cy="45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Infraestrutura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8655" y="6375201"/>
            <a:ext cx="9132689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 Consultórios Médicos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8655" y="6868716"/>
            <a:ext cx="9132689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 Salas Parto Normal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8655" y="7362230"/>
            <a:ext cx="9132689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 Sala Cesárea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8655" y="7855744"/>
            <a:ext cx="9132689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 Leitos de Indução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8655" y="8349257"/>
            <a:ext cx="9132689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16 Leitos UCP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8655" y="8842773"/>
            <a:ext cx="9132689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87"/>
              </a:lnSpc>
              <a:buFont typeface="Arial"/>
              <a:buChar char="•"/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25 Alojamentos</a:t>
            </a:r>
          </a:p>
        </p:txBody>
      </p: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11430000" y="0"/>
            <a:ext cx="6858000" cy="10292209"/>
            <a:chOff x="0" y="0"/>
            <a:chExt cx="9144000" cy="1372294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144000" cy="13722986"/>
            </a:xfrm>
            <a:custGeom>
              <a:avLst/>
              <a:gdLst/>
              <a:ahLst/>
              <a:cxnLst/>
              <a:rect l="l" t="t" r="r" b="b"/>
              <a:pathLst>
                <a:path w="9144000" h="13722986">
                  <a:moveTo>
                    <a:pt x="0" y="0"/>
                  </a:moveTo>
                  <a:lnTo>
                    <a:pt x="9144000" y="0"/>
                  </a:lnTo>
                  <a:lnTo>
                    <a:pt x="9144000" y="13722986"/>
                  </a:lnTo>
                  <a:lnTo>
                    <a:pt x="0" y="137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0" r="-7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A5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430000" y="0"/>
            <a:ext cx="6858000" cy="10288935"/>
            <a:chOff x="0" y="0"/>
            <a:chExt cx="9144000" cy="137185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44000" cy="13718539"/>
            </a:xfrm>
            <a:custGeom>
              <a:avLst/>
              <a:gdLst/>
              <a:ahLst/>
              <a:cxnLst/>
              <a:rect l="l" t="t" r="r" b="b"/>
              <a:pathLst>
                <a:path w="9144000" h="13718539">
                  <a:moveTo>
                    <a:pt x="0" y="0"/>
                  </a:moveTo>
                  <a:lnTo>
                    <a:pt x="9144000" y="0"/>
                  </a:lnTo>
                  <a:lnTo>
                    <a:pt x="9144000" y="13718539"/>
                  </a:lnTo>
                  <a:lnTo>
                    <a:pt x="0" y="1371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2418" r="-6241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10800000">
            <a:off x="933381" y="1702965"/>
            <a:ext cx="797261" cy="1110110"/>
          </a:xfrm>
          <a:custGeom>
            <a:avLst/>
            <a:gdLst/>
            <a:ahLst/>
            <a:cxnLst/>
            <a:rect l="l" t="t" r="r" b="b"/>
            <a:pathLst>
              <a:path w="797261" h="1110110">
                <a:moveTo>
                  <a:pt x="0" y="0"/>
                </a:moveTo>
                <a:lnTo>
                  <a:pt x="797261" y="0"/>
                </a:lnTo>
                <a:lnTo>
                  <a:pt x="797261" y="1110110"/>
                </a:lnTo>
                <a:lnTo>
                  <a:pt x="0" y="1110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-10800000">
            <a:off x="933381" y="3034977"/>
            <a:ext cx="797261" cy="1110110"/>
          </a:xfrm>
          <a:custGeom>
            <a:avLst/>
            <a:gdLst/>
            <a:ahLst/>
            <a:cxnLst/>
            <a:rect l="l" t="t" r="r" b="b"/>
            <a:pathLst>
              <a:path w="797261" h="1110110">
                <a:moveTo>
                  <a:pt x="0" y="0"/>
                </a:moveTo>
                <a:lnTo>
                  <a:pt x="797261" y="0"/>
                </a:lnTo>
                <a:lnTo>
                  <a:pt x="797261" y="1110110"/>
                </a:lnTo>
                <a:lnTo>
                  <a:pt x="0" y="1110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933381" y="4364162"/>
            <a:ext cx="797261" cy="1110110"/>
          </a:xfrm>
          <a:custGeom>
            <a:avLst/>
            <a:gdLst/>
            <a:ahLst/>
            <a:cxnLst/>
            <a:rect l="l" t="t" r="r" b="b"/>
            <a:pathLst>
              <a:path w="797261" h="1110110">
                <a:moveTo>
                  <a:pt x="0" y="0"/>
                </a:moveTo>
                <a:lnTo>
                  <a:pt x="797261" y="0"/>
                </a:lnTo>
                <a:lnTo>
                  <a:pt x="797261" y="1110110"/>
                </a:lnTo>
                <a:lnTo>
                  <a:pt x="0" y="1110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933381" y="5699000"/>
            <a:ext cx="797261" cy="1110110"/>
          </a:xfrm>
          <a:custGeom>
            <a:avLst/>
            <a:gdLst/>
            <a:ahLst/>
            <a:cxnLst/>
            <a:rect l="l" t="t" r="r" b="b"/>
            <a:pathLst>
              <a:path w="797261" h="1110110">
                <a:moveTo>
                  <a:pt x="0" y="0"/>
                </a:moveTo>
                <a:lnTo>
                  <a:pt x="797261" y="0"/>
                </a:lnTo>
                <a:lnTo>
                  <a:pt x="797261" y="1110110"/>
                </a:lnTo>
                <a:lnTo>
                  <a:pt x="0" y="1110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6511" y="1958747"/>
            <a:ext cx="611001" cy="598547"/>
          </a:xfrm>
          <a:custGeom>
            <a:avLst/>
            <a:gdLst/>
            <a:ahLst/>
            <a:cxnLst/>
            <a:rect l="l" t="t" r="r" b="b"/>
            <a:pathLst>
              <a:path w="611001" h="598547">
                <a:moveTo>
                  <a:pt x="0" y="0"/>
                </a:moveTo>
                <a:lnTo>
                  <a:pt x="611001" y="0"/>
                </a:lnTo>
                <a:lnTo>
                  <a:pt x="611001" y="598546"/>
                </a:lnTo>
                <a:lnTo>
                  <a:pt x="0" y="5985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19233" y="4621338"/>
            <a:ext cx="618279" cy="611534"/>
          </a:xfrm>
          <a:custGeom>
            <a:avLst/>
            <a:gdLst/>
            <a:ahLst/>
            <a:cxnLst/>
            <a:rect l="l" t="t" r="r" b="b"/>
            <a:pathLst>
              <a:path w="618279" h="611534">
                <a:moveTo>
                  <a:pt x="0" y="0"/>
                </a:moveTo>
                <a:lnTo>
                  <a:pt x="618279" y="0"/>
                </a:lnTo>
                <a:lnTo>
                  <a:pt x="618279" y="611533"/>
                </a:lnTo>
                <a:lnTo>
                  <a:pt x="0" y="6115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81171" y="3184830"/>
            <a:ext cx="301680" cy="893656"/>
          </a:xfrm>
          <a:custGeom>
            <a:avLst/>
            <a:gdLst/>
            <a:ahLst/>
            <a:cxnLst/>
            <a:rect l="l" t="t" r="r" b="b"/>
            <a:pathLst>
              <a:path w="301680" h="893656">
                <a:moveTo>
                  <a:pt x="0" y="0"/>
                </a:moveTo>
                <a:lnTo>
                  <a:pt x="301680" y="0"/>
                </a:lnTo>
                <a:lnTo>
                  <a:pt x="301680" y="893656"/>
                </a:lnTo>
                <a:lnTo>
                  <a:pt x="0" y="8936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77031" y="591442"/>
            <a:ext cx="5909965" cy="74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62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Fluxo de Atendimento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08895" y="1874788"/>
            <a:ext cx="2913906" cy="38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Recepção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08895" y="2324546"/>
            <a:ext cx="8544074" cy="42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Registro de entrada (5 min)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08895" y="3206800"/>
            <a:ext cx="2913906" cy="38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Triagem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08895" y="3656559"/>
            <a:ext cx="8544074" cy="42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Classificação de risco (3 min)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08895" y="4538811"/>
            <a:ext cx="2913906" cy="38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Consulta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08895" y="4988570"/>
            <a:ext cx="8544074" cy="42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Avaliação clínica (15 min)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08895" y="5870822"/>
            <a:ext cx="2913906" cy="38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Encaminhamento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08895" y="6320581"/>
            <a:ext cx="8544074" cy="42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Alta, exames, parto ou internação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7031" y="7228210"/>
            <a:ext cx="2913906" cy="38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Fluxo da Gestante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7031" y="7678117"/>
            <a:ext cx="4245770" cy="134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70%</a:t>
            </a:r>
            <a:r>
              <a:rPr lang="en-US" sz="16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recebem alta após consulta, </a:t>
            </a:r>
            <a:r>
              <a:rPr lang="en-US" sz="168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15%</a:t>
            </a:r>
            <a:r>
              <a:rPr lang="en-US" sz="16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seguem para o parto, </a:t>
            </a:r>
            <a:r>
              <a:rPr lang="en-US" sz="168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8%</a:t>
            </a:r>
            <a:r>
              <a:rPr lang="en-US" sz="16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para exames/observação, </a:t>
            </a:r>
            <a:r>
              <a:rPr lang="en-US" sz="168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5%</a:t>
            </a:r>
            <a:r>
              <a:rPr lang="en-US" sz="16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internação externa e </a:t>
            </a:r>
            <a:r>
              <a:rPr lang="en-US" sz="168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2%</a:t>
            </a:r>
            <a:r>
              <a:rPr lang="en-US" sz="16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procedimentos especiais.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95244" y="7228210"/>
            <a:ext cx="3295055" cy="383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Fluxo do Recém-Nascido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95244" y="7678117"/>
            <a:ext cx="4667250" cy="100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90%</a:t>
            </a:r>
            <a:r>
              <a:rPr lang="en-US" sz="16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seguem para alojamento conjunto com a mãe, </a:t>
            </a:r>
            <a:r>
              <a:rPr lang="en-US" sz="168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10%</a:t>
            </a:r>
            <a:r>
              <a:rPr lang="en-US" sz="16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necessitam cuidados intensivos na UCP (média 7 dias).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7031" y="9329117"/>
            <a:ext cx="4245770" cy="31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Após o parto seguem para o alojamento.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A5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7850237" y="1045815"/>
            <a:ext cx="7442746" cy="9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Objetivos do Estudo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850237" y="2874169"/>
            <a:ext cx="4580930" cy="3491507"/>
            <a:chOff x="0" y="0"/>
            <a:chExt cx="6107907" cy="46553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07938" cy="4655312"/>
            </a:xfrm>
            <a:custGeom>
              <a:avLst/>
              <a:gdLst/>
              <a:ahLst/>
              <a:cxnLst/>
              <a:rect l="l" t="t" r="r" b="b"/>
              <a:pathLst>
                <a:path w="6107938" h="46553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864098" y="0"/>
                  </a:lnTo>
                  <a:cubicBezTo>
                    <a:pt x="5998718" y="0"/>
                    <a:pt x="6107938" y="109220"/>
                    <a:pt x="6107938" y="243840"/>
                  </a:cubicBezTo>
                  <a:lnTo>
                    <a:pt x="6107938" y="4411472"/>
                  </a:lnTo>
                  <a:cubicBezTo>
                    <a:pt x="6107938" y="4546092"/>
                    <a:pt x="5998718" y="4655312"/>
                    <a:pt x="5864098" y="4655312"/>
                  </a:cubicBezTo>
                  <a:lnTo>
                    <a:pt x="243840" y="4655312"/>
                  </a:lnTo>
                  <a:cubicBezTo>
                    <a:pt x="109220" y="4655312"/>
                    <a:pt x="0" y="4546092"/>
                    <a:pt x="0" y="4411472"/>
                  </a:cubicBezTo>
                  <a:close/>
                </a:path>
              </a:pathLst>
            </a:custGeom>
            <a:solidFill>
              <a:srgbClr val="181B1A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7850237" y="2836069"/>
            <a:ext cx="4580930" cy="152400"/>
            <a:chOff x="0" y="0"/>
            <a:chExt cx="6107907" cy="203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07938" cy="203200"/>
            </a:xfrm>
            <a:custGeom>
              <a:avLst/>
              <a:gdLst/>
              <a:ahLst/>
              <a:cxnLst/>
              <a:rect l="l" t="t" r="r" b="b"/>
              <a:pathLst>
                <a:path w="6107938" h="203200">
                  <a:moveTo>
                    <a:pt x="0" y="0"/>
                  </a:moveTo>
                  <a:lnTo>
                    <a:pt x="6107938" y="0"/>
                  </a:lnTo>
                  <a:lnTo>
                    <a:pt x="6107938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93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715425" y="2448966"/>
            <a:ext cx="850552" cy="850552"/>
            <a:chOff x="0" y="0"/>
            <a:chExt cx="1134070" cy="113407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3" b="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970517" y="2547342"/>
            <a:ext cx="340221" cy="539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1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71855" y="3554314"/>
            <a:ext cx="3937695" cy="958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Cenário A - Configuração Atual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71855" y="4597450"/>
            <a:ext cx="3937695" cy="144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Verificar se a capacidade atual atende a demanda com tempos de espera aceitáveis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714685" y="2874169"/>
            <a:ext cx="4581079" cy="3491507"/>
            <a:chOff x="0" y="0"/>
            <a:chExt cx="6108105" cy="46553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108065" cy="4655312"/>
            </a:xfrm>
            <a:custGeom>
              <a:avLst/>
              <a:gdLst/>
              <a:ahLst/>
              <a:cxnLst/>
              <a:rect l="l" t="t" r="r" b="b"/>
              <a:pathLst>
                <a:path w="6108065" h="46553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864225" y="0"/>
                  </a:lnTo>
                  <a:cubicBezTo>
                    <a:pt x="5998845" y="0"/>
                    <a:pt x="6108065" y="109220"/>
                    <a:pt x="6108065" y="243840"/>
                  </a:cubicBezTo>
                  <a:lnTo>
                    <a:pt x="6108065" y="4411472"/>
                  </a:lnTo>
                  <a:cubicBezTo>
                    <a:pt x="6108065" y="4546092"/>
                    <a:pt x="5998845" y="4655312"/>
                    <a:pt x="5864225" y="4655312"/>
                  </a:cubicBezTo>
                  <a:lnTo>
                    <a:pt x="243840" y="4655312"/>
                  </a:lnTo>
                  <a:cubicBezTo>
                    <a:pt x="109220" y="4655312"/>
                    <a:pt x="0" y="4546092"/>
                    <a:pt x="0" y="4411472"/>
                  </a:cubicBezTo>
                  <a:close/>
                </a:path>
              </a:pathLst>
            </a:custGeom>
            <a:solidFill>
              <a:srgbClr val="181B1A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2714685" y="2836069"/>
            <a:ext cx="4581079" cy="152400"/>
            <a:chOff x="0" y="0"/>
            <a:chExt cx="6108105" cy="203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108065" cy="203200"/>
            </a:xfrm>
            <a:custGeom>
              <a:avLst/>
              <a:gdLst/>
              <a:ahLst/>
              <a:cxnLst/>
              <a:rect l="l" t="t" r="r" b="b"/>
              <a:pathLst>
                <a:path w="6108065" h="203200">
                  <a:moveTo>
                    <a:pt x="0" y="0"/>
                  </a:moveTo>
                  <a:lnTo>
                    <a:pt x="6108065" y="0"/>
                  </a:lnTo>
                  <a:lnTo>
                    <a:pt x="610806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93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4579872" y="2448966"/>
            <a:ext cx="850553" cy="850552"/>
            <a:chOff x="0" y="0"/>
            <a:chExt cx="1134070" cy="113407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3" b="3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4834964" y="2547342"/>
            <a:ext cx="340221" cy="539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1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36302" y="3554314"/>
            <a:ext cx="3904060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Cenário B - Otimização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36302" y="4132361"/>
            <a:ext cx="3937844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Avaliar configurações alternativas de alocação de recursos para melhor desempenho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850237" y="7074396"/>
            <a:ext cx="9445526" cy="2119164"/>
            <a:chOff x="0" y="0"/>
            <a:chExt cx="12594035" cy="28255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594082" cy="2825496"/>
            </a:xfrm>
            <a:custGeom>
              <a:avLst/>
              <a:gdLst/>
              <a:ahLst/>
              <a:cxnLst/>
              <a:rect l="l" t="t" r="r" b="b"/>
              <a:pathLst>
                <a:path w="12594082" h="282549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2350242" y="0"/>
                  </a:lnTo>
                  <a:cubicBezTo>
                    <a:pt x="12484862" y="0"/>
                    <a:pt x="12594082" y="109220"/>
                    <a:pt x="12594082" y="243840"/>
                  </a:cubicBezTo>
                  <a:lnTo>
                    <a:pt x="12594082" y="2581656"/>
                  </a:lnTo>
                  <a:cubicBezTo>
                    <a:pt x="12594082" y="2716276"/>
                    <a:pt x="12484862" y="2825496"/>
                    <a:pt x="12350242" y="2825496"/>
                  </a:cubicBezTo>
                  <a:lnTo>
                    <a:pt x="243840" y="2825496"/>
                  </a:lnTo>
                  <a:cubicBezTo>
                    <a:pt x="109220" y="2825496"/>
                    <a:pt x="0" y="2716276"/>
                    <a:pt x="0" y="2581656"/>
                  </a:cubicBezTo>
                  <a:close/>
                </a:path>
              </a:pathLst>
            </a:custGeom>
            <a:solidFill>
              <a:srgbClr val="181B1A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7850237" y="7036296"/>
            <a:ext cx="9445526" cy="152400"/>
            <a:chOff x="0" y="0"/>
            <a:chExt cx="12594035" cy="203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594082" cy="203200"/>
            </a:xfrm>
            <a:custGeom>
              <a:avLst/>
              <a:gdLst/>
              <a:ahLst/>
              <a:cxnLst/>
              <a:rect l="l" t="t" r="r" b="b"/>
              <a:pathLst>
                <a:path w="12594082" h="203200">
                  <a:moveTo>
                    <a:pt x="0" y="0"/>
                  </a:moveTo>
                  <a:lnTo>
                    <a:pt x="12594082" y="0"/>
                  </a:lnTo>
                  <a:lnTo>
                    <a:pt x="12594082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93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2147724" y="6649194"/>
            <a:ext cx="850553" cy="850552"/>
            <a:chOff x="0" y="0"/>
            <a:chExt cx="1134070" cy="1134070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3" b="3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2402815" y="6747570"/>
            <a:ext cx="340221" cy="539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1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171855" y="7754541"/>
            <a:ext cx="5026521" cy="49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Cenário C - Demanda Elevada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71855" y="8332589"/>
            <a:ext cx="8802290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Testar o sistema em situação de aumento súbito da demanda</a:t>
            </a:r>
          </a:p>
        </p:txBody>
      </p:sp>
      <p:grpSp>
        <p:nvGrpSpPr>
          <p:cNvPr id="32" name="Group 32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479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A5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028700" y="1425475"/>
            <a:ext cx="9145786" cy="87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Produção Assistencial Mensal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6794" y="2885438"/>
            <a:ext cx="2317006" cy="8710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62"/>
              </a:lnSpc>
            </a:pPr>
            <a:r>
              <a:rPr lang="en-US" sz="6562" b="1" dirty="0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1.225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8504" y="3877974"/>
            <a:ext cx="3006030" cy="4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562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Total de Chegadas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8504" y="4399021"/>
            <a:ext cx="3006030" cy="77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Gestantes atendidas por mês (IC 95%: 1210-1238)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30713" y="2907804"/>
            <a:ext cx="1903487" cy="876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62"/>
              </a:lnSpc>
            </a:pPr>
            <a:r>
              <a:rPr lang="en-US" sz="6562" b="1" dirty="0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1.116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02336" y="3877974"/>
            <a:ext cx="300617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562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Saídas/Mês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02336" y="4462423"/>
            <a:ext cx="3006179" cy="77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Pacientes com alta ou transferência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22046" y="2875468"/>
            <a:ext cx="1432719" cy="88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2"/>
              </a:lnSpc>
            </a:pPr>
            <a:r>
              <a:rPr lang="en-US" sz="6562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190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84578" y="3848998"/>
            <a:ext cx="1797621" cy="402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562" b="1" dirty="0" err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Partos</a:t>
            </a:r>
            <a:r>
              <a:rPr lang="en-US" sz="2562" b="1" dirty="0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/</a:t>
            </a:r>
            <a:r>
              <a:rPr lang="en-US" sz="2562" b="1" dirty="0" err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Mês</a:t>
            </a:r>
            <a:endParaRPr lang="en-US" sz="2562" b="1" dirty="0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535316" y="4399021"/>
            <a:ext cx="3006179" cy="77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145 normais + 45 cesáreas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14094" y="6252419"/>
            <a:ext cx="982663" cy="88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2"/>
              </a:lnSpc>
            </a:pPr>
            <a:r>
              <a:rPr lang="en-US" sz="6562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29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77111" y="7257306"/>
            <a:ext cx="3006179" cy="87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562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Procedimentos Especiais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77111" y="8204449"/>
            <a:ext cx="3006179" cy="77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Média mensal de procedimentos realizados</a:t>
            </a: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516136" y="386358"/>
            <a:ext cx="5364064" cy="50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Cenário A: Configuração Atual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A5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912018" y="754720"/>
            <a:ext cx="9298781" cy="84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74" b="1" dirty="0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Tempos de </a:t>
            </a:r>
            <a:r>
              <a:rPr lang="en-US" sz="5374" b="1" dirty="0" err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Espera</a:t>
            </a:r>
            <a:r>
              <a:rPr lang="en-US" sz="5374" b="1" dirty="0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 e Sistema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1920751"/>
            <a:ext cx="6204049" cy="7191499"/>
            <a:chOff x="0" y="0"/>
            <a:chExt cx="8272065" cy="95886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72018" cy="9588697"/>
            </a:xfrm>
            <a:custGeom>
              <a:avLst/>
              <a:gdLst/>
              <a:ahLst/>
              <a:cxnLst/>
              <a:rect l="l" t="t" r="r" b="b"/>
              <a:pathLst>
                <a:path w="8272018" h="9588697">
                  <a:moveTo>
                    <a:pt x="0" y="178077"/>
                  </a:moveTo>
                  <a:cubicBezTo>
                    <a:pt x="0" y="79662"/>
                    <a:pt x="65278" y="0"/>
                    <a:pt x="145923" y="0"/>
                  </a:cubicBezTo>
                  <a:lnTo>
                    <a:pt x="8126095" y="0"/>
                  </a:lnTo>
                  <a:cubicBezTo>
                    <a:pt x="8206739" y="0"/>
                    <a:pt x="8272018" y="79662"/>
                    <a:pt x="8272018" y="178077"/>
                  </a:cubicBezTo>
                  <a:lnTo>
                    <a:pt x="8272018" y="9410627"/>
                  </a:lnTo>
                  <a:cubicBezTo>
                    <a:pt x="8272018" y="9509041"/>
                    <a:pt x="8206739" y="9588697"/>
                    <a:pt x="8126095" y="9588697"/>
                  </a:cubicBezTo>
                  <a:lnTo>
                    <a:pt x="145923" y="9588697"/>
                  </a:lnTo>
                  <a:cubicBezTo>
                    <a:pt x="65278" y="9588697"/>
                    <a:pt x="0" y="9508886"/>
                    <a:pt x="0" y="9410627"/>
                  </a:cubicBezTo>
                  <a:close/>
                </a:path>
              </a:pathLst>
            </a:custGeom>
            <a:solidFill>
              <a:srgbClr val="181B1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289298" y="2251894"/>
            <a:ext cx="427435" cy="342007"/>
            <a:chOff x="0" y="0"/>
            <a:chExt cx="569913" cy="45601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569976" cy="456057"/>
            </a:xfrm>
            <a:custGeom>
              <a:avLst/>
              <a:gdLst/>
              <a:ahLst/>
              <a:cxnLst/>
              <a:rect l="l" t="t" r="r" b="b"/>
              <a:pathLst>
                <a:path w="569976" h="456057">
                  <a:moveTo>
                    <a:pt x="0" y="0"/>
                  </a:moveTo>
                  <a:lnTo>
                    <a:pt x="569976" y="0"/>
                  </a:lnTo>
                  <a:lnTo>
                    <a:pt x="569976" y="456057"/>
                  </a:lnTo>
                  <a:lnTo>
                    <a:pt x="0" y="456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2" b="10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977330" y="2313360"/>
            <a:ext cx="4118670" cy="416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 b="1" dirty="0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Tempo Total no Sistema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77330" y="2896319"/>
            <a:ext cx="4994821" cy="190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b="1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460 min</a:t>
            </a:r>
          </a:p>
          <a:p>
            <a:pPr algn="l">
              <a:lnSpc>
                <a:spcPts val="7500"/>
              </a:lnSpc>
            </a:pPr>
            <a:r>
              <a:rPr lang="en-US" sz="6000" b="1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(8 horas)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6733" y="5057775"/>
            <a:ext cx="4957006" cy="325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Há alta variabilidade:</a:t>
            </a:r>
          </a:p>
          <a:p>
            <a:pPr marL="431801" lvl="1" indent="-215900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Gestantes que saem após a consulta clínica permanecem muito menos tempo. (1, 2 horas)</a:t>
            </a:r>
          </a:p>
          <a:p>
            <a:pPr marL="431800" lvl="1" indent="-215900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Gestantes que entram na Maternidade para parto permanecem muito mais tempo. (1, 2 dias)</a:t>
            </a:r>
          </a:p>
          <a:p>
            <a:pPr algn="l">
              <a:lnSpc>
                <a:spcPts val="3250"/>
              </a:lnSpc>
            </a:pPr>
            <a:endParaRPr lang="en-US" sz="2000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8010374" y="1920751"/>
            <a:ext cx="9611022" cy="1935510"/>
            <a:chOff x="0" y="0"/>
            <a:chExt cx="12814697" cy="25806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14681" cy="2580640"/>
            </a:xfrm>
            <a:custGeom>
              <a:avLst/>
              <a:gdLst/>
              <a:ahLst/>
              <a:cxnLst/>
              <a:rect l="l" t="t" r="r" b="b"/>
              <a:pathLst>
                <a:path w="12814681" h="2580640">
                  <a:moveTo>
                    <a:pt x="0" y="145542"/>
                  </a:moveTo>
                  <a:cubicBezTo>
                    <a:pt x="0" y="65151"/>
                    <a:pt x="65151" y="0"/>
                    <a:pt x="145542" y="0"/>
                  </a:cubicBezTo>
                  <a:lnTo>
                    <a:pt x="12669139" y="0"/>
                  </a:lnTo>
                  <a:cubicBezTo>
                    <a:pt x="12749530" y="0"/>
                    <a:pt x="12814681" y="65151"/>
                    <a:pt x="12814681" y="145542"/>
                  </a:cubicBezTo>
                  <a:lnTo>
                    <a:pt x="12814681" y="2435098"/>
                  </a:lnTo>
                  <a:cubicBezTo>
                    <a:pt x="12814681" y="2515489"/>
                    <a:pt x="12749530" y="2580640"/>
                    <a:pt x="12669139" y="2580640"/>
                  </a:cubicBezTo>
                  <a:lnTo>
                    <a:pt x="145542" y="2580640"/>
                  </a:lnTo>
                  <a:cubicBezTo>
                    <a:pt x="65151" y="2580640"/>
                    <a:pt x="0" y="2515489"/>
                    <a:pt x="0" y="2435098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8270228" y="2313360"/>
            <a:ext cx="324742" cy="259854"/>
            <a:chOff x="0" y="0"/>
            <a:chExt cx="432990" cy="346472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432943" cy="346456"/>
            </a:xfrm>
            <a:custGeom>
              <a:avLst/>
              <a:gdLst/>
              <a:ahLst/>
              <a:cxnLst/>
              <a:rect l="l" t="t" r="r" b="b"/>
              <a:pathLst>
                <a:path w="432943" h="346456">
                  <a:moveTo>
                    <a:pt x="0" y="0"/>
                  </a:moveTo>
                  <a:lnTo>
                    <a:pt x="432943" y="0"/>
                  </a:lnTo>
                  <a:lnTo>
                    <a:pt x="432943" y="346456"/>
                  </a:lnTo>
                  <a:lnTo>
                    <a:pt x="0" y="346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1" r="-392" b="-4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8854825" y="2159769"/>
            <a:ext cx="8506717" cy="1332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Problema Crítico:</a:t>
            </a: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Tempos de espera excessivos na ala obstétrica representam riscos à saúde da mãe e do feto, podendo resultar em transferências para outras unidades.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996087" y="4134271"/>
            <a:ext cx="9639597" cy="2590503"/>
            <a:chOff x="0" y="0"/>
            <a:chExt cx="12852797" cy="3454003"/>
          </a:xfrm>
        </p:grpSpPr>
        <p:sp>
          <p:nvSpPr>
            <p:cNvPr id="18" name="Freeform 18"/>
            <p:cNvSpPr/>
            <p:nvPr/>
          </p:nvSpPr>
          <p:spPr>
            <a:xfrm>
              <a:off x="19050" y="19050"/>
              <a:ext cx="12814808" cy="3415919"/>
            </a:xfrm>
            <a:custGeom>
              <a:avLst/>
              <a:gdLst/>
              <a:ahLst/>
              <a:cxnLst/>
              <a:rect l="l" t="t" r="r" b="b"/>
              <a:pathLst>
                <a:path w="12814808" h="341591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12630404" y="0"/>
                  </a:lnTo>
                  <a:cubicBezTo>
                    <a:pt x="12732258" y="0"/>
                    <a:pt x="12814808" y="81915"/>
                    <a:pt x="12814808" y="182880"/>
                  </a:cubicBezTo>
                  <a:lnTo>
                    <a:pt x="12814808" y="3233039"/>
                  </a:lnTo>
                  <a:cubicBezTo>
                    <a:pt x="12814808" y="3334004"/>
                    <a:pt x="12732258" y="3415919"/>
                    <a:pt x="12630404" y="3415919"/>
                  </a:cubicBezTo>
                  <a:lnTo>
                    <a:pt x="184404" y="3415919"/>
                  </a:lnTo>
                  <a:cubicBezTo>
                    <a:pt x="82550" y="3415919"/>
                    <a:pt x="0" y="3334004"/>
                    <a:pt x="0" y="3233039"/>
                  </a:cubicBezTo>
                  <a:close/>
                </a:path>
              </a:pathLst>
            </a:custGeom>
            <a:solidFill>
              <a:srgbClr val="181B1A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2852908" cy="3454019"/>
            </a:xfrm>
            <a:custGeom>
              <a:avLst/>
              <a:gdLst/>
              <a:ahLst/>
              <a:cxnLst/>
              <a:rect l="l" t="t" r="r" b="b"/>
              <a:pathLst>
                <a:path w="12852908" h="3454019">
                  <a:moveTo>
                    <a:pt x="0" y="201930"/>
                  </a:moveTo>
                  <a:cubicBezTo>
                    <a:pt x="0" y="90297"/>
                    <a:pt x="91186" y="0"/>
                    <a:pt x="203454" y="0"/>
                  </a:cubicBezTo>
                  <a:lnTo>
                    <a:pt x="12649454" y="0"/>
                  </a:lnTo>
                  <a:lnTo>
                    <a:pt x="12649454" y="19050"/>
                  </a:lnTo>
                  <a:lnTo>
                    <a:pt x="12649454" y="0"/>
                  </a:lnTo>
                  <a:cubicBezTo>
                    <a:pt x="12761722" y="0"/>
                    <a:pt x="12852908" y="90297"/>
                    <a:pt x="12852908" y="201930"/>
                  </a:cubicBezTo>
                  <a:lnTo>
                    <a:pt x="12833858" y="201930"/>
                  </a:lnTo>
                  <a:lnTo>
                    <a:pt x="12852908" y="201930"/>
                  </a:lnTo>
                  <a:lnTo>
                    <a:pt x="12852908" y="3252089"/>
                  </a:lnTo>
                  <a:lnTo>
                    <a:pt x="12833858" y="3252089"/>
                  </a:lnTo>
                  <a:lnTo>
                    <a:pt x="12852908" y="3252089"/>
                  </a:lnTo>
                  <a:cubicBezTo>
                    <a:pt x="12852908" y="3363722"/>
                    <a:pt x="12761722" y="3454019"/>
                    <a:pt x="12649454" y="3454019"/>
                  </a:cubicBezTo>
                  <a:lnTo>
                    <a:pt x="12649454" y="3434969"/>
                  </a:lnTo>
                  <a:lnTo>
                    <a:pt x="12649454" y="3454019"/>
                  </a:lnTo>
                  <a:lnTo>
                    <a:pt x="203454" y="3454019"/>
                  </a:lnTo>
                  <a:lnTo>
                    <a:pt x="203454" y="3434969"/>
                  </a:lnTo>
                  <a:lnTo>
                    <a:pt x="203454" y="3454019"/>
                  </a:lnTo>
                  <a:cubicBezTo>
                    <a:pt x="91186" y="3454019"/>
                    <a:pt x="0" y="3363722"/>
                    <a:pt x="0" y="325208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252089"/>
                  </a:lnTo>
                  <a:lnTo>
                    <a:pt x="19050" y="3252089"/>
                  </a:lnTo>
                  <a:lnTo>
                    <a:pt x="38100" y="3252089"/>
                  </a:lnTo>
                  <a:cubicBezTo>
                    <a:pt x="38100" y="3342386"/>
                    <a:pt x="112014" y="3415919"/>
                    <a:pt x="203454" y="3415919"/>
                  </a:cubicBezTo>
                  <a:lnTo>
                    <a:pt x="12649454" y="3415919"/>
                  </a:lnTo>
                  <a:cubicBezTo>
                    <a:pt x="12740894" y="3415919"/>
                    <a:pt x="12814808" y="3342386"/>
                    <a:pt x="12814808" y="3252089"/>
                  </a:cubicBezTo>
                  <a:lnTo>
                    <a:pt x="12814808" y="201930"/>
                  </a:lnTo>
                  <a:cubicBezTo>
                    <a:pt x="12814808" y="111633"/>
                    <a:pt x="12740894" y="38100"/>
                    <a:pt x="12649454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48367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8384528" y="4408412"/>
            <a:ext cx="3410991" cy="45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Indução de Parto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84528" y="4933479"/>
            <a:ext cx="8948440" cy="501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Tempo médio de espera: </a:t>
            </a:r>
            <a:r>
              <a:rPr lang="en-US" sz="2000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84,81 minutos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84528" y="5504979"/>
            <a:ext cx="8948440" cy="79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Apesar da taxa de ocupação média dos leitos ser apenas 34,56%, solicitações simultâneas geram esperas inaceitáveis.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996087" y="6956052"/>
            <a:ext cx="9639597" cy="2590503"/>
            <a:chOff x="0" y="0"/>
            <a:chExt cx="12852797" cy="3454003"/>
          </a:xfrm>
        </p:grpSpPr>
        <p:sp>
          <p:nvSpPr>
            <p:cNvPr id="24" name="Freeform 24"/>
            <p:cNvSpPr/>
            <p:nvPr/>
          </p:nvSpPr>
          <p:spPr>
            <a:xfrm>
              <a:off x="19050" y="19050"/>
              <a:ext cx="12814808" cy="3415919"/>
            </a:xfrm>
            <a:custGeom>
              <a:avLst/>
              <a:gdLst/>
              <a:ahLst/>
              <a:cxnLst/>
              <a:rect l="l" t="t" r="r" b="b"/>
              <a:pathLst>
                <a:path w="12814808" h="3415919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12630404" y="0"/>
                  </a:lnTo>
                  <a:cubicBezTo>
                    <a:pt x="12732258" y="0"/>
                    <a:pt x="12814808" y="81915"/>
                    <a:pt x="12814808" y="182880"/>
                  </a:cubicBezTo>
                  <a:lnTo>
                    <a:pt x="12814808" y="3233039"/>
                  </a:lnTo>
                  <a:cubicBezTo>
                    <a:pt x="12814808" y="3334004"/>
                    <a:pt x="12732258" y="3415919"/>
                    <a:pt x="12630404" y="3415919"/>
                  </a:cubicBezTo>
                  <a:lnTo>
                    <a:pt x="184404" y="3415919"/>
                  </a:lnTo>
                  <a:cubicBezTo>
                    <a:pt x="82550" y="3415919"/>
                    <a:pt x="0" y="3334004"/>
                    <a:pt x="0" y="3233039"/>
                  </a:cubicBezTo>
                  <a:close/>
                </a:path>
              </a:pathLst>
            </a:custGeom>
            <a:solidFill>
              <a:srgbClr val="181B1A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2852908" cy="3454019"/>
            </a:xfrm>
            <a:custGeom>
              <a:avLst/>
              <a:gdLst/>
              <a:ahLst/>
              <a:cxnLst/>
              <a:rect l="l" t="t" r="r" b="b"/>
              <a:pathLst>
                <a:path w="12852908" h="3454019">
                  <a:moveTo>
                    <a:pt x="0" y="201930"/>
                  </a:moveTo>
                  <a:cubicBezTo>
                    <a:pt x="0" y="90297"/>
                    <a:pt x="91186" y="0"/>
                    <a:pt x="203454" y="0"/>
                  </a:cubicBezTo>
                  <a:lnTo>
                    <a:pt x="12649454" y="0"/>
                  </a:lnTo>
                  <a:lnTo>
                    <a:pt x="12649454" y="19050"/>
                  </a:lnTo>
                  <a:lnTo>
                    <a:pt x="12649454" y="0"/>
                  </a:lnTo>
                  <a:cubicBezTo>
                    <a:pt x="12761722" y="0"/>
                    <a:pt x="12852908" y="90297"/>
                    <a:pt x="12852908" y="201930"/>
                  </a:cubicBezTo>
                  <a:lnTo>
                    <a:pt x="12833858" y="201930"/>
                  </a:lnTo>
                  <a:lnTo>
                    <a:pt x="12852908" y="201930"/>
                  </a:lnTo>
                  <a:lnTo>
                    <a:pt x="12852908" y="3252089"/>
                  </a:lnTo>
                  <a:lnTo>
                    <a:pt x="12833858" y="3252089"/>
                  </a:lnTo>
                  <a:lnTo>
                    <a:pt x="12852908" y="3252089"/>
                  </a:lnTo>
                  <a:cubicBezTo>
                    <a:pt x="12852908" y="3363722"/>
                    <a:pt x="12761722" y="3454019"/>
                    <a:pt x="12649454" y="3454019"/>
                  </a:cubicBezTo>
                  <a:lnTo>
                    <a:pt x="12649454" y="3434969"/>
                  </a:lnTo>
                  <a:lnTo>
                    <a:pt x="12649454" y="3454019"/>
                  </a:lnTo>
                  <a:lnTo>
                    <a:pt x="203454" y="3454019"/>
                  </a:lnTo>
                  <a:lnTo>
                    <a:pt x="203454" y="3434969"/>
                  </a:lnTo>
                  <a:lnTo>
                    <a:pt x="203454" y="3454019"/>
                  </a:lnTo>
                  <a:cubicBezTo>
                    <a:pt x="91186" y="3454019"/>
                    <a:pt x="0" y="3363722"/>
                    <a:pt x="0" y="325208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252089"/>
                  </a:lnTo>
                  <a:lnTo>
                    <a:pt x="19050" y="3252089"/>
                  </a:lnTo>
                  <a:lnTo>
                    <a:pt x="38100" y="3252089"/>
                  </a:lnTo>
                  <a:cubicBezTo>
                    <a:pt x="38100" y="3342386"/>
                    <a:pt x="112014" y="3415919"/>
                    <a:pt x="203454" y="3415919"/>
                  </a:cubicBezTo>
                  <a:lnTo>
                    <a:pt x="12649454" y="3415919"/>
                  </a:lnTo>
                  <a:cubicBezTo>
                    <a:pt x="12740894" y="3415919"/>
                    <a:pt x="12814808" y="3342386"/>
                    <a:pt x="12814808" y="3252089"/>
                  </a:cubicBezTo>
                  <a:lnTo>
                    <a:pt x="12814808" y="201930"/>
                  </a:lnTo>
                  <a:cubicBezTo>
                    <a:pt x="12814808" y="111633"/>
                    <a:pt x="12740894" y="38100"/>
                    <a:pt x="12649454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48367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8384528" y="7230194"/>
            <a:ext cx="3410991" cy="454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Realização do Parto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84528" y="7755260"/>
            <a:ext cx="8948440" cy="501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Tempo médio de espera: </a:t>
            </a:r>
            <a:r>
              <a:rPr lang="en-US" sz="2000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27,22 minutos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84528" y="8326760"/>
            <a:ext cx="8948440" cy="91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Capacidade insuficiente das salas de parto para atender picos de demanda, comprometendo a segurança das pacientes.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A5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87314" y="659160"/>
            <a:ext cx="11566922" cy="87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Cenário B: Configurações Alternativas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7314" y="1950541"/>
            <a:ext cx="16513374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Teste de diferentes capacidades para os recursos identificados como gargalos.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96839" y="2736651"/>
            <a:ext cx="16494324" cy="1540371"/>
            <a:chOff x="0" y="0"/>
            <a:chExt cx="21992432" cy="20538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92462" cy="2053844"/>
            </a:xfrm>
            <a:custGeom>
              <a:avLst/>
              <a:gdLst/>
              <a:ahLst/>
              <a:cxnLst/>
              <a:rect l="l" t="t" r="r" b="b"/>
              <a:pathLst>
                <a:path w="21992462" h="2053844">
                  <a:moveTo>
                    <a:pt x="0" y="0"/>
                  </a:moveTo>
                  <a:lnTo>
                    <a:pt x="21992462" y="0"/>
                  </a:lnTo>
                  <a:lnTo>
                    <a:pt x="21992462" y="2053844"/>
                  </a:lnTo>
                  <a:lnTo>
                    <a:pt x="0" y="205384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150441" y="2812554"/>
            <a:ext cx="3611910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Leitos Indução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78785" y="2812554"/>
            <a:ext cx="3607148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Salas Parto Normal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02366" y="2812554"/>
            <a:ext cx="3607148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Salas Cesárea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25946" y="2812554"/>
            <a:ext cx="1462831" cy="130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Espera Indução (min)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505211" y="2812554"/>
            <a:ext cx="1632496" cy="897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Espera Parto (min)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96839" y="4277022"/>
            <a:ext cx="16494324" cy="728960"/>
            <a:chOff x="0" y="0"/>
            <a:chExt cx="21992432" cy="9719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92462" cy="971931"/>
            </a:xfrm>
            <a:custGeom>
              <a:avLst/>
              <a:gdLst/>
              <a:ahLst/>
              <a:cxnLst/>
              <a:rect l="l" t="t" r="r" b="b"/>
              <a:pathLst>
                <a:path w="21992462" h="971931">
                  <a:moveTo>
                    <a:pt x="0" y="0"/>
                  </a:moveTo>
                  <a:lnTo>
                    <a:pt x="21992462" y="0"/>
                  </a:lnTo>
                  <a:lnTo>
                    <a:pt x="21992462" y="971931"/>
                  </a:lnTo>
                  <a:lnTo>
                    <a:pt x="0" y="9719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150441" y="4352925"/>
            <a:ext cx="3611910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78785" y="4352925"/>
            <a:ext cx="3607148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2366" y="4352925"/>
            <a:ext cx="3607148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25946" y="4352925"/>
            <a:ext cx="1462831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84,81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505211" y="4352925"/>
            <a:ext cx="1632496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27,22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96839" y="5005982"/>
            <a:ext cx="16494324" cy="728960"/>
            <a:chOff x="0" y="0"/>
            <a:chExt cx="21992432" cy="9719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92462" cy="971931"/>
            </a:xfrm>
            <a:custGeom>
              <a:avLst/>
              <a:gdLst/>
              <a:ahLst/>
              <a:cxnLst/>
              <a:rect l="l" t="t" r="r" b="b"/>
              <a:pathLst>
                <a:path w="21992462" h="971931">
                  <a:moveTo>
                    <a:pt x="0" y="0"/>
                  </a:moveTo>
                  <a:lnTo>
                    <a:pt x="21992462" y="0"/>
                  </a:lnTo>
                  <a:lnTo>
                    <a:pt x="21992462" y="971931"/>
                  </a:lnTo>
                  <a:lnTo>
                    <a:pt x="0" y="97193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150441" y="5081885"/>
            <a:ext cx="3611910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78785" y="5081885"/>
            <a:ext cx="3607148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02366" y="5081885"/>
            <a:ext cx="3607148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25946" y="5081885"/>
            <a:ext cx="1462831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8,57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505211" y="5081885"/>
            <a:ext cx="1632496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24,21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96839" y="5734942"/>
            <a:ext cx="16494324" cy="728960"/>
            <a:chOff x="0" y="0"/>
            <a:chExt cx="21992432" cy="97194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992462" cy="971931"/>
            </a:xfrm>
            <a:custGeom>
              <a:avLst/>
              <a:gdLst/>
              <a:ahLst/>
              <a:cxnLst/>
              <a:rect l="l" t="t" r="r" b="b"/>
              <a:pathLst>
                <a:path w="21992462" h="971931">
                  <a:moveTo>
                    <a:pt x="0" y="0"/>
                  </a:moveTo>
                  <a:lnTo>
                    <a:pt x="21992462" y="0"/>
                  </a:lnTo>
                  <a:lnTo>
                    <a:pt x="21992462" y="971931"/>
                  </a:lnTo>
                  <a:lnTo>
                    <a:pt x="0" y="9719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150441" y="5810845"/>
            <a:ext cx="3611910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78785" y="5810845"/>
            <a:ext cx="3607148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02366" y="5810845"/>
            <a:ext cx="3607148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525946" y="5810845"/>
            <a:ext cx="1462831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14,77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505211" y="5810845"/>
            <a:ext cx="1632496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13,69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896839" y="6463904"/>
            <a:ext cx="16494324" cy="728960"/>
            <a:chOff x="0" y="0"/>
            <a:chExt cx="21992432" cy="97194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992462" cy="971931"/>
            </a:xfrm>
            <a:custGeom>
              <a:avLst/>
              <a:gdLst/>
              <a:ahLst/>
              <a:cxnLst/>
              <a:rect l="l" t="t" r="r" b="b"/>
              <a:pathLst>
                <a:path w="21992462" h="971931">
                  <a:moveTo>
                    <a:pt x="0" y="0"/>
                  </a:moveTo>
                  <a:lnTo>
                    <a:pt x="21992462" y="0"/>
                  </a:lnTo>
                  <a:lnTo>
                    <a:pt x="21992462" y="971931"/>
                  </a:lnTo>
                  <a:lnTo>
                    <a:pt x="0" y="97193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1150441" y="6539805"/>
            <a:ext cx="3611910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278785" y="6539805"/>
            <a:ext cx="3607148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02366" y="6539805"/>
            <a:ext cx="3607148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525946" y="6539805"/>
            <a:ext cx="1462831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10,98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505211" y="6539805"/>
            <a:ext cx="1632496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31,58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896839" y="7192864"/>
            <a:ext cx="16494324" cy="728960"/>
            <a:chOff x="0" y="0"/>
            <a:chExt cx="21992432" cy="97194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992462" cy="971931"/>
            </a:xfrm>
            <a:custGeom>
              <a:avLst/>
              <a:gdLst/>
              <a:ahLst/>
              <a:cxnLst/>
              <a:rect l="l" t="t" r="r" b="b"/>
              <a:pathLst>
                <a:path w="21992462" h="971931">
                  <a:moveTo>
                    <a:pt x="0" y="0"/>
                  </a:moveTo>
                  <a:lnTo>
                    <a:pt x="21992462" y="0"/>
                  </a:lnTo>
                  <a:lnTo>
                    <a:pt x="21992462" y="971931"/>
                  </a:lnTo>
                  <a:lnTo>
                    <a:pt x="0" y="9719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1150441" y="7268766"/>
            <a:ext cx="3611910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78785" y="7268766"/>
            <a:ext cx="3607148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02366" y="7268766"/>
            <a:ext cx="3607148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525946" y="7268766"/>
            <a:ext cx="1462831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10,29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505211" y="7268766"/>
            <a:ext cx="1632496" cy="49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10,78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67569" y="8415932"/>
            <a:ext cx="16133117" cy="897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Configuração Recomendada:</a:t>
            </a:r>
            <a:r>
              <a:rPr lang="en-US" sz="193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3 leitos de indução + 3 salas parto normal + 2 salas cesárea. Esta configuração atende satisfatoriamente a demanda com menor adição de recursos, mantendo tempos de espera abaixo de 15 minutos.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887314" y="8216504"/>
            <a:ext cx="28575" cy="1381720"/>
            <a:chOff x="0" y="0"/>
            <a:chExt cx="38100" cy="184229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8100" cy="1842262"/>
            </a:xfrm>
            <a:custGeom>
              <a:avLst/>
              <a:gdLst/>
              <a:ahLst/>
              <a:cxnLst/>
              <a:rect l="l" t="t" r="r" b="b"/>
              <a:pathLst>
                <a:path w="38100" h="1842262">
                  <a:moveTo>
                    <a:pt x="0" y="0"/>
                  </a:moveTo>
                  <a:lnTo>
                    <a:pt x="38100" y="0"/>
                  </a:lnTo>
                  <a:lnTo>
                    <a:pt x="38100" y="1842262"/>
                  </a:lnTo>
                  <a:lnTo>
                    <a:pt x="0" y="1842262"/>
                  </a:lnTo>
                  <a:close/>
                </a:path>
              </a:pathLst>
            </a:custGeom>
            <a:solidFill>
              <a:srgbClr val="876CD4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A5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2704" r="-6270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7457183" y="776941"/>
            <a:ext cx="8771335" cy="80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Cenário C: Situação de Estresse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57183" y="1860410"/>
            <a:ext cx="9787830" cy="45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Avaliação com aumento de 50% na demanda (60 atendimentos/dia)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42895" y="2561390"/>
            <a:ext cx="9816405" cy="2803772"/>
            <a:chOff x="0" y="0"/>
            <a:chExt cx="13088540" cy="3738363"/>
          </a:xfrm>
        </p:grpSpPr>
        <p:sp>
          <p:nvSpPr>
            <p:cNvPr id="9" name="Freeform 9"/>
            <p:cNvSpPr/>
            <p:nvPr/>
          </p:nvSpPr>
          <p:spPr>
            <a:xfrm>
              <a:off x="19050" y="19050"/>
              <a:ext cx="13050267" cy="3700272"/>
            </a:xfrm>
            <a:custGeom>
              <a:avLst/>
              <a:gdLst/>
              <a:ahLst/>
              <a:cxnLst/>
              <a:rect l="l" t="t" r="r" b="b"/>
              <a:pathLst>
                <a:path w="13050267" h="3700272">
                  <a:moveTo>
                    <a:pt x="0" y="182880"/>
                  </a:moveTo>
                  <a:cubicBezTo>
                    <a:pt x="0" y="81915"/>
                    <a:pt x="82423" y="0"/>
                    <a:pt x="184150" y="0"/>
                  </a:cubicBezTo>
                  <a:lnTo>
                    <a:pt x="12866116" y="0"/>
                  </a:lnTo>
                  <a:cubicBezTo>
                    <a:pt x="12967843" y="0"/>
                    <a:pt x="13050267" y="81915"/>
                    <a:pt x="13050267" y="182880"/>
                  </a:cubicBezTo>
                  <a:lnTo>
                    <a:pt x="13050267" y="3517392"/>
                  </a:lnTo>
                  <a:cubicBezTo>
                    <a:pt x="13050267" y="3618357"/>
                    <a:pt x="12967843" y="3700272"/>
                    <a:pt x="12866116" y="3700272"/>
                  </a:cubicBezTo>
                  <a:lnTo>
                    <a:pt x="184150" y="3700272"/>
                  </a:lnTo>
                  <a:cubicBezTo>
                    <a:pt x="82423" y="3700272"/>
                    <a:pt x="0" y="3618357"/>
                    <a:pt x="0" y="3517392"/>
                  </a:cubicBezTo>
                  <a:close/>
                </a:path>
              </a:pathLst>
            </a:custGeom>
            <a:solidFill>
              <a:srgbClr val="181B1A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3088367" cy="3738372"/>
            </a:xfrm>
            <a:custGeom>
              <a:avLst/>
              <a:gdLst/>
              <a:ahLst/>
              <a:cxnLst/>
              <a:rect l="l" t="t" r="r" b="b"/>
              <a:pathLst>
                <a:path w="13088367" h="3738372">
                  <a:moveTo>
                    <a:pt x="0" y="201930"/>
                  </a:moveTo>
                  <a:cubicBezTo>
                    <a:pt x="0" y="90297"/>
                    <a:pt x="91186" y="0"/>
                    <a:pt x="203200" y="0"/>
                  </a:cubicBezTo>
                  <a:lnTo>
                    <a:pt x="12885166" y="0"/>
                  </a:lnTo>
                  <a:lnTo>
                    <a:pt x="12885166" y="19050"/>
                  </a:lnTo>
                  <a:lnTo>
                    <a:pt x="12885166" y="0"/>
                  </a:lnTo>
                  <a:cubicBezTo>
                    <a:pt x="12997307" y="0"/>
                    <a:pt x="13088367" y="90297"/>
                    <a:pt x="13088367" y="201930"/>
                  </a:cubicBezTo>
                  <a:lnTo>
                    <a:pt x="13069317" y="201930"/>
                  </a:lnTo>
                  <a:lnTo>
                    <a:pt x="13088367" y="201930"/>
                  </a:lnTo>
                  <a:lnTo>
                    <a:pt x="13088367" y="3536442"/>
                  </a:lnTo>
                  <a:lnTo>
                    <a:pt x="13069317" y="3536442"/>
                  </a:lnTo>
                  <a:lnTo>
                    <a:pt x="13088367" y="3536442"/>
                  </a:lnTo>
                  <a:cubicBezTo>
                    <a:pt x="13088367" y="3648075"/>
                    <a:pt x="12997180" y="3738372"/>
                    <a:pt x="12885166" y="3738372"/>
                  </a:cubicBezTo>
                  <a:lnTo>
                    <a:pt x="12885166" y="3719322"/>
                  </a:lnTo>
                  <a:lnTo>
                    <a:pt x="12885166" y="3738372"/>
                  </a:lnTo>
                  <a:lnTo>
                    <a:pt x="203200" y="3738372"/>
                  </a:lnTo>
                  <a:lnTo>
                    <a:pt x="203200" y="3719322"/>
                  </a:lnTo>
                  <a:lnTo>
                    <a:pt x="203200" y="3738372"/>
                  </a:lnTo>
                  <a:cubicBezTo>
                    <a:pt x="91059" y="3738372"/>
                    <a:pt x="0" y="3648075"/>
                    <a:pt x="0" y="353644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536442"/>
                  </a:lnTo>
                  <a:lnTo>
                    <a:pt x="19050" y="3536442"/>
                  </a:lnTo>
                  <a:lnTo>
                    <a:pt x="38100" y="3536442"/>
                  </a:lnTo>
                  <a:cubicBezTo>
                    <a:pt x="38100" y="3626739"/>
                    <a:pt x="111887" y="3700272"/>
                    <a:pt x="203200" y="3700272"/>
                  </a:cubicBezTo>
                  <a:lnTo>
                    <a:pt x="12885166" y="3700272"/>
                  </a:lnTo>
                  <a:cubicBezTo>
                    <a:pt x="12976479" y="3700272"/>
                    <a:pt x="13050267" y="3626739"/>
                    <a:pt x="13050267" y="3536442"/>
                  </a:cubicBezTo>
                  <a:lnTo>
                    <a:pt x="13050267" y="201930"/>
                  </a:lnTo>
                  <a:cubicBezTo>
                    <a:pt x="13050267" y="111633"/>
                    <a:pt x="12976479" y="38100"/>
                    <a:pt x="12885166" y="38100"/>
                  </a:cubicBezTo>
                  <a:lnTo>
                    <a:pt x="203200" y="38100"/>
                  </a:lnTo>
                  <a:lnTo>
                    <a:pt x="203200" y="19050"/>
                  </a:lnTo>
                  <a:lnTo>
                    <a:pt x="203200" y="38100"/>
                  </a:lnTo>
                  <a:cubicBezTo>
                    <a:pt x="111887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48367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7428608" y="2575677"/>
            <a:ext cx="114300" cy="2775197"/>
            <a:chOff x="0" y="0"/>
            <a:chExt cx="152400" cy="37002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00" cy="3700272"/>
            </a:xfrm>
            <a:custGeom>
              <a:avLst/>
              <a:gdLst/>
              <a:ahLst/>
              <a:cxnLst/>
              <a:rect l="l" t="t" r="r" b="b"/>
              <a:pathLst>
                <a:path w="152400" h="3700272">
                  <a:moveTo>
                    <a:pt x="0" y="0"/>
                  </a:moveTo>
                  <a:lnTo>
                    <a:pt x="152400" y="0"/>
                  </a:lnTo>
                  <a:lnTo>
                    <a:pt x="152400" y="3700272"/>
                  </a:lnTo>
                  <a:lnTo>
                    <a:pt x="0" y="3700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93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7806035" y="2810231"/>
            <a:ext cx="3078956" cy="41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Sistema em Colapso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06035" y="3288117"/>
            <a:ext cx="9175849" cy="82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Configuração original não suporta aumento de demanda. Tempos de fila crescem indefinidamente.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06035" y="4179152"/>
            <a:ext cx="9175849" cy="45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Indução: 234,33 min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06035" y="4636352"/>
            <a:ext cx="9175849" cy="45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Parto: 126,16 min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442895" y="5571141"/>
            <a:ext cx="9816405" cy="4257378"/>
            <a:chOff x="0" y="0"/>
            <a:chExt cx="13088540" cy="5676503"/>
          </a:xfrm>
        </p:grpSpPr>
        <p:sp>
          <p:nvSpPr>
            <p:cNvPr id="18" name="Freeform 18"/>
            <p:cNvSpPr/>
            <p:nvPr/>
          </p:nvSpPr>
          <p:spPr>
            <a:xfrm>
              <a:off x="19050" y="19050"/>
              <a:ext cx="13050393" cy="5638419"/>
            </a:xfrm>
            <a:custGeom>
              <a:avLst/>
              <a:gdLst/>
              <a:ahLst/>
              <a:cxnLst/>
              <a:rect l="l" t="t" r="r" b="b"/>
              <a:pathLst>
                <a:path w="13050393" h="5638419">
                  <a:moveTo>
                    <a:pt x="0" y="182880"/>
                  </a:moveTo>
                  <a:cubicBezTo>
                    <a:pt x="0" y="81915"/>
                    <a:pt x="82169" y="0"/>
                    <a:pt x="183515" y="0"/>
                  </a:cubicBezTo>
                  <a:lnTo>
                    <a:pt x="12866878" y="0"/>
                  </a:lnTo>
                  <a:cubicBezTo>
                    <a:pt x="12968224" y="0"/>
                    <a:pt x="13050393" y="81915"/>
                    <a:pt x="13050393" y="182880"/>
                  </a:cubicBezTo>
                  <a:lnTo>
                    <a:pt x="13050393" y="5455539"/>
                  </a:lnTo>
                  <a:cubicBezTo>
                    <a:pt x="13050393" y="5556504"/>
                    <a:pt x="12968224" y="5638419"/>
                    <a:pt x="12866878" y="5638419"/>
                  </a:cubicBezTo>
                  <a:lnTo>
                    <a:pt x="183515" y="5638419"/>
                  </a:lnTo>
                  <a:cubicBezTo>
                    <a:pt x="82169" y="5638419"/>
                    <a:pt x="0" y="5556504"/>
                    <a:pt x="0" y="5455539"/>
                  </a:cubicBezTo>
                  <a:close/>
                </a:path>
              </a:pathLst>
            </a:custGeom>
            <a:solidFill>
              <a:srgbClr val="181B1A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3088493" cy="5676519"/>
            </a:xfrm>
            <a:custGeom>
              <a:avLst/>
              <a:gdLst/>
              <a:ahLst/>
              <a:cxnLst/>
              <a:rect l="l" t="t" r="r" b="b"/>
              <a:pathLst>
                <a:path w="13088493" h="5676519">
                  <a:moveTo>
                    <a:pt x="0" y="201930"/>
                  </a:moveTo>
                  <a:cubicBezTo>
                    <a:pt x="0" y="90297"/>
                    <a:pt x="90805" y="0"/>
                    <a:pt x="202565" y="0"/>
                  </a:cubicBezTo>
                  <a:lnTo>
                    <a:pt x="12885928" y="0"/>
                  </a:lnTo>
                  <a:lnTo>
                    <a:pt x="12885928" y="19050"/>
                  </a:lnTo>
                  <a:lnTo>
                    <a:pt x="12885928" y="0"/>
                  </a:lnTo>
                  <a:cubicBezTo>
                    <a:pt x="12997815" y="0"/>
                    <a:pt x="13088493" y="90297"/>
                    <a:pt x="13088493" y="201930"/>
                  </a:cubicBezTo>
                  <a:lnTo>
                    <a:pt x="13069443" y="201930"/>
                  </a:lnTo>
                  <a:lnTo>
                    <a:pt x="13088493" y="201930"/>
                  </a:lnTo>
                  <a:lnTo>
                    <a:pt x="13088493" y="5474589"/>
                  </a:lnTo>
                  <a:lnTo>
                    <a:pt x="13069443" y="5474589"/>
                  </a:lnTo>
                  <a:lnTo>
                    <a:pt x="13088493" y="5474589"/>
                  </a:lnTo>
                  <a:cubicBezTo>
                    <a:pt x="13088493" y="5586222"/>
                    <a:pt x="12997688" y="5676519"/>
                    <a:pt x="12885928" y="5676519"/>
                  </a:cubicBezTo>
                  <a:lnTo>
                    <a:pt x="12885928" y="5657469"/>
                  </a:lnTo>
                  <a:lnTo>
                    <a:pt x="12885928" y="5676519"/>
                  </a:lnTo>
                  <a:lnTo>
                    <a:pt x="202565" y="5676519"/>
                  </a:lnTo>
                  <a:lnTo>
                    <a:pt x="202565" y="5657469"/>
                  </a:lnTo>
                  <a:lnTo>
                    <a:pt x="202565" y="5676519"/>
                  </a:lnTo>
                  <a:cubicBezTo>
                    <a:pt x="90805" y="5676519"/>
                    <a:pt x="0" y="5586222"/>
                    <a:pt x="0" y="547458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5474589"/>
                  </a:lnTo>
                  <a:lnTo>
                    <a:pt x="19050" y="5474589"/>
                  </a:lnTo>
                  <a:lnTo>
                    <a:pt x="38100" y="5474589"/>
                  </a:lnTo>
                  <a:cubicBezTo>
                    <a:pt x="38100" y="5565013"/>
                    <a:pt x="111633" y="5638419"/>
                    <a:pt x="202565" y="5638419"/>
                  </a:cubicBezTo>
                  <a:lnTo>
                    <a:pt x="12885928" y="5638419"/>
                  </a:lnTo>
                  <a:cubicBezTo>
                    <a:pt x="12976860" y="5638419"/>
                    <a:pt x="13050393" y="5565013"/>
                    <a:pt x="13050393" y="5474589"/>
                  </a:cubicBezTo>
                  <a:lnTo>
                    <a:pt x="13050393" y="201930"/>
                  </a:lnTo>
                  <a:cubicBezTo>
                    <a:pt x="13050393" y="111506"/>
                    <a:pt x="12976860" y="38100"/>
                    <a:pt x="12885928" y="38100"/>
                  </a:cubicBezTo>
                  <a:lnTo>
                    <a:pt x="202565" y="38100"/>
                  </a:lnTo>
                  <a:lnTo>
                    <a:pt x="202565" y="19050"/>
                  </a:lnTo>
                  <a:lnTo>
                    <a:pt x="202565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48367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7428608" y="5585428"/>
            <a:ext cx="114300" cy="4228802"/>
            <a:chOff x="0" y="0"/>
            <a:chExt cx="152400" cy="563840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2400" cy="5638419"/>
            </a:xfrm>
            <a:custGeom>
              <a:avLst/>
              <a:gdLst/>
              <a:ahLst/>
              <a:cxnLst/>
              <a:rect l="l" t="t" r="r" b="b"/>
              <a:pathLst>
                <a:path w="152400" h="5638419">
                  <a:moveTo>
                    <a:pt x="0" y="0"/>
                  </a:moveTo>
                  <a:lnTo>
                    <a:pt x="152400" y="0"/>
                  </a:lnTo>
                  <a:lnTo>
                    <a:pt x="152400" y="5638419"/>
                  </a:lnTo>
                  <a:lnTo>
                    <a:pt x="0" y="5638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93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7806035" y="5819982"/>
            <a:ext cx="3226742" cy="41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Configuração Proposta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06035" y="6297868"/>
            <a:ext cx="9175849" cy="45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Reforço significativo em recursos críticos: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06035" y="6813707"/>
            <a:ext cx="9175849" cy="45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 Obstetras (partos)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06035" y="7270907"/>
            <a:ext cx="9175849" cy="45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 Enfermeiros Obstetras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06035" y="7728107"/>
            <a:ext cx="9175849" cy="45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8 Técnicos Bloco (+33%)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06035" y="8185307"/>
            <a:ext cx="9175849" cy="45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4 Leitos Indução (+100%)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06035" y="8642507"/>
            <a:ext cx="9175849" cy="45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4 Salas Parto Normal (+33%)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06035" y="9099707"/>
            <a:ext cx="9175849" cy="45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 Salas Cesárea (+100%)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A5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54571" y="1169789"/>
            <a:ext cx="8700939" cy="83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1">
                <a:solidFill>
                  <a:srgbClr val="181B1A"/>
                </a:solidFill>
                <a:latin typeface="Petrona Bold"/>
                <a:ea typeface="Petrona Bold"/>
                <a:cs typeface="Petrona Bold"/>
                <a:sym typeface="Petrona Bold"/>
              </a:rPr>
              <a:t>Conclusões e Recomendações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49809" y="2370535"/>
            <a:ext cx="9730383" cy="4052144"/>
            <a:chOff x="0" y="0"/>
            <a:chExt cx="12973843" cy="5402858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12961112" cy="5390134"/>
            </a:xfrm>
            <a:custGeom>
              <a:avLst/>
              <a:gdLst/>
              <a:ahLst/>
              <a:cxnLst/>
              <a:rect l="l" t="t" r="r" b="b"/>
              <a:pathLst>
                <a:path w="12961112" h="5390134">
                  <a:moveTo>
                    <a:pt x="0" y="136779"/>
                  </a:moveTo>
                  <a:cubicBezTo>
                    <a:pt x="0" y="61214"/>
                    <a:pt x="61341" y="0"/>
                    <a:pt x="136906" y="0"/>
                  </a:cubicBezTo>
                  <a:lnTo>
                    <a:pt x="12824206" y="0"/>
                  </a:lnTo>
                  <a:cubicBezTo>
                    <a:pt x="12899771" y="0"/>
                    <a:pt x="12961112" y="61214"/>
                    <a:pt x="12961112" y="136779"/>
                  </a:cubicBezTo>
                  <a:lnTo>
                    <a:pt x="12961112" y="5253355"/>
                  </a:lnTo>
                  <a:cubicBezTo>
                    <a:pt x="12961112" y="5328920"/>
                    <a:pt x="12899771" y="5390134"/>
                    <a:pt x="12824206" y="5390134"/>
                  </a:cubicBezTo>
                  <a:lnTo>
                    <a:pt x="136906" y="5390134"/>
                  </a:lnTo>
                  <a:cubicBezTo>
                    <a:pt x="61341" y="5390134"/>
                    <a:pt x="0" y="5328920"/>
                    <a:pt x="0" y="5253355"/>
                  </a:cubicBezTo>
                  <a:close/>
                </a:path>
              </a:pathLst>
            </a:custGeom>
            <a:solidFill>
              <a:srgbClr val="2F1D63"/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2973812" cy="5402834"/>
            </a:xfrm>
            <a:custGeom>
              <a:avLst/>
              <a:gdLst/>
              <a:ahLst/>
              <a:cxnLst/>
              <a:rect l="l" t="t" r="r" b="b"/>
              <a:pathLst>
                <a:path w="12973812" h="5402834">
                  <a:moveTo>
                    <a:pt x="0" y="143129"/>
                  </a:moveTo>
                  <a:cubicBezTo>
                    <a:pt x="0" y="64008"/>
                    <a:pt x="64135" y="0"/>
                    <a:pt x="143256" y="0"/>
                  </a:cubicBezTo>
                  <a:lnTo>
                    <a:pt x="12830556" y="0"/>
                  </a:lnTo>
                  <a:lnTo>
                    <a:pt x="12830556" y="6350"/>
                  </a:lnTo>
                  <a:lnTo>
                    <a:pt x="12830556" y="0"/>
                  </a:lnTo>
                  <a:cubicBezTo>
                    <a:pt x="12909677" y="0"/>
                    <a:pt x="12973812" y="64008"/>
                    <a:pt x="12973812" y="143129"/>
                  </a:cubicBezTo>
                  <a:lnTo>
                    <a:pt x="12967462" y="143129"/>
                  </a:lnTo>
                  <a:lnTo>
                    <a:pt x="12973812" y="143129"/>
                  </a:lnTo>
                  <a:lnTo>
                    <a:pt x="12973812" y="5259705"/>
                  </a:lnTo>
                  <a:lnTo>
                    <a:pt x="12967462" y="5259705"/>
                  </a:lnTo>
                  <a:lnTo>
                    <a:pt x="12973812" y="5259705"/>
                  </a:lnTo>
                  <a:cubicBezTo>
                    <a:pt x="12973812" y="5338699"/>
                    <a:pt x="12909677" y="5402834"/>
                    <a:pt x="12830556" y="5402834"/>
                  </a:cubicBezTo>
                  <a:lnTo>
                    <a:pt x="12830556" y="5396484"/>
                  </a:lnTo>
                  <a:lnTo>
                    <a:pt x="12830556" y="5402834"/>
                  </a:lnTo>
                  <a:lnTo>
                    <a:pt x="143256" y="5402834"/>
                  </a:lnTo>
                  <a:lnTo>
                    <a:pt x="143256" y="5396484"/>
                  </a:lnTo>
                  <a:lnTo>
                    <a:pt x="143256" y="5402834"/>
                  </a:lnTo>
                  <a:cubicBezTo>
                    <a:pt x="64135" y="5402834"/>
                    <a:pt x="0" y="5338826"/>
                    <a:pt x="0" y="5259705"/>
                  </a:cubicBezTo>
                  <a:lnTo>
                    <a:pt x="0" y="143129"/>
                  </a:lnTo>
                  <a:lnTo>
                    <a:pt x="6350" y="143129"/>
                  </a:lnTo>
                  <a:lnTo>
                    <a:pt x="0" y="143129"/>
                  </a:lnTo>
                  <a:moveTo>
                    <a:pt x="12700" y="143129"/>
                  </a:moveTo>
                  <a:lnTo>
                    <a:pt x="12700" y="5259705"/>
                  </a:lnTo>
                  <a:lnTo>
                    <a:pt x="6350" y="5259705"/>
                  </a:lnTo>
                  <a:lnTo>
                    <a:pt x="12700" y="5259705"/>
                  </a:lnTo>
                  <a:cubicBezTo>
                    <a:pt x="12700" y="5331714"/>
                    <a:pt x="71120" y="5390134"/>
                    <a:pt x="143256" y="5390134"/>
                  </a:cubicBezTo>
                  <a:lnTo>
                    <a:pt x="12830556" y="5390134"/>
                  </a:lnTo>
                  <a:cubicBezTo>
                    <a:pt x="12902692" y="5390134"/>
                    <a:pt x="12961112" y="5331714"/>
                    <a:pt x="12961112" y="5259705"/>
                  </a:cubicBezTo>
                  <a:lnTo>
                    <a:pt x="12961112" y="143129"/>
                  </a:lnTo>
                  <a:cubicBezTo>
                    <a:pt x="12961112" y="71120"/>
                    <a:pt x="12902692" y="12700"/>
                    <a:pt x="12830556" y="12700"/>
                  </a:cubicBezTo>
                  <a:lnTo>
                    <a:pt x="143256" y="12700"/>
                  </a:lnTo>
                  <a:lnTo>
                    <a:pt x="143256" y="6350"/>
                  </a:lnTo>
                  <a:lnTo>
                    <a:pt x="143256" y="12700"/>
                  </a:lnTo>
                  <a:cubicBezTo>
                    <a:pt x="71120" y="12700"/>
                    <a:pt x="12700" y="71120"/>
                    <a:pt x="12700" y="143129"/>
                  </a:cubicBezTo>
                  <a:close/>
                </a:path>
              </a:pathLst>
            </a:custGeom>
            <a:solidFill>
              <a:srgbClr val="48367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64096" y="2384822"/>
            <a:ext cx="4850904" cy="2597795"/>
            <a:chOff x="0" y="0"/>
            <a:chExt cx="6467872" cy="34637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67856" cy="3463798"/>
            </a:xfrm>
            <a:custGeom>
              <a:avLst/>
              <a:gdLst/>
              <a:ahLst/>
              <a:cxnLst/>
              <a:rect l="l" t="t" r="r" b="b"/>
              <a:pathLst>
                <a:path w="6467856" h="3463798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6331077" y="0"/>
                  </a:lnTo>
                  <a:cubicBezTo>
                    <a:pt x="6406642" y="0"/>
                    <a:pt x="6467856" y="61214"/>
                    <a:pt x="6467856" y="136779"/>
                  </a:cubicBezTo>
                  <a:lnTo>
                    <a:pt x="6467856" y="3327019"/>
                  </a:lnTo>
                  <a:cubicBezTo>
                    <a:pt x="6467856" y="3402584"/>
                    <a:pt x="6406642" y="3463798"/>
                    <a:pt x="6331077" y="3463798"/>
                  </a:cubicBezTo>
                  <a:lnTo>
                    <a:pt x="136779" y="3463798"/>
                  </a:lnTo>
                  <a:cubicBezTo>
                    <a:pt x="61214" y="3463671"/>
                    <a:pt x="0" y="3402457"/>
                    <a:pt x="0" y="3327019"/>
                  </a:cubicBezTo>
                  <a:close/>
                </a:path>
              </a:pathLst>
            </a:custGeom>
            <a:solidFill>
              <a:srgbClr val="181B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108174" y="2600325"/>
            <a:ext cx="3204716" cy="429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Situação Atual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8174" y="3099644"/>
            <a:ext cx="4362747" cy="1638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Sistema apresenta gargalos críticos que impedem atendimento satisfatório, com risco de transferências externas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0" y="2384822"/>
            <a:ext cx="4850904" cy="2597795"/>
            <a:chOff x="0" y="0"/>
            <a:chExt cx="6467872" cy="34637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67856" cy="3463671"/>
            </a:xfrm>
            <a:custGeom>
              <a:avLst/>
              <a:gdLst/>
              <a:ahLst/>
              <a:cxnLst/>
              <a:rect l="l" t="t" r="r" b="b"/>
              <a:pathLst>
                <a:path w="6467856" h="3463671">
                  <a:moveTo>
                    <a:pt x="0" y="0"/>
                  </a:moveTo>
                  <a:lnTo>
                    <a:pt x="6467856" y="0"/>
                  </a:lnTo>
                  <a:lnTo>
                    <a:pt x="6467856" y="3463671"/>
                  </a:lnTo>
                  <a:lnTo>
                    <a:pt x="0" y="3463671"/>
                  </a:lnTo>
                  <a:close/>
                </a:path>
              </a:pathLst>
            </a:custGeom>
            <a:solidFill>
              <a:srgbClr val="181B1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715000" y="2384822"/>
            <a:ext cx="28575" cy="2597795"/>
            <a:chOff x="0" y="0"/>
            <a:chExt cx="38100" cy="346372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100" cy="3463671"/>
            </a:xfrm>
            <a:custGeom>
              <a:avLst/>
              <a:gdLst/>
              <a:ahLst/>
              <a:cxnLst/>
              <a:rect l="l" t="t" r="r" b="b"/>
              <a:pathLst>
                <a:path w="38100" h="346367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3444621"/>
                  </a:lnTo>
                  <a:cubicBezTo>
                    <a:pt x="38100" y="3455162"/>
                    <a:pt x="29591" y="3463671"/>
                    <a:pt x="19050" y="3463671"/>
                  </a:cubicBezTo>
                  <a:cubicBezTo>
                    <a:pt x="8509" y="3463671"/>
                    <a:pt x="0" y="3455162"/>
                    <a:pt x="0" y="3444621"/>
                  </a:cubicBezTo>
                  <a:close/>
                </a:path>
              </a:pathLst>
            </a:custGeom>
            <a:solidFill>
              <a:srgbClr val="48367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5959078" y="2600325"/>
            <a:ext cx="3204716" cy="429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Solução Imediata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59077" y="3099644"/>
            <a:ext cx="4362747" cy="1248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Implementar Cenário B: +1 leito indução e +1 sala cesárea para operação regular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64096" y="4982616"/>
            <a:ext cx="9701807" cy="1425774"/>
            <a:chOff x="0" y="0"/>
            <a:chExt cx="12935743" cy="190103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935712" cy="1901063"/>
            </a:xfrm>
            <a:custGeom>
              <a:avLst/>
              <a:gdLst/>
              <a:ahLst/>
              <a:cxnLst/>
              <a:rect l="l" t="t" r="r" b="b"/>
              <a:pathLst>
                <a:path w="12935712" h="1901063">
                  <a:moveTo>
                    <a:pt x="0" y="0"/>
                  </a:moveTo>
                  <a:lnTo>
                    <a:pt x="12935712" y="0"/>
                  </a:lnTo>
                  <a:lnTo>
                    <a:pt x="12935712" y="1901063"/>
                  </a:lnTo>
                  <a:lnTo>
                    <a:pt x="0" y="1901063"/>
                  </a:lnTo>
                  <a:close/>
                </a:path>
              </a:pathLst>
            </a:custGeom>
            <a:solidFill>
              <a:srgbClr val="181B1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64096" y="4982616"/>
            <a:ext cx="9701807" cy="28575"/>
            <a:chOff x="0" y="0"/>
            <a:chExt cx="12935743" cy="38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935712" cy="38100"/>
            </a:xfrm>
            <a:custGeom>
              <a:avLst/>
              <a:gdLst/>
              <a:ahLst/>
              <a:cxnLst/>
              <a:rect l="l" t="t" r="r" b="b"/>
              <a:pathLst>
                <a:path w="1293571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916662" y="0"/>
                  </a:lnTo>
                  <a:cubicBezTo>
                    <a:pt x="12927203" y="0"/>
                    <a:pt x="12935712" y="8509"/>
                    <a:pt x="12935712" y="19050"/>
                  </a:cubicBezTo>
                  <a:cubicBezTo>
                    <a:pt x="12935712" y="29591"/>
                    <a:pt x="12927203" y="38100"/>
                    <a:pt x="1291666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8367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108174" y="5198120"/>
            <a:ext cx="3204716" cy="429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Preparação Futura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8174" y="5697439"/>
            <a:ext cx="9213651" cy="46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Planejar expansão do Cenário C para períodos de alta demanda sazonal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4571" y="8612089"/>
            <a:ext cx="9720858" cy="354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Gabriel M. M. N. e Luana K. P. | PPGEP - UFMG</a:t>
            </a:r>
          </a:p>
        </p:txBody>
      </p: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2704" r="-62704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862</Words>
  <Application>Microsoft Office PowerPoint</Application>
  <PresentationFormat>Custom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Petrona Bold</vt:lpstr>
      <vt:lpstr>Inter Bold</vt:lpstr>
      <vt:lpstr>Petrona</vt:lpstr>
      <vt:lpstr>Petrona Light</vt:lpstr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Avaliacao-da-Capacidade-Operacional-da-Maternidade.pptx</dc:title>
  <cp:lastModifiedBy>Luana Pereira</cp:lastModifiedBy>
  <cp:revision>3</cp:revision>
  <dcterms:created xsi:type="dcterms:W3CDTF">2006-08-16T00:00:00Z</dcterms:created>
  <dcterms:modified xsi:type="dcterms:W3CDTF">2025-11-24T01:12:00Z</dcterms:modified>
  <dc:identifier>DAG5iDxLJIs</dc:identifier>
</cp:coreProperties>
</file>