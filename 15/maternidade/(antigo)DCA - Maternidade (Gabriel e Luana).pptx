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65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>
        <p:scale>
          <a:sx n="100" d="100"/>
          <a:sy n="100" d="100"/>
        </p:scale>
        <p:origin x="-1032" y="-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\OneDrive\&#193;rea%20de%20Trabalho\Maternidade_atualizado\PARTOS%20REALIZADOS%20MATERNIDADE%20-%20202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'Total de partos'!$O$7</c:f>
              <c:strCache>
                <c:ptCount val="1"/>
                <c:pt idx="0">
                  <c:v>Partos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'Total de partos'!$N$8:$N$15</c:f>
              <c:strCache>
                <c:ptCount val="8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</c:strCache>
            </c:strRef>
          </c:cat>
          <c:val>
            <c:numRef>
              <c:f>'Total de partos'!$O$8:$O$15</c:f>
              <c:numCache>
                <c:formatCode>0</c:formatCode>
                <c:ptCount val="8"/>
                <c:pt idx="0">
                  <c:v>162</c:v>
                </c:pt>
                <c:pt idx="1">
                  <c:v>120</c:v>
                </c:pt>
                <c:pt idx="2">
                  <c:v>206</c:v>
                </c:pt>
                <c:pt idx="3">
                  <c:v>157</c:v>
                </c:pt>
                <c:pt idx="4">
                  <c:v>186</c:v>
                </c:pt>
                <c:pt idx="5">
                  <c:v>194</c:v>
                </c:pt>
                <c:pt idx="6">
                  <c:v>179</c:v>
                </c:pt>
                <c:pt idx="7">
                  <c:v>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0A-4AE3-9223-4801216F117D}"/>
            </c:ext>
          </c:extLst>
        </c:ser>
        <c:ser>
          <c:idx val="1"/>
          <c:order val="1"/>
          <c:tx>
            <c:strRef>
              <c:f>'Total de partos'!$P$7</c:f>
              <c:strCache>
                <c:ptCount val="1"/>
                <c:pt idx="0">
                  <c:v>Proc Esp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2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'Total de partos'!$N$8:$N$15</c:f>
              <c:strCache>
                <c:ptCount val="8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</c:strCache>
            </c:strRef>
          </c:cat>
          <c:val>
            <c:numRef>
              <c:f>'Total de partos'!$P$8:$P$15</c:f>
              <c:numCache>
                <c:formatCode>0</c:formatCode>
                <c:ptCount val="8"/>
                <c:pt idx="0">
                  <c:v>12</c:v>
                </c:pt>
                <c:pt idx="1">
                  <c:v>17</c:v>
                </c:pt>
                <c:pt idx="2">
                  <c:v>15</c:v>
                </c:pt>
                <c:pt idx="3">
                  <c:v>24</c:v>
                </c:pt>
                <c:pt idx="4">
                  <c:v>13</c:v>
                </c:pt>
                <c:pt idx="5">
                  <c:v>6</c:v>
                </c:pt>
                <c:pt idx="6">
                  <c:v>18</c:v>
                </c:pt>
                <c:pt idx="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0A-4AE3-9223-4801216F117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771427136"/>
        <c:axId val="773415792"/>
      </c:barChart>
      <c:catAx>
        <c:axId val="771427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73415792"/>
        <c:crosses val="autoZero"/>
        <c:auto val="1"/>
        <c:lblAlgn val="ctr"/>
        <c:lblOffset val="100"/>
        <c:noMultiLvlLbl val="0"/>
      </c:catAx>
      <c:valAx>
        <c:axId val="773415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71427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E881F-4173-4370-AB67-CE72FB1EEF4B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933B4-D72D-485F-8B29-F4D42AB92A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002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933B4-D72D-485F-8B29-F4D42AB92A6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994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22DA5-828A-8C12-DC1A-83A3BCF92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0E3264F-E1C4-F14F-30B3-59B24BE4C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51D9EF8-B15F-1F4D-5EE0-5DEC9CE8C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48091E-23BC-C545-4560-B0682760D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933B4-D72D-485F-8B29-F4D42AB92A6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5105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8F7EE-BE34-6BC5-29EF-6A5C09B5C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A3A992-56C7-961E-9794-CC94AC9F1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4728CC-F88C-B6FF-D679-024F0F02C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681157-A0E1-200E-2845-9ECE6EBF9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9E8FCC-B865-975A-ED2B-49AF4CFB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799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21DB2-100F-D6AD-CD3E-F410E65B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327862-D3A4-9654-2FDB-4CAD516F0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5ED2DF-14B2-507F-731D-3B368577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D41087-D701-D2DA-46F2-69BF4D48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F23F8F-42BA-8AE0-E2D0-8E6A677B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44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0AD7A-616A-238B-93DE-1BB4EC7E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C282F6-F9F9-29B5-5889-C53EB00EB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C4F70C-9576-D90E-09C7-BC15F677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AF3403-898F-82CB-EF7D-3F0E3CEE2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04B78C-B2A8-50D3-BCE9-6DEB2CF0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4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200E6-2FF5-BEC0-BFFC-472EBCFBF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5C997B-8F27-D542-E940-32101C3C3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18EC31F-184E-AFDD-DC89-A54214D98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5B0598-E85D-8CAF-7766-218601FD5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80291F-1F89-D9FB-552A-E0B02994C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A20F66-958D-2AB6-B56A-247D0D849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8270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8A002-8F7C-29AD-421D-A2E35764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DC59DE-A21C-7F68-7BCC-E4F1795CA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29E2B0-A54F-DE13-105B-6F23B99CE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0A5635-0BF0-6DBF-6144-3698FD941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7ADA24-9D4A-6210-F9B5-149AC3F80C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7564F9B-C17C-41FF-5DAE-EF154808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1EB7818-2906-027D-41AE-A9695E39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82E355-2694-AF58-10BF-4DF1C9957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070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38E25-5655-1904-5EAE-C0888A4BD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2AB9C0-15A0-D3BE-EB33-D09EFEE7C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0AF6F4-17C3-CFE2-E301-02E6E1053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D623ACD-ECA6-68C8-77FD-6B11F01C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992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261C08-7C04-3055-3955-162DC6D0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D16ADF-AE40-A158-C41F-5763F45A9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6BC5B8-86B0-CA90-26C5-58DF2122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1767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453B9-0268-27A9-B5A4-8492E6A53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F3CBA0-02FC-50E2-FD6B-C70852254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D13F4E-F1C4-CB89-89AE-C41DB826B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55A0AA-E7AD-494C-92BA-0CA4DA655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546B34-46D4-903E-61D2-64A12BBFA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957495-1E4A-464F-B213-C8C094C37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34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4F061-73B5-0681-E572-036E9CB19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94AC98C-0A2A-DC7C-16DA-0CA21E3FB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5C778C-1F78-5F6E-79BF-6D6BCAA01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5A306C-BFAE-C432-6850-FC395FBC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8C39D1-4E92-FE52-D9DA-B39FC024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70F018-C440-ECC8-35A8-76F63579E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1843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B9DCC-48C9-233F-67B6-808B10A5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195256-D4E1-80B0-10C2-10E366B0C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EDFD64-6572-370F-FF4D-EFC74F4B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3D56D7-0236-3B4E-EA24-BEA4D027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94BE1A-6B63-FC82-ACE0-BD63807F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41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572FB2-936C-E710-E643-6B0B55589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429F6C-CB45-E43A-C153-E18AE85B3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84F4F5-0DF1-80BF-B6AD-DB2CBFE40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3E323-45A2-4916-A57C-4D9279AE335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415EED-99B4-F73D-C16E-79F63268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A1A3A1-6A83-E8D1-5F55-C51F31855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97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734BCEE-6AA0-DB0D-6047-79C2F5AD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8A2A91-ADCA-D0B1-0EA8-464F62A85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E2FC51-DF0F-F8D0-32E7-331D93F23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3E323-45A2-4916-A57C-4D9279AE3351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050EEE-04E2-4A8C-AC6E-BBB5BC05C9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F2D3F8-C515-D829-2D34-FFE2ACCEC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88A8A-4B3D-4416-A7B1-948949BB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201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354609DB-3A83-4956-FC22-C79763223D88}"/>
              </a:ext>
            </a:extLst>
          </p:cNvPr>
          <p:cNvGrpSpPr/>
          <p:nvPr/>
        </p:nvGrpSpPr>
        <p:grpSpPr>
          <a:xfrm>
            <a:off x="59969" y="5061264"/>
            <a:ext cx="606323" cy="502229"/>
            <a:chOff x="616635" y="2771335"/>
            <a:chExt cx="1324707" cy="1097280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BB0379A-B30F-BE66-27F0-9F3774169A62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4513831E-CBAB-1C7D-C00D-418ACCE9F48F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64E7D5FC-E1DA-3307-4B96-E452D1AF8148}"/>
                </a:ext>
              </a:extLst>
            </p:cNvPr>
            <p:cNvSpPr txBox="1"/>
            <p:nvPr/>
          </p:nvSpPr>
          <p:spPr>
            <a:xfrm>
              <a:off x="1028113" y="3130061"/>
              <a:ext cx="729177" cy="437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Rua</a:t>
              </a:r>
            </a:p>
          </p:txBody>
        </p:sp>
      </p:grp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B830D91-07A5-263D-23BA-E8F7E90842C7}"/>
              </a:ext>
            </a:extLst>
          </p:cNvPr>
          <p:cNvCxnSpPr>
            <a:cxnSpLocks/>
          </p:cNvCxnSpPr>
          <p:nvPr/>
        </p:nvCxnSpPr>
        <p:spPr>
          <a:xfrm>
            <a:off x="687220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C374C46-9682-DB15-C3E2-E3B7950F38BC}"/>
              </a:ext>
            </a:extLst>
          </p:cNvPr>
          <p:cNvSpPr txBox="1"/>
          <p:nvPr/>
        </p:nvSpPr>
        <p:spPr>
          <a:xfrm>
            <a:off x="919017" y="5104628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CHEGADA</a:t>
            </a:r>
          </a:p>
          <a:p>
            <a:pPr algn="ctr"/>
            <a:endParaRPr lang="pt-BR" sz="700" dirty="0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AD64655D-C665-D05E-96DD-A429DD171031}"/>
              </a:ext>
            </a:extLst>
          </p:cNvPr>
          <p:cNvCxnSpPr>
            <a:cxnSpLocks/>
          </p:cNvCxnSpPr>
          <p:nvPr/>
        </p:nvCxnSpPr>
        <p:spPr>
          <a:xfrm>
            <a:off x="1601533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3C8615BA-9FA4-773D-83E1-ED70000E752F}"/>
              </a:ext>
            </a:extLst>
          </p:cNvPr>
          <p:cNvGrpSpPr/>
          <p:nvPr/>
        </p:nvGrpSpPr>
        <p:grpSpPr>
          <a:xfrm>
            <a:off x="1795503" y="5061264"/>
            <a:ext cx="573593" cy="502229"/>
            <a:chOff x="4449493" y="2967335"/>
            <a:chExt cx="1253198" cy="1097280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FB8CDE88-D637-AEB6-6F33-6847C703BCAA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64BABFFA-D4D1-89BA-BF78-80552098F88D}"/>
                </a:ext>
              </a:extLst>
            </p:cNvPr>
            <p:cNvSpPr txBox="1"/>
            <p:nvPr/>
          </p:nvSpPr>
          <p:spPr>
            <a:xfrm>
              <a:off x="4449493" y="3105833"/>
              <a:ext cx="1253198" cy="672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Recepção</a:t>
              </a: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46EBD1E-3355-B083-365E-3E2478E7757E}"/>
              </a:ext>
            </a:extLst>
          </p:cNvPr>
          <p:cNvSpPr txBox="1"/>
          <p:nvPr/>
        </p:nvSpPr>
        <p:spPr>
          <a:xfrm>
            <a:off x="2563066" y="5104628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Recepção</a:t>
            </a:r>
          </a:p>
          <a:p>
            <a:pPr algn="ctr"/>
            <a:endParaRPr lang="pt-BR" sz="700" dirty="0"/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CBF6ECEF-D9C3-1547-2E58-A38C88BABF0E}"/>
              </a:ext>
            </a:extLst>
          </p:cNvPr>
          <p:cNvCxnSpPr>
            <a:cxnSpLocks/>
          </p:cNvCxnSpPr>
          <p:nvPr/>
        </p:nvCxnSpPr>
        <p:spPr>
          <a:xfrm>
            <a:off x="2333414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FDD75B63-4EE6-DC0B-49D2-D549E62242B3}"/>
              </a:ext>
            </a:extLst>
          </p:cNvPr>
          <p:cNvGrpSpPr/>
          <p:nvPr/>
        </p:nvGrpSpPr>
        <p:grpSpPr>
          <a:xfrm>
            <a:off x="2589359" y="4216705"/>
            <a:ext cx="573593" cy="502229"/>
            <a:chOff x="4449493" y="2967335"/>
            <a:chExt cx="1253198" cy="1097280"/>
          </a:xfrm>
        </p:grpSpPr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E42A73D2-961E-D0E5-9F3B-BBC97F4EF807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D449CBFC-7F0C-10B5-DDF4-83DE48C3957A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accent1"/>
                  </a:solidFill>
                </a:rPr>
                <a:t>Recepcionista</a:t>
              </a:r>
            </a:p>
            <a:p>
              <a:pPr algn="ctr"/>
              <a:r>
                <a:rPr lang="pt-BR" sz="500" dirty="0">
                  <a:solidFill>
                    <a:schemeClr val="accent1"/>
                  </a:solidFill>
                </a:rPr>
                <a:t>Livre</a:t>
              </a:r>
            </a:p>
          </p:txBody>
        </p:sp>
      </p:grpSp>
      <p:cxnSp>
        <p:nvCxnSpPr>
          <p:cNvPr id="40" name="Conector: Curvo 39">
            <a:extLst>
              <a:ext uri="{FF2B5EF4-FFF2-40B4-BE49-F238E27FC236}">
                <a16:creationId xmlns:a16="http://schemas.microsoft.com/office/drawing/2014/main" id="{E5237678-DE26-5517-0C53-A7E151831EB8}"/>
              </a:ext>
            </a:extLst>
          </p:cNvPr>
          <p:cNvCxnSpPr>
            <a:cxnSpLocks/>
            <a:stCxn id="25" idx="1"/>
          </p:cNvCxnSpPr>
          <p:nvPr/>
        </p:nvCxnSpPr>
        <p:spPr>
          <a:xfrm rot="10800000" flipV="1">
            <a:off x="2479193" y="4471191"/>
            <a:ext cx="110166" cy="754256"/>
          </a:xfrm>
          <a:prstGeom prst="curvedConnector2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: Curvo 49">
            <a:extLst>
              <a:ext uri="{FF2B5EF4-FFF2-40B4-BE49-F238E27FC236}">
                <a16:creationId xmlns:a16="http://schemas.microsoft.com/office/drawing/2014/main" id="{7C09B93F-8AEB-ABCD-F224-3B79F3B8B67D}"/>
              </a:ext>
            </a:extLst>
          </p:cNvPr>
          <p:cNvCxnSpPr>
            <a:cxnSpLocks/>
          </p:cNvCxnSpPr>
          <p:nvPr/>
        </p:nvCxnSpPr>
        <p:spPr>
          <a:xfrm rot="16200000" flipV="1">
            <a:off x="2824183" y="4743360"/>
            <a:ext cx="815209" cy="148980"/>
          </a:xfrm>
          <a:prstGeom prst="curvedConnector3">
            <a:avLst>
              <a:gd name="adj1" fmla="val 99760"/>
            </a:avLst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id="{AA18B1AE-6CAE-28C7-6884-7C8EE029C462}"/>
              </a:ext>
            </a:extLst>
          </p:cNvPr>
          <p:cNvCxnSpPr>
            <a:cxnSpLocks/>
          </p:cNvCxnSpPr>
          <p:nvPr/>
        </p:nvCxnSpPr>
        <p:spPr>
          <a:xfrm>
            <a:off x="3247795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AD3F5CC8-94DF-8C98-B36D-D029694E3317}"/>
              </a:ext>
            </a:extLst>
          </p:cNvPr>
          <p:cNvSpPr txBox="1"/>
          <p:nvPr/>
        </p:nvSpPr>
        <p:spPr>
          <a:xfrm>
            <a:off x="4218183" y="5128211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Triagem</a:t>
            </a:r>
          </a:p>
          <a:p>
            <a:pPr algn="ctr"/>
            <a:endParaRPr lang="pt-BR" sz="700" dirty="0"/>
          </a:p>
        </p:txBody>
      </p: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4AF130A4-F863-E9E1-6E9C-4A01AEAC4B25}"/>
              </a:ext>
            </a:extLst>
          </p:cNvPr>
          <p:cNvGrpSpPr/>
          <p:nvPr/>
        </p:nvGrpSpPr>
        <p:grpSpPr>
          <a:xfrm>
            <a:off x="4297445" y="4309719"/>
            <a:ext cx="573593" cy="502229"/>
            <a:chOff x="4449493" y="2967335"/>
            <a:chExt cx="1253198" cy="1097280"/>
          </a:xfrm>
        </p:grpSpPr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66E00FEF-D2CB-207A-E847-8A81BFB5E1B5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386F979E-D74B-AB7C-F8C8-105B475AE5B1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706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accent2"/>
                  </a:solidFill>
                </a:rPr>
                <a:t>Enfermeiro</a:t>
              </a:r>
            </a:p>
            <a:p>
              <a:pPr algn="ctr"/>
              <a:r>
                <a:rPr lang="pt-BR" sz="500" dirty="0">
                  <a:solidFill>
                    <a:schemeClr val="accent2"/>
                  </a:solidFill>
                </a:rPr>
                <a:t>Triagem</a:t>
              </a:r>
            </a:p>
            <a:p>
              <a:pPr algn="ctr"/>
              <a:r>
                <a:rPr lang="pt-BR" sz="500" dirty="0">
                  <a:solidFill>
                    <a:schemeClr val="accent2"/>
                  </a:solidFill>
                </a:rPr>
                <a:t>Livre</a:t>
              </a:r>
            </a:p>
          </p:txBody>
        </p:sp>
      </p:grpSp>
      <p:cxnSp>
        <p:nvCxnSpPr>
          <p:cNvPr id="74" name="Conector: Curvo 73">
            <a:extLst>
              <a:ext uri="{FF2B5EF4-FFF2-40B4-BE49-F238E27FC236}">
                <a16:creationId xmlns:a16="http://schemas.microsoft.com/office/drawing/2014/main" id="{A0D97863-7EFF-EE0E-0921-52C70775EE48}"/>
              </a:ext>
            </a:extLst>
          </p:cNvPr>
          <p:cNvCxnSpPr>
            <a:cxnSpLocks/>
            <a:stCxn id="73" idx="1"/>
          </p:cNvCxnSpPr>
          <p:nvPr/>
        </p:nvCxnSpPr>
        <p:spPr>
          <a:xfrm rot="10800000" flipV="1">
            <a:off x="4165383" y="4602677"/>
            <a:ext cx="132062" cy="614988"/>
          </a:xfrm>
          <a:prstGeom prst="curved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: Curvo 74">
            <a:extLst>
              <a:ext uri="{FF2B5EF4-FFF2-40B4-BE49-F238E27FC236}">
                <a16:creationId xmlns:a16="http://schemas.microsoft.com/office/drawing/2014/main" id="{4B1A5A67-D0A7-30B8-C10C-9FDC84814599}"/>
              </a:ext>
            </a:extLst>
          </p:cNvPr>
          <p:cNvCxnSpPr>
            <a:cxnSpLocks/>
            <a:endCxn id="73" idx="3"/>
          </p:cNvCxnSpPr>
          <p:nvPr/>
        </p:nvCxnSpPr>
        <p:spPr>
          <a:xfrm rot="16200000" flipV="1">
            <a:off x="4588974" y="4884742"/>
            <a:ext cx="666239" cy="102110"/>
          </a:xfrm>
          <a:prstGeom prst="curved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094FCC4D-1BC0-F20D-DC80-62FE574782B4}"/>
              </a:ext>
            </a:extLst>
          </p:cNvPr>
          <p:cNvCxnSpPr>
            <a:cxnSpLocks/>
          </p:cNvCxnSpPr>
          <p:nvPr/>
        </p:nvCxnSpPr>
        <p:spPr>
          <a:xfrm flipV="1">
            <a:off x="4900699" y="5312379"/>
            <a:ext cx="422277" cy="37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5B046189-090E-3F64-4ACE-B95CA2911199}"/>
              </a:ext>
            </a:extLst>
          </p:cNvPr>
          <p:cNvGrpSpPr/>
          <p:nvPr/>
        </p:nvGrpSpPr>
        <p:grpSpPr>
          <a:xfrm>
            <a:off x="5292058" y="5061264"/>
            <a:ext cx="573593" cy="502229"/>
            <a:chOff x="4449493" y="2967335"/>
            <a:chExt cx="1253198" cy="1097280"/>
          </a:xfrm>
        </p:grpSpPr>
        <p:sp>
          <p:nvSpPr>
            <p:cNvPr id="86" name="Elipse 85">
              <a:extLst>
                <a:ext uri="{FF2B5EF4-FFF2-40B4-BE49-F238E27FC236}">
                  <a16:creationId xmlns:a16="http://schemas.microsoft.com/office/drawing/2014/main" id="{9784D8AC-9D95-9E14-C113-868E6CA40E4C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87" name="CaixaDeTexto 86">
              <a:extLst>
                <a:ext uri="{FF2B5EF4-FFF2-40B4-BE49-F238E27FC236}">
                  <a16:creationId xmlns:a16="http://schemas.microsoft.com/office/drawing/2014/main" id="{02223F5A-F8F1-1440-543F-F3E0152562FC}"/>
                </a:ext>
              </a:extLst>
            </p:cNvPr>
            <p:cNvSpPr txBox="1"/>
            <p:nvPr/>
          </p:nvSpPr>
          <p:spPr>
            <a:xfrm>
              <a:off x="4449493" y="3178677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Médico</a:t>
              </a:r>
            </a:p>
          </p:txBody>
        </p:sp>
      </p:grpSp>
      <p:sp>
        <p:nvSpPr>
          <p:cNvPr id="88" name="Elipse 87">
            <a:extLst>
              <a:ext uri="{FF2B5EF4-FFF2-40B4-BE49-F238E27FC236}">
                <a16:creationId xmlns:a16="http://schemas.microsoft.com/office/drawing/2014/main" id="{898B7375-911A-3C96-87FB-1BB07C473A2F}"/>
              </a:ext>
            </a:extLst>
          </p:cNvPr>
          <p:cNvSpPr/>
          <p:nvPr/>
        </p:nvSpPr>
        <p:spPr>
          <a:xfrm>
            <a:off x="5076929" y="5278844"/>
            <a:ext cx="74582" cy="745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97C12BC1-9182-820D-D2AB-842AA977E78B}"/>
              </a:ext>
            </a:extLst>
          </p:cNvPr>
          <p:cNvSpPr txBox="1"/>
          <p:nvPr/>
        </p:nvSpPr>
        <p:spPr>
          <a:xfrm>
            <a:off x="5044453" y="5329572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1</a:t>
            </a:r>
          </a:p>
        </p:txBody>
      </p: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B08A37C1-9D18-8AC7-5BEA-4D17AB83C9F9}"/>
              </a:ext>
            </a:extLst>
          </p:cNvPr>
          <p:cNvCxnSpPr>
            <a:cxnSpLocks/>
          </p:cNvCxnSpPr>
          <p:nvPr/>
        </p:nvCxnSpPr>
        <p:spPr>
          <a:xfrm>
            <a:off x="5829969" y="5303710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E2E4D042-D20F-F1A7-E1F4-F0B430BC6A26}"/>
              </a:ext>
            </a:extLst>
          </p:cNvPr>
          <p:cNvGrpSpPr/>
          <p:nvPr/>
        </p:nvGrpSpPr>
        <p:grpSpPr>
          <a:xfrm>
            <a:off x="6170690" y="5970796"/>
            <a:ext cx="573593" cy="502229"/>
            <a:chOff x="4449493" y="2967335"/>
            <a:chExt cx="1253198" cy="1097280"/>
          </a:xfrm>
        </p:grpSpPr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6FDFFF59-4EC1-BE94-6B53-26BC2A062F02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id="{28FC2F13-151A-7533-43BB-2B0F3F4220D0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706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accent6"/>
                  </a:solidFill>
                </a:rPr>
                <a:t>Médico</a:t>
              </a:r>
            </a:p>
            <a:p>
              <a:pPr algn="ctr"/>
              <a:r>
                <a:rPr lang="pt-BR" sz="500" dirty="0">
                  <a:solidFill>
                    <a:schemeClr val="accent6"/>
                  </a:solidFill>
                </a:rPr>
                <a:t>Obstetra</a:t>
              </a:r>
            </a:p>
            <a:p>
              <a:pPr algn="ctr"/>
              <a:r>
                <a:rPr lang="pt-BR" sz="500" dirty="0">
                  <a:solidFill>
                    <a:schemeClr val="accent6"/>
                  </a:solidFill>
                </a:rPr>
                <a:t>Livre</a:t>
              </a:r>
            </a:p>
          </p:txBody>
        </p:sp>
      </p:grp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4BBD7351-4C6E-C238-AB2F-4401671ABFAC}"/>
              </a:ext>
            </a:extLst>
          </p:cNvPr>
          <p:cNvSpPr txBox="1"/>
          <p:nvPr/>
        </p:nvSpPr>
        <p:spPr>
          <a:xfrm>
            <a:off x="6061767" y="5253400"/>
            <a:ext cx="682516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/>
              <a:t>Consulta</a:t>
            </a:r>
            <a:endParaRPr lang="pt-BR" sz="900" dirty="0"/>
          </a:p>
        </p:txBody>
      </p:sp>
      <p:cxnSp>
        <p:nvCxnSpPr>
          <p:cNvPr id="115" name="Conector: Curvo 114">
            <a:extLst>
              <a:ext uri="{FF2B5EF4-FFF2-40B4-BE49-F238E27FC236}">
                <a16:creationId xmlns:a16="http://schemas.microsoft.com/office/drawing/2014/main" id="{D804C228-7D01-F06C-EFF7-FA7ED5AFF634}"/>
              </a:ext>
            </a:extLst>
          </p:cNvPr>
          <p:cNvCxnSpPr>
            <a:cxnSpLocks/>
          </p:cNvCxnSpPr>
          <p:nvPr/>
        </p:nvCxnSpPr>
        <p:spPr>
          <a:xfrm>
            <a:off x="6769343" y="5472131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: Curvo 122">
            <a:extLst>
              <a:ext uri="{FF2B5EF4-FFF2-40B4-BE49-F238E27FC236}">
                <a16:creationId xmlns:a16="http://schemas.microsoft.com/office/drawing/2014/main" id="{E2F7B31B-DE69-33FC-624D-EBF8CE52FA29}"/>
              </a:ext>
            </a:extLst>
          </p:cNvPr>
          <p:cNvCxnSpPr>
            <a:cxnSpLocks/>
          </p:cNvCxnSpPr>
          <p:nvPr/>
        </p:nvCxnSpPr>
        <p:spPr>
          <a:xfrm flipH="1" flipV="1">
            <a:off x="6027878" y="5520126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366849F4-2D00-06B9-C147-54948CF2D916}"/>
              </a:ext>
            </a:extLst>
          </p:cNvPr>
          <p:cNvCxnSpPr>
            <a:cxnSpLocks/>
            <a:stCxn id="106" idx="3"/>
          </p:cNvCxnSpPr>
          <p:nvPr/>
        </p:nvCxnSpPr>
        <p:spPr>
          <a:xfrm flipV="1">
            <a:off x="6744283" y="5353426"/>
            <a:ext cx="392761" cy="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CaixaDeTexto 134">
            <a:extLst>
              <a:ext uri="{FF2B5EF4-FFF2-40B4-BE49-F238E27FC236}">
                <a16:creationId xmlns:a16="http://schemas.microsoft.com/office/drawing/2014/main" id="{0A7A034B-FB8C-015A-BBD9-F31F935C6556}"/>
              </a:ext>
            </a:extLst>
          </p:cNvPr>
          <p:cNvSpPr txBox="1"/>
          <p:nvPr/>
        </p:nvSpPr>
        <p:spPr>
          <a:xfrm>
            <a:off x="6496620" y="4536037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A</a:t>
            </a:r>
          </a:p>
        </p:txBody>
      </p:sp>
      <p:cxnSp>
        <p:nvCxnSpPr>
          <p:cNvPr id="147" name="Conector: Curvo 146">
            <a:extLst>
              <a:ext uri="{FF2B5EF4-FFF2-40B4-BE49-F238E27FC236}">
                <a16:creationId xmlns:a16="http://schemas.microsoft.com/office/drawing/2014/main" id="{8D5C0314-506A-D3DE-E0A5-57A574E37E0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27734" y="4823050"/>
            <a:ext cx="733651" cy="330270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CaixaDeTexto 151">
            <a:extLst>
              <a:ext uri="{FF2B5EF4-FFF2-40B4-BE49-F238E27FC236}">
                <a16:creationId xmlns:a16="http://schemas.microsoft.com/office/drawing/2014/main" id="{3A316C2D-53DC-7468-7723-640E062934F9}"/>
              </a:ext>
            </a:extLst>
          </p:cNvPr>
          <p:cNvSpPr txBox="1"/>
          <p:nvPr/>
        </p:nvSpPr>
        <p:spPr>
          <a:xfrm>
            <a:off x="5479398" y="1405517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K</a:t>
            </a:r>
          </a:p>
        </p:txBody>
      </p:sp>
      <p:grpSp>
        <p:nvGrpSpPr>
          <p:cNvPr id="158" name="Agrupar 157">
            <a:extLst>
              <a:ext uri="{FF2B5EF4-FFF2-40B4-BE49-F238E27FC236}">
                <a16:creationId xmlns:a16="http://schemas.microsoft.com/office/drawing/2014/main" id="{22CB7AC6-4758-1842-5A2D-151D910BC14F}"/>
              </a:ext>
            </a:extLst>
          </p:cNvPr>
          <p:cNvGrpSpPr/>
          <p:nvPr/>
        </p:nvGrpSpPr>
        <p:grpSpPr>
          <a:xfrm>
            <a:off x="3434441" y="5082029"/>
            <a:ext cx="573593" cy="502229"/>
            <a:chOff x="4449493" y="2967335"/>
            <a:chExt cx="1253198" cy="1097280"/>
          </a:xfrm>
        </p:grpSpPr>
        <p:sp>
          <p:nvSpPr>
            <p:cNvPr id="159" name="Elipse 158">
              <a:extLst>
                <a:ext uri="{FF2B5EF4-FFF2-40B4-BE49-F238E27FC236}">
                  <a16:creationId xmlns:a16="http://schemas.microsoft.com/office/drawing/2014/main" id="{C8A80B4C-7DE8-4101-7813-DB4B858D90C2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160" name="CaixaDeTexto 159">
              <a:extLst>
                <a:ext uri="{FF2B5EF4-FFF2-40B4-BE49-F238E27FC236}">
                  <a16:creationId xmlns:a16="http://schemas.microsoft.com/office/drawing/2014/main" id="{8FB46C15-3DA8-1370-D3DA-EE90ED390ACE}"/>
                </a:ext>
              </a:extLst>
            </p:cNvPr>
            <p:cNvSpPr txBox="1"/>
            <p:nvPr/>
          </p:nvSpPr>
          <p:spPr>
            <a:xfrm>
              <a:off x="4449493" y="3178677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Triagem</a:t>
              </a:r>
            </a:p>
          </p:txBody>
        </p:sp>
      </p:grpSp>
      <p:cxnSp>
        <p:nvCxnSpPr>
          <p:cNvPr id="161" name="Conector de Seta Reta 160">
            <a:extLst>
              <a:ext uri="{FF2B5EF4-FFF2-40B4-BE49-F238E27FC236}">
                <a16:creationId xmlns:a16="http://schemas.microsoft.com/office/drawing/2014/main" id="{EEC5F7DD-47D0-3BAA-A65D-807D428DE9FA}"/>
              </a:ext>
            </a:extLst>
          </p:cNvPr>
          <p:cNvCxnSpPr>
            <a:cxnSpLocks/>
          </p:cNvCxnSpPr>
          <p:nvPr/>
        </p:nvCxnSpPr>
        <p:spPr>
          <a:xfrm>
            <a:off x="3972352" y="5332058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ector: Curvo 162">
            <a:extLst>
              <a:ext uri="{FF2B5EF4-FFF2-40B4-BE49-F238E27FC236}">
                <a16:creationId xmlns:a16="http://schemas.microsoft.com/office/drawing/2014/main" id="{2BE79914-4F95-967D-5AC9-C94D16158C74}"/>
              </a:ext>
            </a:extLst>
          </p:cNvPr>
          <p:cNvCxnSpPr>
            <a:endCxn id="4" idx="0"/>
          </p:cNvCxnSpPr>
          <p:nvPr/>
        </p:nvCxnSpPr>
        <p:spPr>
          <a:xfrm rot="10800000">
            <a:off x="415178" y="5061265"/>
            <a:ext cx="6721866" cy="292161"/>
          </a:xfrm>
          <a:prstGeom prst="curvedConnector4">
            <a:avLst>
              <a:gd name="adj1" fmla="val 5905"/>
              <a:gd name="adj2" fmla="val 42341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430DFE90-00A5-7425-126D-4F57E5889DD4}"/>
              </a:ext>
            </a:extLst>
          </p:cNvPr>
          <p:cNvGrpSpPr/>
          <p:nvPr/>
        </p:nvGrpSpPr>
        <p:grpSpPr>
          <a:xfrm>
            <a:off x="7442465" y="5071067"/>
            <a:ext cx="639729" cy="502229"/>
            <a:chOff x="4379847" y="2967335"/>
            <a:chExt cx="1397693" cy="1097280"/>
          </a:xfrm>
        </p:grpSpPr>
        <p:sp>
          <p:nvSpPr>
            <p:cNvPr id="167" name="Elipse 166">
              <a:extLst>
                <a:ext uri="{FF2B5EF4-FFF2-40B4-BE49-F238E27FC236}">
                  <a16:creationId xmlns:a16="http://schemas.microsoft.com/office/drawing/2014/main" id="{1C02B4AA-C8A1-C0FB-165C-6A338E4D7F69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168" name="CaixaDeTexto 167">
              <a:extLst>
                <a:ext uri="{FF2B5EF4-FFF2-40B4-BE49-F238E27FC236}">
                  <a16:creationId xmlns:a16="http://schemas.microsoft.com/office/drawing/2014/main" id="{AB121A05-9249-3484-BB05-F74E5E4316FC}"/>
                </a:ext>
              </a:extLst>
            </p:cNvPr>
            <p:cNvSpPr txBox="1"/>
            <p:nvPr/>
          </p:nvSpPr>
          <p:spPr>
            <a:xfrm>
              <a:off x="4379847" y="3146069"/>
              <a:ext cx="1397693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Observação</a:t>
              </a:r>
            </a:p>
          </p:txBody>
        </p:sp>
      </p:grp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142FB61C-7FD1-42A1-F1CB-E2496B0F9FC0}"/>
              </a:ext>
            </a:extLst>
          </p:cNvPr>
          <p:cNvCxnSpPr>
            <a:cxnSpLocks/>
          </p:cNvCxnSpPr>
          <p:nvPr/>
        </p:nvCxnSpPr>
        <p:spPr>
          <a:xfrm>
            <a:off x="8020719" y="532898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28786725-BDD3-5E93-3E97-E03D5F560076}"/>
              </a:ext>
            </a:extLst>
          </p:cNvPr>
          <p:cNvSpPr txBox="1"/>
          <p:nvPr/>
        </p:nvSpPr>
        <p:spPr>
          <a:xfrm>
            <a:off x="8252517" y="5098157"/>
            <a:ext cx="82521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800" dirty="0"/>
              <a:t>Exames</a:t>
            </a:r>
          </a:p>
          <a:p>
            <a:pPr algn="ctr"/>
            <a:r>
              <a:rPr lang="pt-BR" sz="800" dirty="0"/>
              <a:t>e/ou</a:t>
            </a:r>
          </a:p>
          <a:p>
            <a:pPr algn="ctr"/>
            <a:r>
              <a:rPr lang="pt-BR" sz="800" dirty="0"/>
              <a:t>Observação</a:t>
            </a:r>
            <a:endParaRPr lang="pt-BR" sz="500" dirty="0"/>
          </a:p>
        </p:txBody>
      </p: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86626DFC-DB4C-F23D-32DA-324F650B3502}"/>
              </a:ext>
            </a:extLst>
          </p:cNvPr>
          <p:cNvSpPr txBox="1"/>
          <p:nvPr/>
        </p:nvSpPr>
        <p:spPr>
          <a:xfrm>
            <a:off x="7159425" y="4641956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D</a:t>
            </a:r>
          </a:p>
        </p:txBody>
      </p:sp>
      <p:cxnSp>
        <p:nvCxnSpPr>
          <p:cNvPr id="180" name="Conector: Curvo 179">
            <a:extLst>
              <a:ext uri="{FF2B5EF4-FFF2-40B4-BE49-F238E27FC236}">
                <a16:creationId xmlns:a16="http://schemas.microsoft.com/office/drawing/2014/main" id="{9BF6F388-0C98-F077-1980-893D2570BCF2}"/>
              </a:ext>
            </a:extLst>
          </p:cNvPr>
          <p:cNvCxnSpPr>
            <a:cxnSpLocks/>
            <a:stCxn id="170" idx="3"/>
            <a:endCxn id="87" idx="1"/>
          </p:cNvCxnSpPr>
          <p:nvPr/>
        </p:nvCxnSpPr>
        <p:spPr>
          <a:xfrm flipH="1" flipV="1">
            <a:off x="5292058" y="5311885"/>
            <a:ext cx="3785671" cy="17105"/>
          </a:xfrm>
          <a:prstGeom prst="curvedConnector5">
            <a:avLst>
              <a:gd name="adj1" fmla="val -6877"/>
              <a:gd name="adj2" fmla="val -7745788"/>
              <a:gd name="adj3" fmla="val 10323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de Seta Reta 197">
            <a:extLst>
              <a:ext uri="{FF2B5EF4-FFF2-40B4-BE49-F238E27FC236}">
                <a16:creationId xmlns:a16="http://schemas.microsoft.com/office/drawing/2014/main" id="{87F2E622-6620-5D3B-33DE-BA2D79492CC2}"/>
              </a:ext>
            </a:extLst>
          </p:cNvPr>
          <p:cNvCxnSpPr>
            <a:cxnSpLocks/>
          </p:cNvCxnSpPr>
          <p:nvPr/>
        </p:nvCxnSpPr>
        <p:spPr>
          <a:xfrm flipV="1">
            <a:off x="7128578" y="5328824"/>
            <a:ext cx="349013" cy="246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ector de Seta Reta 222">
            <a:extLst>
              <a:ext uri="{FF2B5EF4-FFF2-40B4-BE49-F238E27FC236}">
                <a16:creationId xmlns:a16="http://schemas.microsoft.com/office/drawing/2014/main" id="{B1DBD524-ABBD-B975-95E0-3E2FE30F48F2}"/>
              </a:ext>
            </a:extLst>
          </p:cNvPr>
          <p:cNvCxnSpPr>
            <a:cxnSpLocks/>
            <a:stCxn id="34" idx="7"/>
          </p:cNvCxnSpPr>
          <p:nvPr/>
        </p:nvCxnSpPr>
        <p:spPr>
          <a:xfrm>
            <a:off x="3265230" y="1827984"/>
            <a:ext cx="281326" cy="96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CaixaDeTexto 225">
            <a:extLst>
              <a:ext uri="{FF2B5EF4-FFF2-40B4-BE49-F238E27FC236}">
                <a16:creationId xmlns:a16="http://schemas.microsoft.com/office/drawing/2014/main" id="{EB4CBBB5-EDF2-25EA-7A67-1F8DE27075D9}"/>
              </a:ext>
            </a:extLst>
          </p:cNvPr>
          <p:cNvSpPr txBox="1"/>
          <p:nvPr/>
        </p:nvSpPr>
        <p:spPr>
          <a:xfrm>
            <a:off x="6725229" y="4104841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C</a:t>
            </a:r>
          </a:p>
        </p:txBody>
      </p: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222C63DF-9B03-9687-062C-7F26E811A6AE}"/>
              </a:ext>
            </a:extLst>
          </p:cNvPr>
          <p:cNvGrpSpPr/>
          <p:nvPr/>
        </p:nvGrpSpPr>
        <p:grpSpPr>
          <a:xfrm>
            <a:off x="3479593" y="1575587"/>
            <a:ext cx="573593" cy="502229"/>
            <a:chOff x="4449493" y="2967335"/>
            <a:chExt cx="1253198" cy="1097280"/>
          </a:xfrm>
        </p:grpSpPr>
        <p:sp>
          <p:nvSpPr>
            <p:cNvPr id="206" name="Elipse 205">
              <a:extLst>
                <a:ext uri="{FF2B5EF4-FFF2-40B4-BE49-F238E27FC236}">
                  <a16:creationId xmlns:a16="http://schemas.microsoft.com/office/drawing/2014/main" id="{99C0F171-FEF0-C117-CFFF-C40FFF3B4662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07" name="CaixaDeTexto 206">
              <a:extLst>
                <a:ext uri="{FF2B5EF4-FFF2-40B4-BE49-F238E27FC236}">
                  <a16:creationId xmlns:a16="http://schemas.microsoft.com/office/drawing/2014/main" id="{D9630230-914A-F2EC-A041-C2F869CBC9B4}"/>
                </a:ext>
              </a:extLst>
            </p:cNvPr>
            <p:cNvSpPr txBox="1"/>
            <p:nvPr/>
          </p:nvSpPr>
          <p:spPr>
            <a:xfrm>
              <a:off x="4449493" y="3201371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Parto</a:t>
              </a:r>
            </a:p>
          </p:txBody>
        </p:sp>
      </p:grpSp>
      <p:sp>
        <p:nvSpPr>
          <p:cNvPr id="208" name="CaixaDeTexto 207">
            <a:extLst>
              <a:ext uri="{FF2B5EF4-FFF2-40B4-BE49-F238E27FC236}">
                <a16:creationId xmlns:a16="http://schemas.microsoft.com/office/drawing/2014/main" id="{614255BF-572E-F82A-D55E-630AFE32B2F4}"/>
              </a:ext>
            </a:extLst>
          </p:cNvPr>
          <p:cNvSpPr txBox="1"/>
          <p:nvPr/>
        </p:nvSpPr>
        <p:spPr>
          <a:xfrm>
            <a:off x="4247156" y="1618951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Parto</a:t>
            </a:r>
          </a:p>
          <a:p>
            <a:pPr algn="ctr"/>
            <a:endParaRPr lang="pt-BR" sz="700" dirty="0"/>
          </a:p>
        </p:txBody>
      </p:sp>
      <p:cxnSp>
        <p:nvCxnSpPr>
          <p:cNvPr id="209" name="Conector de Seta Reta 208">
            <a:extLst>
              <a:ext uri="{FF2B5EF4-FFF2-40B4-BE49-F238E27FC236}">
                <a16:creationId xmlns:a16="http://schemas.microsoft.com/office/drawing/2014/main" id="{1BB590E3-9FA2-A763-0EA7-3B8A2ECE2650}"/>
              </a:ext>
            </a:extLst>
          </p:cNvPr>
          <p:cNvCxnSpPr>
            <a:cxnSpLocks/>
          </p:cNvCxnSpPr>
          <p:nvPr/>
        </p:nvCxnSpPr>
        <p:spPr>
          <a:xfrm>
            <a:off x="4017504" y="1826702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7" name="Agrupar 226">
            <a:extLst>
              <a:ext uri="{FF2B5EF4-FFF2-40B4-BE49-F238E27FC236}">
                <a16:creationId xmlns:a16="http://schemas.microsoft.com/office/drawing/2014/main" id="{5407E52D-5CA4-730F-10BB-3F6DC3FF3907}"/>
              </a:ext>
            </a:extLst>
          </p:cNvPr>
          <p:cNvGrpSpPr/>
          <p:nvPr/>
        </p:nvGrpSpPr>
        <p:grpSpPr>
          <a:xfrm>
            <a:off x="4282838" y="777356"/>
            <a:ext cx="573593" cy="502229"/>
            <a:chOff x="4439869" y="2967335"/>
            <a:chExt cx="1253198" cy="1097280"/>
          </a:xfrm>
        </p:grpSpPr>
        <p:sp>
          <p:nvSpPr>
            <p:cNvPr id="228" name="Elipse 227">
              <a:extLst>
                <a:ext uri="{FF2B5EF4-FFF2-40B4-BE49-F238E27FC236}">
                  <a16:creationId xmlns:a16="http://schemas.microsoft.com/office/drawing/2014/main" id="{E25F5EA3-542D-2DC7-2D34-9F1EF29183B2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29" name="CaixaDeTexto 228">
              <a:extLst>
                <a:ext uri="{FF2B5EF4-FFF2-40B4-BE49-F238E27FC236}">
                  <a16:creationId xmlns:a16="http://schemas.microsoft.com/office/drawing/2014/main" id="{B14DBF49-4A1C-2702-D5A7-465C44BE1767}"/>
                </a:ext>
              </a:extLst>
            </p:cNvPr>
            <p:cNvSpPr txBox="1"/>
            <p:nvPr/>
          </p:nvSpPr>
          <p:spPr>
            <a:xfrm>
              <a:off x="4439869" y="3170198"/>
              <a:ext cx="1253198" cy="706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Equipe BO e Neo</a:t>
              </a:r>
            </a:p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Disponível</a:t>
              </a:r>
            </a:p>
          </p:txBody>
        </p:sp>
      </p:grpSp>
      <p:cxnSp>
        <p:nvCxnSpPr>
          <p:cNvPr id="230" name="Conector: Curvo 229">
            <a:extLst>
              <a:ext uri="{FF2B5EF4-FFF2-40B4-BE49-F238E27FC236}">
                <a16:creationId xmlns:a16="http://schemas.microsoft.com/office/drawing/2014/main" id="{8AFA7F26-1BC3-CB12-1854-61CE9441B8B0}"/>
              </a:ext>
            </a:extLst>
          </p:cNvPr>
          <p:cNvCxnSpPr>
            <a:cxnSpLocks/>
            <a:stCxn id="229" idx="1"/>
          </p:cNvCxnSpPr>
          <p:nvPr/>
        </p:nvCxnSpPr>
        <p:spPr>
          <a:xfrm rot="10800000" flipV="1">
            <a:off x="4172672" y="1031790"/>
            <a:ext cx="110166" cy="715784"/>
          </a:xfrm>
          <a:prstGeom prst="curvedConnector2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ector: Curvo 230">
            <a:extLst>
              <a:ext uri="{FF2B5EF4-FFF2-40B4-BE49-F238E27FC236}">
                <a16:creationId xmlns:a16="http://schemas.microsoft.com/office/drawing/2014/main" id="{0A35076A-5A4B-816A-1391-BB74B12762EC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14534" y="1257630"/>
            <a:ext cx="815209" cy="148980"/>
          </a:xfrm>
          <a:prstGeom prst="curvedConnector3">
            <a:avLst>
              <a:gd name="adj1" fmla="val 99760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2" name="Agrupar 231">
            <a:extLst>
              <a:ext uri="{FF2B5EF4-FFF2-40B4-BE49-F238E27FC236}">
                <a16:creationId xmlns:a16="http://schemas.microsoft.com/office/drawing/2014/main" id="{DBDBF7BD-4A59-C157-FA01-26F3A0F50C53}"/>
              </a:ext>
            </a:extLst>
          </p:cNvPr>
          <p:cNvGrpSpPr/>
          <p:nvPr/>
        </p:nvGrpSpPr>
        <p:grpSpPr>
          <a:xfrm>
            <a:off x="5409835" y="826843"/>
            <a:ext cx="573593" cy="502229"/>
            <a:chOff x="4449493" y="2967335"/>
            <a:chExt cx="1253198" cy="1097280"/>
          </a:xfrm>
        </p:grpSpPr>
        <p:sp>
          <p:nvSpPr>
            <p:cNvPr id="233" name="Elipse 232">
              <a:extLst>
                <a:ext uri="{FF2B5EF4-FFF2-40B4-BE49-F238E27FC236}">
                  <a16:creationId xmlns:a16="http://schemas.microsoft.com/office/drawing/2014/main" id="{787C6382-48A0-3076-2127-80C2B3157941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34" name="CaixaDeTexto 233">
              <a:extLst>
                <a:ext uri="{FF2B5EF4-FFF2-40B4-BE49-F238E27FC236}">
                  <a16:creationId xmlns:a16="http://schemas.microsoft.com/office/drawing/2014/main" id="{DEB9EFA2-2EDD-A550-9740-A1DCFDF084DC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706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/>
                <a:t>Aguarda</a:t>
              </a:r>
            </a:p>
            <a:p>
              <a:pPr algn="ctr"/>
              <a:r>
                <a:rPr lang="pt-BR" sz="500" dirty="0"/>
                <a:t>Procedimento</a:t>
              </a:r>
            </a:p>
            <a:p>
              <a:pPr algn="ctr"/>
              <a:r>
                <a:rPr lang="pt-BR" sz="500" dirty="0"/>
                <a:t>Especial</a:t>
              </a:r>
            </a:p>
          </p:txBody>
        </p:sp>
      </p:grpSp>
      <p:sp>
        <p:nvSpPr>
          <p:cNvPr id="235" name="CaixaDeTexto 234">
            <a:extLst>
              <a:ext uri="{FF2B5EF4-FFF2-40B4-BE49-F238E27FC236}">
                <a16:creationId xmlns:a16="http://schemas.microsoft.com/office/drawing/2014/main" id="{07CBC50B-81C8-C43F-CCF2-B8D13BAEAE8E}"/>
              </a:ext>
            </a:extLst>
          </p:cNvPr>
          <p:cNvSpPr txBox="1"/>
          <p:nvPr/>
        </p:nvSpPr>
        <p:spPr>
          <a:xfrm>
            <a:off x="6179779" y="924068"/>
            <a:ext cx="76177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/>
              <a:t>Procedimento Especial</a:t>
            </a:r>
          </a:p>
        </p:txBody>
      </p:sp>
      <p:cxnSp>
        <p:nvCxnSpPr>
          <p:cNvPr id="236" name="Conector de Seta Reta 235">
            <a:extLst>
              <a:ext uri="{FF2B5EF4-FFF2-40B4-BE49-F238E27FC236}">
                <a16:creationId xmlns:a16="http://schemas.microsoft.com/office/drawing/2014/main" id="{686DC14F-04B9-9A6B-D833-77D1DB02BD34}"/>
              </a:ext>
            </a:extLst>
          </p:cNvPr>
          <p:cNvCxnSpPr>
            <a:cxnSpLocks/>
          </p:cNvCxnSpPr>
          <p:nvPr/>
        </p:nvCxnSpPr>
        <p:spPr>
          <a:xfrm>
            <a:off x="5947746" y="107795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ector: Curvo 239">
            <a:extLst>
              <a:ext uri="{FF2B5EF4-FFF2-40B4-BE49-F238E27FC236}">
                <a16:creationId xmlns:a16="http://schemas.microsoft.com/office/drawing/2014/main" id="{29AB38EC-0F90-D031-0254-4359AF4B081B}"/>
              </a:ext>
            </a:extLst>
          </p:cNvPr>
          <p:cNvCxnSpPr>
            <a:stCxn id="208" idx="3"/>
            <a:endCxn id="234" idx="1"/>
          </p:cNvCxnSpPr>
          <p:nvPr/>
        </p:nvCxnSpPr>
        <p:spPr>
          <a:xfrm flipV="1">
            <a:off x="4929672" y="1089257"/>
            <a:ext cx="480163" cy="737443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1" name="Agrupar 240">
            <a:extLst>
              <a:ext uri="{FF2B5EF4-FFF2-40B4-BE49-F238E27FC236}">
                <a16:creationId xmlns:a16="http://schemas.microsoft.com/office/drawing/2014/main" id="{45E729C5-1A34-C885-ABBE-3E3D440B698F}"/>
              </a:ext>
            </a:extLst>
          </p:cNvPr>
          <p:cNvGrpSpPr/>
          <p:nvPr/>
        </p:nvGrpSpPr>
        <p:grpSpPr>
          <a:xfrm>
            <a:off x="7379675" y="837338"/>
            <a:ext cx="573593" cy="502229"/>
            <a:chOff x="4449493" y="2967335"/>
            <a:chExt cx="1253198" cy="1097280"/>
          </a:xfrm>
        </p:grpSpPr>
        <p:sp>
          <p:nvSpPr>
            <p:cNvPr id="242" name="Elipse 241">
              <a:extLst>
                <a:ext uri="{FF2B5EF4-FFF2-40B4-BE49-F238E27FC236}">
                  <a16:creationId xmlns:a16="http://schemas.microsoft.com/office/drawing/2014/main" id="{0E197DD7-77AE-FE9C-C3E2-847055DE67E2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43" name="CaixaDeTexto 242">
              <a:extLst>
                <a:ext uri="{FF2B5EF4-FFF2-40B4-BE49-F238E27FC236}">
                  <a16:creationId xmlns:a16="http://schemas.microsoft.com/office/drawing/2014/main" id="{BDFC6DBF-82B4-FD43-DFF8-068F4263FAB1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Alojamento</a:t>
              </a:r>
            </a:p>
          </p:txBody>
        </p:sp>
      </p:grpSp>
      <p:sp>
        <p:nvSpPr>
          <p:cNvPr id="247" name="CaixaDeTexto 246">
            <a:extLst>
              <a:ext uri="{FF2B5EF4-FFF2-40B4-BE49-F238E27FC236}">
                <a16:creationId xmlns:a16="http://schemas.microsoft.com/office/drawing/2014/main" id="{45CC8E40-C85E-5E56-E739-5C9A2CF5A6ED}"/>
              </a:ext>
            </a:extLst>
          </p:cNvPr>
          <p:cNvSpPr txBox="1"/>
          <p:nvPr/>
        </p:nvSpPr>
        <p:spPr>
          <a:xfrm>
            <a:off x="5131887" y="1031790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F</a:t>
            </a:r>
          </a:p>
        </p:txBody>
      </p:sp>
      <p:sp>
        <p:nvSpPr>
          <p:cNvPr id="248" name="CaixaDeTexto 247">
            <a:extLst>
              <a:ext uri="{FF2B5EF4-FFF2-40B4-BE49-F238E27FC236}">
                <a16:creationId xmlns:a16="http://schemas.microsoft.com/office/drawing/2014/main" id="{A573FC1A-334C-9F89-26F9-783703A5ED0D}"/>
              </a:ext>
            </a:extLst>
          </p:cNvPr>
          <p:cNvSpPr txBox="1"/>
          <p:nvPr/>
        </p:nvSpPr>
        <p:spPr>
          <a:xfrm>
            <a:off x="5317145" y="1671524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G</a:t>
            </a:r>
          </a:p>
        </p:txBody>
      </p:sp>
      <p:grpSp>
        <p:nvGrpSpPr>
          <p:cNvPr id="249" name="Agrupar 248">
            <a:extLst>
              <a:ext uri="{FF2B5EF4-FFF2-40B4-BE49-F238E27FC236}">
                <a16:creationId xmlns:a16="http://schemas.microsoft.com/office/drawing/2014/main" id="{6FEA6C1C-5B33-43B4-D0A7-7C0B58755D3E}"/>
              </a:ext>
            </a:extLst>
          </p:cNvPr>
          <p:cNvGrpSpPr/>
          <p:nvPr/>
        </p:nvGrpSpPr>
        <p:grpSpPr>
          <a:xfrm>
            <a:off x="6272287" y="65536"/>
            <a:ext cx="573593" cy="502229"/>
            <a:chOff x="4449493" y="2967335"/>
            <a:chExt cx="1253198" cy="1097280"/>
          </a:xfrm>
        </p:grpSpPr>
        <p:sp>
          <p:nvSpPr>
            <p:cNvPr id="250" name="Elipse 249">
              <a:extLst>
                <a:ext uri="{FF2B5EF4-FFF2-40B4-BE49-F238E27FC236}">
                  <a16:creationId xmlns:a16="http://schemas.microsoft.com/office/drawing/2014/main" id="{A9D3C3BF-9F92-C1F9-54F3-3F0A18BF5804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51" name="CaixaDeTexto 250">
              <a:extLst>
                <a:ext uri="{FF2B5EF4-FFF2-40B4-BE49-F238E27FC236}">
                  <a16:creationId xmlns:a16="http://schemas.microsoft.com/office/drawing/2014/main" id="{BD4E5D8E-EC75-28EC-B68C-A09D07E28C2F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Técnicos BO</a:t>
              </a:r>
            </a:p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Disponível</a:t>
              </a:r>
            </a:p>
          </p:txBody>
        </p:sp>
      </p:grpSp>
      <p:cxnSp>
        <p:nvCxnSpPr>
          <p:cNvPr id="252" name="Conector: Curvo 251">
            <a:extLst>
              <a:ext uri="{FF2B5EF4-FFF2-40B4-BE49-F238E27FC236}">
                <a16:creationId xmlns:a16="http://schemas.microsoft.com/office/drawing/2014/main" id="{4A4D8ADE-DB8C-6186-6BA4-930F012E80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22121" y="317075"/>
            <a:ext cx="132062" cy="653460"/>
          </a:xfrm>
          <a:prstGeom prst="curvedConnector2">
            <a:avLst/>
          </a:prstGeom>
          <a:ln w="1905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ector: Curvo 252">
            <a:extLst>
              <a:ext uri="{FF2B5EF4-FFF2-40B4-BE49-F238E27FC236}">
                <a16:creationId xmlns:a16="http://schemas.microsoft.com/office/drawing/2014/main" id="{FB59CA07-078B-CC56-AD74-B14CC99ED384}"/>
              </a:ext>
            </a:extLst>
          </p:cNvPr>
          <p:cNvCxnSpPr>
            <a:cxnSpLocks/>
            <a:endCxn id="251" idx="3"/>
          </p:cNvCxnSpPr>
          <p:nvPr/>
        </p:nvCxnSpPr>
        <p:spPr>
          <a:xfrm rot="16200000" flipV="1">
            <a:off x="6585020" y="580883"/>
            <a:ext cx="687891" cy="166169"/>
          </a:xfrm>
          <a:prstGeom prst="curvedConnector2">
            <a:avLst/>
          </a:prstGeom>
          <a:ln w="1905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ector de Seta Reta 260">
            <a:extLst>
              <a:ext uri="{FF2B5EF4-FFF2-40B4-BE49-F238E27FC236}">
                <a16:creationId xmlns:a16="http://schemas.microsoft.com/office/drawing/2014/main" id="{D8C773A4-0F11-8A03-4D0E-3EB6DCEF8FB6}"/>
              </a:ext>
            </a:extLst>
          </p:cNvPr>
          <p:cNvCxnSpPr>
            <a:cxnSpLocks/>
            <a:stCxn id="235" idx="3"/>
            <a:endCxn id="243" idx="1"/>
          </p:cNvCxnSpPr>
          <p:nvPr/>
        </p:nvCxnSpPr>
        <p:spPr>
          <a:xfrm flipV="1">
            <a:off x="6941557" y="1076669"/>
            <a:ext cx="438118" cy="12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ector: Curvo 263">
            <a:extLst>
              <a:ext uri="{FF2B5EF4-FFF2-40B4-BE49-F238E27FC236}">
                <a16:creationId xmlns:a16="http://schemas.microsoft.com/office/drawing/2014/main" id="{8369AA57-CBBF-A3F1-ABA6-6EC2E0F2F2E5}"/>
              </a:ext>
            </a:extLst>
          </p:cNvPr>
          <p:cNvCxnSpPr>
            <a:stCxn id="208" idx="3"/>
            <a:endCxn id="243" idx="1"/>
          </p:cNvCxnSpPr>
          <p:nvPr/>
        </p:nvCxnSpPr>
        <p:spPr>
          <a:xfrm flipV="1">
            <a:off x="4929672" y="1076669"/>
            <a:ext cx="2450003" cy="750031"/>
          </a:xfrm>
          <a:prstGeom prst="curvedConnector3">
            <a:avLst>
              <a:gd name="adj1" fmla="val 9924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6" name="Agrupar 265">
            <a:extLst>
              <a:ext uri="{FF2B5EF4-FFF2-40B4-BE49-F238E27FC236}">
                <a16:creationId xmlns:a16="http://schemas.microsoft.com/office/drawing/2014/main" id="{FF6B8395-651A-DD65-6F47-F331540CE5BE}"/>
              </a:ext>
            </a:extLst>
          </p:cNvPr>
          <p:cNvGrpSpPr/>
          <p:nvPr/>
        </p:nvGrpSpPr>
        <p:grpSpPr>
          <a:xfrm>
            <a:off x="5068173" y="2060372"/>
            <a:ext cx="573593" cy="502229"/>
            <a:chOff x="4448610" y="2967335"/>
            <a:chExt cx="1253198" cy="1097280"/>
          </a:xfrm>
        </p:grpSpPr>
        <p:sp>
          <p:nvSpPr>
            <p:cNvPr id="267" name="Elipse 266">
              <a:extLst>
                <a:ext uri="{FF2B5EF4-FFF2-40B4-BE49-F238E27FC236}">
                  <a16:creationId xmlns:a16="http://schemas.microsoft.com/office/drawing/2014/main" id="{45887B76-CA80-74A0-BEE2-3C8F03B4C694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68" name="CaixaDeTexto 267">
              <a:extLst>
                <a:ext uri="{FF2B5EF4-FFF2-40B4-BE49-F238E27FC236}">
                  <a16:creationId xmlns:a16="http://schemas.microsoft.com/office/drawing/2014/main" id="{30ABB679-63E2-0644-843C-41176DA9E8EA}"/>
                </a:ext>
              </a:extLst>
            </p:cNvPr>
            <p:cNvSpPr txBox="1"/>
            <p:nvPr/>
          </p:nvSpPr>
          <p:spPr>
            <a:xfrm>
              <a:off x="4448610" y="3088894"/>
              <a:ext cx="1253198" cy="907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Cuidados</a:t>
              </a:r>
            </a:p>
            <a:p>
              <a:pPr algn="ctr"/>
              <a:r>
                <a:rPr lang="pt-BR" sz="700" dirty="0"/>
                <a:t> ao RN</a:t>
              </a:r>
            </a:p>
          </p:txBody>
        </p:sp>
      </p:grpSp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4CFEA0BE-C083-6AE8-E366-B2B2A6A13851}"/>
              </a:ext>
            </a:extLst>
          </p:cNvPr>
          <p:cNvSpPr txBox="1"/>
          <p:nvPr/>
        </p:nvSpPr>
        <p:spPr>
          <a:xfrm>
            <a:off x="5836140" y="2049875"/>
            <a:ext cx="68251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Cuidados ao RN</a:t>
            </a:r>
          </a:p>
          <a:p>
            <a:pPr algn="ctr"/>
            <a:endParaRPr lang="pt-BR" sz="700" dirty="0"/>
          </a:p>
        </p:txBody>
      </p:sp>
      <p:cxnSp>
        <p:nvCxnSpPr>
          <p:cNvPr id="270" name="Conector de Seta Reta 269">
            <a:extLst>
              <a:ext uri="{FF2B5EF4-FFF2-40B4-BE49-F238E27FC236}">
                <a16:creationId xmlns:a16="http://schemas.microsoft.com/office/drawing/2014/main" id="{D7C31665-4CCA-DD24-75B7-1BE698BB06A5}"/>
              </a:ext>
            </a:extLst>
          </p:cNvPr>
          <p:cNvCxnSpPr>
            <a:cxnSpLocks/>
          </p:cNvCxnSpPr>
          <p:nvPr/>
        </p:nvCxnSpPr>
        <p:spPr>
          <a:xfrm>
            <a:off x="5606488" y="2311487"/>
            <a:ext cx="23179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ector de Seta Reta 271">
            <a:extLst>
              <a:ext uri="{FF2B5EF4-FFF2-40B4-BE49-F238E27FC236}">
                <a16:creationId xmlns:a16="http://schemas.microsoft.com/office/drawing/2014/main" id="{2EDCF862-102E-2B4E-E2C9-D31FCD276ED5}"/>
              </a:ext>
            </a:extLst>
          </p:cNvPr>
          <p:cNvCxnSpPr>
            <a:cxnSpLocks/>
            <a:stCxn id="208" idx="2"/>
            <a:endCxn id="268" idx="1"/>
          </p:cNvCxnSpPr>
          <p:nvPr/>
        </p:nvCxnSpPr>
        <p:spPr>
          <a:xfrm>
            <a:off x="4588414" y="2034449"/>
            <a:ext cx="479759" cy="28931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4" name="Agrupar 273">
            <a:extLst>
              <a:ext uri="{FF2B5EF4-FFF2-40B4-BE49-F238E27FC236}">
                <a16:creationId xmlns:a16="http://schemas.microsoft.com/office/drawing/2014/main" id="{71113C42-C29C-ADFA-9270-CE5C5162BFB7}"/>
              </a:ext>
            </a:extLst>
          </p:cNvPr>
          <p:cNvGrpSpPr/>
          <p:nvPr/>
        </p:nvGrpSpPr>
        <p:grpSpPr>
          <a:xfrm>
            <a:off x="4348545" y="2749856"/>
            <a:ext cx="573593" cy="502229"/>
            <a:chOff x="4448610" y="2967335"/>
            <a:chExt cx="1253198" cy="1097280"/>
          </a:xfrm>
        </p:grpSpPr>
        <p:sp>
          <p:nvSpPr>
            <p:cNvPr id="275" name="Elipse 274">
              <a:extLst>
                <a:ext uri="{FF2B5EF4-FFF2-40B4-BE49-F238E27FC236}">
                  <a16:creationId xmlns:a16="http://schemas.microsoft.com/office/drawing/2014/main" id="{F4360C8F-AE76-6B61-5195-1964BEA1F653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76" name="CaixaDeTexto 275">
              <a:extLst>
                <a:ext uri="{FF2B5EF4-FFF2-40B4-BE49-F238E27FC236}">
                  <a16:creationId xmlns:a16="http://schemas.microsoft.com/office/drawing/2014/main" id="{2EE436BE-A43A-F73C-8443-2A4C952D6B0C}"/>
                </a:ext>
              </a:extLst>
            </p:cNvPr>
            <p:cNvSpPr txBox="1"/>
            <p:nvPr/>
          </p:nvSpPr>
          <p:spPr>
            <a:xfrm>
              <a:off x="4448610" y="3088896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UCP</a:t>
              </a:r>
            </a:p>
          </p:txBody>
        </p:sp>
      </p:grpSp>
      <p:sp>
        <p:nvSpPr>
          <p:cNvPr id="277" name="CaixaDeTexto 276">
            <a:extLst>
              <a:ext uri="{FF2B5EF4-FFF2-40B4-BE49-F238E27FC236}">
                <a16:creationId xmlns:a16="http://schemas.microsoft.com/office/drawing/2014/main" id="{6EDBC879-9D2D-48BE-CE17-D35EBAD2EE8E}"/>
              </a:ext>
            </a:extLst>
          </p:cNvPr>
          <p:cNvSpPr txBox="1"/>
          <p:nvPr/>
        </p:nvSpPr>
        <p:spPr>
          <a:xfrm>
            <a:off x="5116512" y="2793220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UCP</a:t>
            </a:r>
          </a:p>
          <a:p>
            <a:pPr algn="ctr"/>
            <a:endParaRPr lang="pt-BR" sz="700" dirty="0"/>
          </a:p>
        </p:txBody>
      </p:sp>
      <p:cxnSp>
        <p:nvCxnSpPr>
          <p:cNvPr id="278" name="Conector de Seta Reta 277">
            <a:extLst>
              <a:ext uri="{FF2B5EF4-FFF2-40B4-BE49-F238E27FC236}">
                <a16:creationId xmlns:a16="http://schemas.microsoft.com/office/drawing/2014/main" id="{C1A98261-4664-303C-F9F6-98BCD8498E4E}"/>
              </a:ext>
            </a:extLst>
          </p:cNvPr>
          <p:cNvCxnSpPr>
            <a:cxnSpLocks/>
          </p:cNvCxnSpPr>
          <p:nvPr/>
        </p:nvCxnSpPr>
        <p:spPr>
          <a:xfrm>
            <a:off x="4886860" y="3000971"/>
            <a:ext cx="23179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ector: Curvo 279">
            <a:extLst>
              <a:ext uri="{FF2B5EF4-FFF2-40B4-BE49-F238E27FC236}">
                <a16:creationId xmlns:a16="http://schemas.microsoft.com/office/drawing/2014/main" id="{40D14603-4702-9544-B011-5DF0BDF41BE9}"/>
              </a:ext>
            </a:extLst>
          </p:cNvPr>
          <p:cNvCxnSpPr>
            <a:stCxn id="208" idx="2"/>
            <a:endCxn id="276" idx="1"/>
          </p:cNvCxnSpPr>
          <p:nvPr/>
        </p:nvCxnSpPr>
        <p:spPr>
          <a:xfrm rot="5400000">
            <a:off x="4006013" y="2376982"/>
            <a:ext cx="924935" cy="239869"/>
          </a:xfrm>
          <a:prstGeom prst="curvedConnector4">
            <a:avLst>
              <a:gd name="adj1" fmla="val 41681"/>
              <a:gd name="adj2" fmla="val 195302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CaixaDeTexto 284">
            <a:extLst>
              <a:ext uri="{FF2B5EF4-FFF2-40B4-BE49-F238E27FC236}">
                <a16:creationId xmlns:a16="http://schemas.microsoft.com/office/drawing/2014/main" id="{EAF2FE0C-EB58-6BB2-54AE-952A4D4B20D3}"/>
              </a:ext>
            </a:extLst>
          </p:cNvPr>
          <p:cNvSpPr txBox="1"/>
          <p:nvPr/>
        </p:nvSpPr>
        <p:spPr>
          <a:xfrm>
            <a:off x="4701617" y="2115761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H</a:t>
            </a:r>
          </a:p>
        </p:txBody>
      </p:sp>
      <p:sp>
        <p:nvSpPr>
          <p:cNvPr id="286" name="CaixaDeTexto 285">
            <a:extLst>
              <a:ext uri="{FF2B5EF4-FFF2-40B4-BE49-F238E27FC236}">
                <a16:creationId xmlns:a16="http://schemas.microsoft.com/office/drawing/2014/main" id="{15B98126-0DD8-84D9-83A4-109DB22CCAF7}"/>
              </a:ext>
            </a:extLst>
          </p:cNvPr>
          <p:cNvSpPr txBox="1"/>
          <p:nvPr/>
        </p:nvSpPr>
        <p:spPr>
          <a:xfrm>
            <a:off x="3946159" y="2506779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I</a:t>
            </a:r>
          </a:p>
        </p:txBody>
      </p:sp>
      <p:grpSp>
        <p:nvGrpSpPr>
          <p:cNvPr id="287" name="Agrupar 286">
            <a:extLst>
              <a:ext uri="{FF2B5EF4-FFF2-40B4-BE49-F238E27FC236}">
                <a16:creationId xmlns:a16="http://schemas.microsoft.com/office/drawing/2014/main" id="{3CA50E5C-41C2-7ED0-9622-7869B0273288}"/>
              </a:ext>
            </a:extLst>
          </p:cNvPr>
          <p:cNvGrpSpPr/>
          <p:nvPr/>
        </p:nvGrpSpPr>
        <p:grpSpPr>
          <a:xfrm>
            <a:off x="7360196" y="1713559"/>
            <a:ext cx="573593" cy="502229"/>
            <a:chOff x="4449493" y="2967335"/>
            <a:chExt cx="1253198" cy="1097280"/>
          </a:xfrm>
        </p:grpSpPr>
        <p:sp>
          <p:nvSpPr>
            <p:cNvPr id="288" name="Elipse 287">
              <a:extLst>
                <a:ext uri="{FF2B5EF4-FFF2-40B4-BE49-F238E27FC236}">
                  <a16:creationId xmlns:a16="http://schemas.microsoft.com/office/drawing/2014/main" id="{689A9B25-E159-519C-ABAF-F9E4649FE4E8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89" name="CaixaDeTexto 288">
              <a:extLst>
                <a:ext uri="{FF2B5EF4-FFF2-40B4-BE49-F238E27FC236}">
                  <a16:creationId xmlns:a16="http://schemas.microsoft.com/office/drawing/2014/main" id="{9ECC5E93-8701-1010-4BA7-B709FD6B4779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Alojamento</a:t>
              </a:r>
            </a:p>
          </p:txBody>
        </p:sp>
      </p:grpSp>
      <p:cxnSp>
        <p:nvCxnSpPr>
          <p:cNvPr id="291" name="Conector: Curvo 290">
            <a:extLst>
              <a:ext uri="{FF2B5EF4-FFF2-40B4-BE49-F238E27FC236}">
                <a16:creationId xmlns:a16="http://schemas.microsoft.com/office/drawing/2014/main" id="{291BA616-9D0A-FDFF-CC1B-5011538265B3}"/>
              </a:ext>
            </a:extLst>
          </p:cNvPr>
          <p:cNvCxnSpPr>
            <a:stCxn id="269" idx="3"/>
            <a:endCxn id="289" idx="1"/>
          </p:cNvCxnSpPr>
          <p:nvPr/>
        </p:nvCxnSpPr>
        <p:spPr>
          <a:xfrm flipV="1">
            <a:off x="6518656" y="1952890"/>
            <a:ext cx="841540" cy="358595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nector: Curvo 292">
            <a:extLst>
              <a:ext uri="{FF2B5EF4-FFF2-40B4-BE49-F238E27FC236}">
                <a16:creationId xmlns:a16="http://schemas.microsoft.com/office/drawing/2014/main" id="{8180058C-4602-2182-AD90-A49BAAD0BB5D}"/>
              </a:ext>
            </a:extLst>
          </p:cNvPr>
          <p:cNvCxnSpPr>
            <a:stCxn id="277" idx="3"/>
            <a:endCxn id="289" idx="1"/>
          </p:cNvCxnSpPr>
          <p:nvPr/>
        </p:nvCxnSpPr>
        <p:spPr>
          <a:xfrm flipV="1">
            <a:off x="5799028" y="1952890"/>
            <a:ext cx="1561168" cy="1048079"/>
          </a:xfrm>
          <a:prstGeom prst="curvedConnector3">
            <a:avLst>
              <a:gd name="adj1" fmla="val 95556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Agrupar 294">
            <a:extLst>
              <a:ext uri="{FF2B5EF4-FFF2-40B4-BE49-F238E27FC236}">
                <a16:creationId xmlns:a16="http://schemas.microsoft.com/office/drawing/2014/main" id="{015A7B05-28F2-23B7-57BC-B450D4DE6281}"/>
              </a:ext>
            </a:extLst>
          </p:cNvPr>
          <p:cNvGrpSpPr/>
          <p:nvPr/>
        </p:nvGrpSpPr>
        <p:grpSpPr>
          <a:xfrm>
            <a:off x="5194952" y="3477297"/>
            <a:ext cx="573593" cy="502229"/>
            <a:chOff x="4452032" y="2967335"/>
            <a:chExt cx="1253198" cy="1097280"/>
          </a:xfrm>
        </p:grpSpPr>
        <p:sp>
          <p:nvSpPr>
            <p:cNvPr id="296" name="Elipse 295">
              <a:extLst>
                <a:ext uri="{FF2B5EF4-FFF2-40B4-BE49-F238E27FC236}">
                  <a16:creationId xmlns:a16="http://schemas.microsoft.com/office/drawing/2014/main" id="{75727C0B-9E2C-CF72-00F4-2EE6FB38E7D5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97" name="CaixaDeTexto 296">
              <a:extLst>
                <a:ext uri="{FF2B5EF4-FFF2-40B4-BE49-F238E27FC236}">
                  <a16:creationId xmlns:a16="http://schemas.microsoft.com/office/drawing/2014/main" id="{3B9EEA34-11C2-CAB1-F1D4-ABFA5CEBD42A}"/>
                </a:ext>
              </a:extLst>
            </p:cNvPr>
            <p:cNvSpPr txBox="1"/>
            <p:nvPr/>
          </p:nvSpPr>
          <p:spPr>
            <a:xfrm>
              <a:off x="4452032" y="3173943"/>
              <a:ext cx="1253198" cy="706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C00000"/>
                  </a:solidFill>
                </a:rPr>
                <a:t>Leito/Equipe Neo</a:t>
              </a:r>
            </a:p>
            <a:p>
              <a:pPr algn="ctr"/>
              <a:r>
                <a:rPr lang="pt-BR" sz="500" dirty="0">
                  <a:solidFill>
                    <a:srgbClr val="C00000"/>
                  </a:solidFill>
                </a:rPr>
                <a:t>Disponível</a:t>
              </a:r>
            </a:p>
          </p:txBody>
        </p:sp>
      </p:grpSp>
      <p:cxnSp>
        <p:nvCxnSpPr>
          <p:cNvPr id="298" name="Conector: Curvo 297">
            <a:extLst>
              <a:ext uri="{FF2B5EF4-FFF2-40B4-BE49-F238E27FC236}">
                <a16:creationId xmlns:a16="http://schemas.microsoft.com/office/drawing/2014/main" id="{1BB8E84E-15CB-8A73-82D1-9EFFC58DA824}"/>
              </a:ext>
            </a:extLst>
          </p:cNvPr>
          <p:cNvCxnSpPr>
            <a:cxnSpLocks/>
          </p:cNvCxnSpPr>
          <p:nvPr/>
        </p:nvCxnSpPr>
        <p:spPr>
          <a:xfrm>
            <a:off x="5810404" y="3055370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Conector: Curvo 298">
            <a:extLst>
              <a:ext uri="{FF2B5EF4-FFF2-40B4-BE49-F238E27FC236}">
                <a16:creationId xmlns:a16="http://schemas.microsoft.com/office/drawing/2014/main" id="{9CC891EB-B9EF-A1F9-A61A-16EEE7AC6F23}"/>
              </a:ext>
            </a:extLst>
          </p:cNvPr>
          <p:cNvCxnSpPr>
            <a:cxnSpLocks/>
          </p:cNvCxnSpPr>
          <p:nvPr/>
        </p:nvCxnSpPr>
        <p:spPr>
          <a:xfrm flipH="1" flipV="1">
            <a:off x="5082623" y="3102822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CaixaDeTexto 299">
            <a:extLst>
              <a:ext uri="{FF2B5EF4-FFF2-40B4-BE49-F238E27FC236}">
                <a16:creationId xmlns:a16="http://schemas.microsoft.com/office/drawing/2014/main" id="{443E1D5A-FE00-9C01-3A94-AAAC6B103327}"/>
              </a:ext>
            </a:extLst>
          </p:cNvPr>
          <p:cNvSpPr txBox="1"/>
          <p:nvPr/>
        </p:nvSpPr>
        <p:spPr>
          <a:xfrm>
            <a:off x="8315951" y="924068"/>
            <a:ext cx="76177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/>
              <a:t>Alojamento</a:t>
            </a:r>
          </a:p>
          <a:p>
            <a:pPr algn="ctr"/>
            <a:r>
              <a:rPr lang="pt-BR" sz="700" dirty="0"/>
              <a:t>Conjunto</a:t>
            </a:r>
          </a:p>
        </p:txBody>
      </p:sp>
      <p:cxnSp>
        <p:nvCxnSpPr>
          <p:cNvPr id="302" name="Conector de Seta Reta 301">
            <a:extLst>
              <a:ext uri="{FF2B5EF4-FFF2-40B4-BE49-F238E27FC236}">
                <a16:creationId xmlns:a16="http://schemas.microsoft.com/office/drawing/2014/main" id="{97CC7A71-BB83-813C-9CE7-1B5A72537263}"/>
              </a:ext>
            </a:extLst>
          </p:cNvPr>
          <p:cNvCxnSpPr>
            <a:cxnSpLocks/>
          </p:cNvCxnSpPr>
          <p:nvPr/>
        </p:nvCxnSpPr>
        <p:spPr>
          <a:xfrm>
            <a:off x="7924748" y="1076669"/>
            <a:ext cx="362683" cy="12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onector: Curvo 303">
            <a:extLst>
              <a:ext uri="{FF2B5EF4-FFF2-40B4-BE49-F238E27FC236}">
                <a16:creationId xmlns:a16="http://schemas.microsoft.com/office/drawing/2014/main" id="{6D627452-2633-3720-D976-AE9D9ABC268A}"/>
              </a:ext>
            </a:extLst>
          </p:cNvPr>
          <p:cNvCxnSpPr>
            <a:stCxn id="289" idx="3"/>
            <a:endCxn id="300" idx="1"/>
          </p:cNvCxnSpPr>
          <p:nvPr/>
        </p:nvCxnSpPr>
        <p:spPr>
          <a:xfrm flipV="1">
            <a:off x="7933789" y="1077957"/>
            <a:ext cx="382162" cy="874933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6" name="Agrupar 305">
            <a:extLst>
              <a:ext uri="{FF2B5EF4-FFF2-40B4-BE49-F238E27FC236}">
                <a16:creationId xmlns:a16="http://schemas.microsoft.com/office/drawing/2014/main" id="{F281A9C7-BC34-90C8-FC8B-3A19FC5E8227}"/>
              </a:ext>
            </a:extLst>
          </p:cNvPr>
          <p:cNvGrpSpPr/>
          <p:nvPr/>
        </p:nvGrpSpPr>
        <p:grpSpPr>
          <a:xfrm>
            <a:off x="6708888" y="3189670"/>
            <a:ext cx="606323" cy="502229"/>
            <a:chOff x="616635" y="2771335"/>
            <a:chExt cx="1324707" cy="1097280"/>
          </a:xfrm>
        </p:grpSpPr>
        <p:sp>
          <p:nvSpPr>
            <p:cNvPr id="307" name="Elipse 306">
              <a:extLst>
                <a:ext uri="{FF2B5EF4-FFF2-40B4-BE49-F238E27FC236}">
                  <a16:creationId xmlns:a16="http://schemas.microsoft.com/office/drawing/2014/main" id="{113538FE-52F9-0A66-BD50-F50F2AAC63E6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308" name="Elipse 307">
              <a:extLst>
                <a:ext uri="{FF2B5EF4-FFF2-40B4-BE49-F238E27FC236}">
                  <a16:creationId xmlns:a16="http://schemas.microsoft.com/office/drawing/2014/main" id="{BA11FD0D-EDBA-40E1-BB16-0862C9C763D5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09" name="CaixaDeTexto 308">
              <a:extLst>
                <a:ext uri="{FF2B5EF4-FFF2-40B4-BE49-F238E27FC236}">
                  <a16:creationId xmlns:a16="http://schemas.microsoft.com/office/drawing/2014/main" id="{B36AF4D8-4300-4118-5711-FB9B0433B4AD}"/>
                </a:ext>
              </a:extLst>
            </p:cNvPr>
            <p:cNvSpPr txBox="1"/>
            <p:nvPr/>
          </p:nvSpPr>
          <p:spPr>
            <a:xfrm>
              <a:off x="886945" y="3098296"/>
              <a:ext cx="1011513" cy="437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Óbito</a:t>
              </a:r>
            </a:p>
          </p:txBody>
        </p:sp>
      </p:grpSp>
      <p:cxnSp>
        <p:nvCxnSpPr>
          <p:cNvPr id="311" name="Conector: Curvo 310">
            <a:extLst>
              <a:ext uri="{FF2B5EF4-FFF2-40B4-BE49-F238E27FC236}">
                <a16:creationId xmlns:a16="http://schemas.microsoft.com/office/drawing/2014/main" id="{96CF7FAC-6792-4ADB-BF1C-A21EDF308241}"/>
              </a:ext>
            </a:extLst>
          </p:cNvPr>
          <p:cNvCxnSpPr>
            <a:stCxn id="277" idx="3"/>
            <a:endCxn id="307" idx="2"/>
          </p:cNvCxnSpPr>
          <p:nvPr/>
        </p:nvCxnSpPr>
        <p:spPr>
          <a:xfrm>
            <a:off x="5799028" y="3000969"/>
            <a:ext cx="909860" cy="439816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CaixaDeTexto 311">
            <a:extLst>
              <a:ext uri="{FF2B5EF4-FFF2-40B4-BE49-F238E27FC236}">
                <a16:creationId xmlns:a16="http://schemas.microsoft.com/office/drawing/2014/main" id="{2DADDC2F-C8CD-2B89-C9F7-EC3C87FE35D3}"/>
              </a:ext>
            </a:extLst>
          </p:cNvPr>
          <p:cNvSpPr txBox="1"/>
          <p:nvPr/>
        </p:nvSpPr>
        <p:spPr>
          <a:xfrm>
            <a:off x="6294944" y="2791012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I</a:t>
            </a:r>
          </a:p>
        </p:txBody>
      </p:sp>
      <p:sp>
        <p:nvSpPr>
          <p:cNvPr id="313" name="CaixaDeTexto 312">
            <a:extLst>
              <a:ext uri="{FF2B5EF4-FFF2-40B4-BE49-F238E27FC236}">
                <a16:creationId xmlns:a16="http://schemas.microsoft.com/office/drawing/2014/main" id="{7387DB32-5D17-6701-B00A-A3F517F08DF7}"/>
              </a:ext>
            </a:extLst>
          </p:cNvPr>
          <p:cNvSpPr txBox="1"/>
          <p:nvPr/>
        </p:nvSpPr>
        <p:spPr>
          <a:xfrm>
            <a:off x="6227188" y="3062521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J</a:t>
            </a:r>
          </a:p>
        </p:txBody>
      </p:sp>
      <p:grpSp>
        <p:nvGrpSpPr>
          <p:cNvPr id="314" name="Agrupar 313">
            <a:extLst>
              <a:ext uri="{FF2B5EF4-FFF2-40B4-BE49-F238E27FC236}">
                <a16:creationId xmlns:a16="http://schemas.microsoft.com/office/drawing/2014/main" id="{9CBBB9D2-3D47-808E-A428-318D0D94DCFC}"/>
              </a:ext>
            </a:extLst>
          </p:cNvPr>
          <p:cNvGrpSpPr/>
          <p:nvPr/>
        </p:nvGrpSpPr>
        <p:grpSpPr>
          <a:xfrm>
            <a:off x="8396927" y="83766"/>
            <a:ext cx="573593" cy="502229"/>
            <a:chOff x="4449493" y="2967335"/>
            <a:chExt cx="1253198" cy="1097280"/>
          </a:xfrm>
        </p:grpSpPr>
        <p:sp>
          <p:nvSpPr>
            <p:cNvPr id="315" name="Elipse 314">
              <a:extLst>
                <a:ext uri="{FF2B5EF4-FFF2-40B4-BE49-F238E27FC236}">
                  <a16:creationId xmlns:a16="http://schemas.microsoft.com/office/drawing/2014/main" id="{94DA2590-7641-49C4-0704-481449B2FD20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16" name="CaixaDeTexto 315">
              <a:extLst>
                <a:ext uri="{FF2B5EF4-FFF2-40B4-BE49-F238E27FC236}">
                  <a16:creationId xmlns:a16="http://schemas.microsoft.com/office/drawing/2014/main" id="{BE4C5880-BACE-2597-323B-43DC22AEF485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  <a:prstDash val="sysDot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bg1">
                      <a:lumMod val="65000"/>
                    </a:schemeClr>
                  </a:solidFill>
                </a:rPr>
                <a:t>Alojamento</a:t>
              </a:r>
            </a:p>
            <a:p>
              <a:pPr algn="ctr"/>
              <a:r>
                <a:rPr lang="pt-BR" sz="500" dirty="0">
                  <a:solidFill>
                    <a:schemeClr val="bg1">
                      <a:lumMod val="65000"/>
                    </a:schemeClr>
                  </a:solidFill>
                </a:rPr>
                <a:t>Disponível</a:t>
              </a:r>
            </a:p>
          </p:txBody>
        </p:sp>
      </p:grpSp>
      <p:cxnSp>
        <p:nvCxnSpPr>
          <p:cNvPr id="317" name="Conector: Curvo 316">
            <a:extLst>
              <a:ext uri="{FF2B5EF4-FFF2-40B4-BE49-F238E27FC236}">
                <a16:creationId xmlns:a16="http://schemas.microsoft.com/office/drawing/2014/main" id="{FA57AEB0-D38F-D83E-5BB5-A08FD85AB25D}"/>
              </a:ext>
            </a:extLst>
          </p:cNvPr>
          <p:cNvCxnSpPr>
            <a:cxnSpLocks/>
          </p:cNvCxnSpPr>
          <p:nvPr/>
        </p:nvCxnSpPr>
        <p:spPr>
          <a:xfrm rot="10800000" flipV="1">
            <a:off x="8246761" y="335305"/>
            <a:ext cx="132062" cy="653460"/>
          </a:xfrm>
          <a:prstGeom prst="curvedConnector2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Conector: Curvo 317">
            <a:extLst>
              <a:ext uri="{FF2B5EF4-FFF2-40B4-BE49-F238E27FC236}">
                <a16:creationId xmlns:a16="http://schemas.microsoft.com/office/drawing/2014/main" id="{D2181DB7-F9A5-1790-1076-772AB0B267A4}"/>
              </a:ext>
            </a:extLst>
          </p:cNvPr>
          <p:cNvCxnSpPr>
            <a:cxnSpLocks/>
            <a:endCxn id="316" idx="3"/>
          </p:cNvCxnSpPr>
          <p:nvPr/>
        </p:nvCxnSpPr>
        <p:spPr>
          <a:xfrm rot="16200000" flipV="1">
            <a:off x="8709660" y="599113"/>
            <a:ext cx="687891" cy="166169"/>
          </a:xfrm>
          <a:prstGeom prst="curvedConnector2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9" name="Agrupar 318">
            <a:extLst>
              <a:ext uri="{FF2B5EF4-FFF2-40B4-BE49-F238E27FC236}">
                <a16:creationId xmlns:a16="http://schemas.microsoft.com/office/drawing/2014/main" id="{DCA190E2-8CD2-C39B-6EB7-864586397631}"/>
              </a:ext>
            </a:extLst>
          </p:cNvPr>
          <p:cNvGrpSpPr/>
          <p:nvPr/>
        </p:nvGrpSpPr>
        <p:grpSpPr>
          <a:xfrm>
            <a:off x="7935531" y="2435115"/>
            <a:ext cx="573593" cy="502229"/>
            <a:chOff x="4448608" y="2967335"/>
            <a:chExt cx="1253197" cy="1097280"/>
          </a:xfrm>
        </p:grpSpPr>
        <p:sp>
          <p:nvSpPr>
            <p:cNvPr id="320" name="Elipse 319">
              <a:extLst>
                <a:ext uri="{FF2B5EF4-FFF2-40B4-BE49-F238E27FC236}">
                  <a16:creationId xmlns:a16="http://schemas.microsoft.com/office/drawing/2014/main" id="{59E9ADED-428D-9169-9B3C-AA178CEB43F8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21" name="CaixaDeTexto 320">
              <a:extLst>
                <a:ext uri="{FF2B5EF4-FFF2-40B4-BE49-F238E27FC236}">
                  <a16:creationId xmlns:a16="http://schemas.microsoft.com/office/drawing/2014/main" id="{A7EA3EE4-B8BC-01C4-6097-9CB6B1AE5D3C}"/>
                </a:ext>
              </a:extLst>
            </p:cNvPr>
            <p:cNvSpPr txBox="1"/>
            <p:nvPr/>
          </p:nvSpPr>
          <p:spPr>
            <a:xfrm>
              <a:off x="4448608" y="3088896"/>
              <a:ext cx="1253197" cy="907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Testes</a:t>
              </a:r>
            </a:p>
            <a:p>
              <a:pPr algn="ctr"/>
              <a:r>
                <a:rPr lang="pt-BR" sz="700" dirty="0"/>
                <a:t>Neonatais</a:t>
              </a:r>
            </a:p>
          </p:txBody>
        </p:sp>
      </p:grpSp>
      <p:sp>
        <p:nvSpPr>
          <p:cNvPr id="322" name="CaixaDeTexto 321">
            <a:extLst>
              <a:ext uri="{FF2B5EF4-FFF2-40B4-BE49-F238E27FC236}">
                <a16:creationId xmlns:a16="http://schemas.microsoft.com/office/drawing/2014/main" id="{CD9A9A04-B886-1E48-5C0D-8E68C9E28AD5}"/>
              </a:ext>
            </a:extLst>
          </p:cNvPr>
          <p:cNvSpPr txBox="1"/>
          <p:nvPr/>
        </p:nvSpPr>
        <p:spPr>
          <a:xfrm>
            <a:off x="8703498" y="2424618"/>
            <a:ext cx="68251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Testes Neonatais</a:t>
            </a:r>
          </a:p>
          <a:p>
            <a:pPr algn="ctr"/>
            <a:endParaRPr lang="pt-BR" sz="700" dirty="0"/>
          </a:p>
        </p:txBody>
      </p:sp>
      <p:cxnSp>
        <p:nvCxnSpPr>
          <p:cNvPr id="323" name="Conector de Seta Reta 322">
            <a:extLst>
              <a:ext uri="{FF2B5EF4-FFF2-40B4-BE49-F238E27FC236}">
                <a16:creationId xmlns:a16="http://schemas.microsoft.com/office/drawing/2014/main" id="{50DD9CF4-09DC-B8BE-E91E-7C15DFA86A0D}"/>
              </a:ext>
            </a:extLst>
          </p:cNvPr>
          <p:cNvCxnSpPr>
            <a:cxnSpLocks/>
          </p:cNvCxnSpPr>
          <p:nvPr/>
        </p:nvCxnSpPr>
        <p:spPr>
          <a:xfrm>
            <a:off x="8473846" y="2686230"/>
            <a:ext cx="23179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4" name="Agrupar 323">
            <a:extLst>
              <a:ext uri="{FF2B5EF4-FFF2-40B4-BE49-F238E27FC236}">
                <a16:creationId xmlns:a16="http://schemas.microsoft.com/office/drawing/2014/main" id="{BBCBFA75-D90E-ACDD-6D1D-AD15849148C5}"/>
              </a:ext>
            </a:extLst>
          </p:cNvPr>
          <p:cNvGrpSpPr/>
          <p:nvPr/>
        </p:nvGrpSpPr>
        <p:grpSpPr>
          <a:xfrm>
            <a:off x="9352047" y="853405"/>
            <a:ext cx="573593" cy="502229"/>
            <a:chOff x="4449493" y="2967335"/>
            <a:chExt cx="1253198" cy="1097280"/>
          </a:xfrm>
        </p:grpSpPr>
        <p:sp>
          <p:nvSpPr>
            <p:cNvPr id="325" name="Elipse 324">
              <a:extLst>
                <a:ext uri="{FF2B5EF4-FFF2-40B4-BE49-F238E27FC236}">
                  <a16:creationId xmlns:a16="http://schemas.microsoft.com/office/drawing/2014/main" id="{54BD4826-9F3C-7716-0DF0-15633E459BEA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26" name="CaixaDeTexto 325">
              <a:extLst>
                <a:ext uri="{FF2B5EF4-FFF2-40B4-BE49-F238E27FC236}">
                  <a16:creationId xmlns:a16="http://schemas.microsoft.com/office/drawing/2014/main" id="{15EFF839-0D83-4C76-039D-6A513460F8E5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Alta</a:t>
              </a:r>
            </a:p>
          </p:txBody>
        </p:sp>
      </p:grpSp>
      <p:grpSp>
        <p:nvGrpSpPr>
          <p:cNvPr id="327" name="Agrupar 326">
            <a:extLst>
              <a:ext uri="{FF2B5EF4-FFF2-40B4-BE49-F238E27FC236}">
                <a16:creationId xmlns:a16="http://schemas.microsoft.com/office/drawing/2014/main" id="{CD93B47D-E62F-2EA7-4C7D-92F87C9A82A0}"/>
              </a:ext>
            </a:extLst>
          </p:cNvPr>
          <p:cNvGrpSpPr/>
          <p:nvPr/>
        </p:nvGrpSpPr>
        <p:grpSpPr>
          <a:xfrm>
            <a:off x="9356760" y="1644708"/>
            <a:ext cx="573593" cy="502229"/>
            <a:chOff x="4449493" y="2967335"/>
            <a:chExt cx="1253198" cy="1097280"/>
          </a:xfrm>
        </p:grpSpPr>
        <p:sp>
          <p:nvSpPr>
            <p:cNvPr id="328" name="Elipse 327">
              <a:extLst>
                <a:ext uri="{FF2B5EF4-FFF2-40B4-BE49-F238E27FC236}">
                  <a16:creationId xmlns:a16="http://schemas.microsoft.com/office/drawing/2014/main" id="{90DFC96B-4ADE-8ABB-F2C1-0C12FD6D251D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29" name="CaixaDeTexto 328">
              <a:extLst>
                <a:ext uri="{FF2B5EF4-FFF2-40B4-BE49-F238E27FC236}">
                  <a16:creationId xmlns:a16="http://schemas.microsoft.com/office/drawing/2014/main" id="{FE67A868-3277-1E24-2C85-8C25CEA56C00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Alta</a:t>
              </a:r>
            </a:p>
          </p:txBody>
        </p:sp>
      </p:grpSp>
      <p:cxnSp>
        <p:nvCxnSpPr>
          <p:cNvPr id="331" name="Conector: Curvo 330">
            <a:extLst>
              <a:ext uri="{FF2B5EF4-FFF2-40B4-BE49-F238E27FC236}">
                <a16:creationId xmlns:a16="http://schemas.microsoft.com/office/drawing/2014/main" id="{7198609D-C073-CFE2-B385-C7FDB78728BF}"/>
              </a:ext>
            </a:extLst>
          </p:cNvPr>
          <p:cNvCxnSpPr>
            <a:stCxn id="300" idx="2"/>
            <a:endCxn id="321" idx="1"/>
          </p:cNvCxnSpPr>
          <p:nvPr/>
        </p:nvCxnSpPr>
        <p:spPr>
          <a:xfrm rot="5400000">
            <a:off x="7582857" y="1584520"/>
            <a:ext cx="1466658" cy="761309"/>
          </a:xfrm>
          <a:prstGeom prst="curvedConnector4">
            <a:avLst>
              <a:gd name="adj1" fmla="val 42918"/>
              <a:gd name="adj2" fmla="val 130027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Conector: Curvo 335">
            <a:extLst>
              <a:ext uri="{FF2B5EF4-FFF2-40B4-BE49-F238E27FC236}">
                <a16:creationId xmlns:a16="http://schemas.microsoft.com/office/drawing/2014/main" id="{081FD3B3-39DE-FA89-9638-3AB9B386B140}"/>
              </a:ext>
            </a:extLst>
          </p:cNvPr>
          <p:cNvCxnSpPr>
            <a:stCxn id="322" idx="3"/>
            <a:endCxn id="328" idx="4"/>
          </p:cNvCxnSpPr>
          <p:nvPr/>
        </p:nvCxnSpPr>
        <p:spPr>
          <a:xfrm flipV="1">
            <a:off x="9386014" y="2146937"/>
            <a:ext cx="257543" cy="539291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ector: Curvo 337">
            <a:extLst>
              <a:ext uri="{FF2B5EF4-FFF2-40B4-BE49-F238E27FC236}">
                <a16:creationId xmlns:a16="http://schemas.microsoft.com/office/drawing/2014/main" id="{42C93675-B0ED-92A1-4B28-3A7C7262B4B9}"/>
              </a:ext>
            </a:extLst>
          </p:cNvPr>
          <p:cNvCxnSpPr>
            <a:cxnSpLocks/>
          </p:cNvCxnSpPr>
          <p:nvPr/>
        </p:nvCxnSpPr>
        <p:spPr>
          <a:xfrm>
            <a:off x="9085349" y="1077957"/>
            <a:ext cx="274318" cy="14779"/>
          </a:xfrm>
          <a:prstGeom prst="curvedConnector3">
            <a:avLst>
              <a:gd name="adj1" fmla="val 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CaixaDeTexto 339">
            <a:extLst>
              <a:ext uri="{FF2B5EF4-FFF2-40B4-BE49-F238E27FC236}">
                <a16:creationId xmlns:a16="http://schemas.microsoft.com/office/drawing/2014/main" id="{C912050D-E5E0-AEB6-4004-D82030CB3DA8}"/>
              </a:ext>
            </a:extLst>
          </p:cNvPr>
          <p:cNvSpPr txBox="1"/>
          <p:nvPr/>
        </p:nvSpPr>
        <p:spPr>
          <a:xfrm>
            <a:off x="10379719" y="1351656"/>
            <a:ext cx="761778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/>
              <a:t>Alta Médica</a:t>
            </a:r>
          </a:p>
        </p:txBody>
      </p:sp>
      <p:cxnSp>
        <p:nvCxnSpPr>
          <p:cNvPr id="342" name="Conector: Curvo 341">
            <a:extLst>
              <a:ext uri="{FF2B5EF4-FFF2-40B4-BE49-F238E27FC236}">
                <a16:creationId xmlns:a16="http://schemas.microsoft.com/office/drawing/2014/main" id="{25B55845-CDD4-7B83-2737-8BD2B604C032}"/>
              </a:ext>
            </a:extLst>
          </p:cNvPr>
          <p:cNvCxnSpPr>
            <a:stCxn id="329" idx="3"/>
          </p:cNvCxnSpPr>
          <p:nvPr/>
        </p:nvCxnSpPr>
        <p:spPr>
          <a:xfrm flipV="1">
            <a:off x="9930353" y="1515423"/>
            <a:ext cx="406587" cy="368616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onector: Curvo 343">
            <a:extLst>
              <a:ext uri="{FF2B5EF4-FFF2-40B4-BE49-F238E27FC236}">
                <a16:creationId xmlns:a16="http://schemas.microsoft.com/office/drawing/2014/main" id="{89B6550A-61A0-5406-424E-70AB48AEDFB7}"/>
              </a:ext>
            </a:extLst>
          </p:cNvPr>
          <p:cNvCxnSpPr>
            <a:stCxn id="326" idx="3"/>
            <a:endCxn id="340" idx="1"/>
          </p:cNvCxnSpPr>
          <p:nvPr/>
        </p:nvCxnSpPr>
        <p:spPr>
          <a:xfrm>
            <a:off x="9925640" y="1092736"/>
            <a:ext cx="454079" cy="358948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5" name="Agrupar 344">
            <a:extLst>
              <a:ext uri="{FF2B5EF4-FFF2-40B4-BE49-F238E27FC236}">
                <a16:creationId xmlns:a16="http://schemas.microsoft.com/office/drawing/2014/main" id="{89D41010-6852-EE1C-309F-8C8586E01CF7}"/>
              </a:ext>
            </a:extLst>
          </p:cNvPr>
          <p:cNvGrpSpPr/>
          <p:nvPr/>
        </p:nvGrpSpPr>
        <p:grpSpPr>
          <a:xfrm>
            <a:off x="11525708" y="1200569"/>
            <a:ext cx="606323" cy="502229"/>
            <a:chOff x="616635" y="2771335"/>
            <a:chExt cx="1324707" cy="1097280"/>
          </a:xfrm>
        </p:grpSpPr>
        <p:sp>
          <p:nvSpPr>
            <p:cNvPr id="346" name="Elipse 345">
              <a:extLst>
                <a:ext uri="{FF2B5EF4-FFF2-40B4-BE49-F238E27FC236}">
                  <a16:creationId xmlns:a16="http://schemas.microsoft.com/office/drawing/2014/main" id="{83CB2F18-3DC1-1A23-205B-0A725A64EAC7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347" name="Elipse 346">
              <a:extLst>
                <a:ext uri="{FF2B5EF4-FFF2-40B4-BE49-F238E27FC236}">
                  <a16:creationId xmlns:a16="http://schemas.microsoft.com/office/drawing/2014/main" id="{697C0F39-46C5-69AA-C676-6ACF6C800AB7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48" name="CaixaDeTexto 347">
              <a:extLst>
                <a:ext uri="{FF2B5EF4-FFF2-40B4-BE49-F238E27FC236}">
                  <a16:creationId xmlns:a16="http://schemas.microsoft.com/office/drawing/2014/main" id="{006C0468-82C1-B0C6-6B99-9CC218C35DD1}"/>
                </a:ext>
              </a:extLst>
            </p:cNvPr>
            <p:cNvSpPr txBox="1"/>
            <p:nvPr/>
          </p:nvSpPr>
          <p:spPr>
            <a:xfrm>
              <a:off x="886945" y="3098296"/>
              <a:ext cx="1011513" cy="437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Rua</a:t>
              </a:r>
            </a:p>
          </p:txBody>
        </p:sp>
      </p:grpSp>
      <p:cxnSp>
        <p:nvCxnSpPr>
          <p:cNvPr id="350" name="Conector de Seta Reta 349">
            <a:extLst>
              <a:ext uri="{FF2B5EF4-FFF2-40B4-BE49-F238E27FC236}">
                <a16:creationId xmlns:a16="http://schemas.microsoft.com/office/drawing/2014/main" id="{656463FA-5EE0-ADE2-55CC-B88548606FF5}"/>
              </a:ext>
            </a:extLst>
          </p:cNvPr>
          <p:cNvCxnSpPr>
            <a:stCxn id="340" idx="3"/>
            <a:endCxn id="346" idx="2"/>
          </p:cNvCxnSpPr>
          <p:nvPr/>
        </p:nvCxnSpPr>
        <p:spPr>
          <a:xfrm>
            <a:off x="11141497" y="1451684"/>
            <a:ext cx="3842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onector: Curvo 354">
            <a:extLst>
              <a:ext uri="{FF2B5EF4-FFF2-40B4-BE49-F238E27FC236}">
                <a16:creationId xmlns:a16="http://schemas.microsoft.com/office/drawing/2014/main" id="{E9F55F2F-D047-B85E-B241-713406538117}"/>
              </a:ext>
            </a:extLst>
          </p:cNvPr>
          <p:cNvCxnSpPr>
            <a:cxnSpLocks/>
            <a:stCxn id="340" idx="3"/>
            <a:endCxn id="346" idx="3"/>
          </p:cNvCxnSpPr>
          <p:nvPr/>
        </p:nvCxnSpPr>
        <p:spPr>
          <a:xfrm>
            <a:off x="11141497" y="1451684"/>
            <a:ext cx="457761" cy="177564"/>
          </a:xfrm>
          <a:prstGeom prst="curvedConnector4">
            <a:avLst>
              <a:gd name="adj1" fmla="val 41966"/>
              <a:gd name="adj2" fmla="val 228742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1" name="Agrupar 360">
            <a:extLst>
              <a:ext uri="{FF2B5EF4-FFF2-40B4-BE49-F238E27FC236}">
                <a16:creationId xmlns:a16="http://schemas.microsoft.com/office/drawing/2014/main" id="{DF26C0DF-6B27-075E-D782-DE7B1308B5EF}"/>
              </a:ext>
            </a:extLst>
          </p:cNvPr>
          <p:cNvGrpSpPr/>
          <p:nvPr/>
        </p:nvGrpSpPr>
        <p:grpSpPr>
          <a:xfrm>
            <a:off x="7479403" y="4368981"/>
            <a:ext cx="606323" cy="502229"/>
            <a:chOff x="616635" y="2771335"/>
            <a:chExt cx="1324707" cy="1097280"/>
          </a:xfrm>
        </p:grpSpPr>
        <p:sp>
          <p:nvSpPr>
            <p:cNvPr id="362" name="Elipse 361">
              <a:extLst>
                <a:ext uri="{FF2B5EF4-FFF2-40B4-BE49-F238E27FC236}">
                  <a16:creationId xmlns:a16="http://schemas.microsoft.com/office/drawing/2014/main" id="{C0E2082B-9350-A67C-8499-C6AD993A6A20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363" name="Elipse 362">
              <a:extLst>
                <a:ext uri="{FF2B5EF4-FFF2-40B4-BE49-F238E27FC236}">
                  <a16:creationId xmlns:a16="http://schemas.microsoft.com/office/drawing/2014/main" id="{6F2B1C63-D34E-6FAB-FA96-FFF533930B0E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64" name="CaixaDeTexto 363">
              <a:extLst>
                <a:ext uri="{FF2B5EF4-FFF2-40B4-BE49-F238E27FC236}">
                  <a16:creationId xmlns:a16="http://schemas.microsoft.com/office/drawing/2014/main" id="{CFE767CD-3E85-317B-1C20-DF73F659A56C}"/>
                </a:ext>
              </a:extLst>
            </p:cNvPr>
            <p:cNvSpPr txBox="1"/>
            <p:nvPr/>
          </p:nvSpPr>
          <p:spPr>
            <a:xfrm>
              <a:off x="886945" y="3098296"/>
              <a:ext cx="1011513" cy="437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pt-BR" sz="700" dirty="0"/>
            </a:p>
          </p:txBody>
        </p:sp>
      </p:grpSp>
      <p:grpSp>
        <p:nvGrpSpPr>
          <p:cNvPr id="371" name="Agrupar 370">
            <a:extLst>
              <a:ext uri="{FF2B5EF4-FFF2-40B4-BE49-F238E27FC236}">
                <a16:creationId xmlns:a16="http://schemas.microsoft.com/office/drawing/2014/main" id="{5C3212C8-9A7C-983E-2082-F016622A175E}"/>
              </a:ext>
            </a:extLst>
          </p:cNvPr>
          <p:cNvGrpSpPr/>
          <p:nvPr/>
        </p:nvGrpSpPr>
        <p:grpSpPr>
          <a:xfrm>
            <a:off x="95103" y="362376"/>
            <a:ext cx="2119098" cy="923330"/>
            <a:chOff x="415177" y="362376"/>
            <a:chExt cx="2119098" cy="923330"/>
          </a:xfrm>
        </p:grpSpPr>
        <p:sp>
          <p:nvSpPr>
            <p:cNvPr id="367" name="CaixaDeTexto 366">
              <a:extLst>
                <a:ext uri="{FF2B5EF4-FFF2-40B4-BE49-F238E27FC236}">
                  <a16:creationId xmlns:a16="http://schemas.microsoft.com/office/drawing/2014/main" id="{7CAED163-39D4-1BDA-D5A5-4EFB0E433306}"/>
                </a:ext>
              </a:extLst>
            </p:cNvPr>
            <p:cNvSpPr txBox="1"/>
            <p:nvPr/>
          </p:nvSpPr>
          <p:spPr>
            <a:xfrm>
              <a:off x="415177" y="362376"/>
              <a:ext cx="163638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/>
                <a:t>Entidades:</a:t>
              </a:r>
            </a:p>
            <a:p>
              <a:r>
                <a:rPr lang="pt-BR" dirty="0"/>
                <a:t>Gestante</a:t>
              </a:r>
            </a:p>
            <a:p>
              <a:r>
                <a:rPr lang="pt-BR" dirty="0"/>
                <a:t>Recém-nascido</a:t>
              </a:r>
            </a:p>
          </p:txBody>
        </p:sp>
        <p:cxnSp>
          <p:nvCxnSpPr>
            <p:cNvPr id="369" name="Conector reto 368">
              <a:extLst>
                <a:ext uri="{FF2B5EF4-FFF2-40B4-BE49-F238E27FC236}">
                  <a16:creationId xmlns:a16="http://schemas.microsoft.com/office/drawing/2014/main" id="{44080968-6483-73C4-41EF-55CC5520C282}"/>
                </a:ext>
              </a:extLst>
            </p:cNvPr>
            <p:cNvCxnSpPr/>
            <p:nvPr/>
          </p:nvCxnSpPr>
          <p:spPr>
            <a:xfrm>
              <a:off x="1458271" y="870208"/>
              <a:ext cx="51832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Conector reto 369">
              <a:extLst>
                <a:ext uri="{FF2B5EF4-FFF2-40B4-BE49-F238E27FC236}">
                  <a16:creationId xmlns:a16="http://schemas.microsoft.com/office/drawing/2014/main" id="{2DD4A8D2-8D30-5EBF-AF15-711AE6B15187}"/>
                </a:ext>
              </a:extLst>
            </p:cNvPr>
            <p:cNvCxnSpPr/>
            <p:nvPr/>
          </p:nvCxnSpPr>
          <p:spPr>
            <a:xfrm>
              <a:off x="2015954" y="1116538"/>
              <a:ext cx="518321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3" name="CaixaDeTexto 372">
            <a:extLst>
              <a:ext uri="{FF2B5EF4-FFF2-40B4-BE49-F238E27FC236}">
                <a16:creationId xmlns:a16="http://schemas.microsoft.com/office/drawing/2014/main" id="{DD41B517-A1E7-1CD3-591A-2AAFF133E9CB}"/>
              </a:ext>
            </a:extLst>
          </p:cNvPr>
          <p:cNvSpPr txBox="1"/>
          <p:nvPr/>
        </p:nvSpPr>
        <p:spPr>
          <a:xfrm>
            <a:off x="95102" y="1501288"/>
            <a:ext cx="28647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Pontos de Atribuição:</a:t>
            </a:r>
          </a:p>
          <a:p>
            <a:pPr marL="342900" indent="-342900">
              <a:buAutoNum type="arabicParenR"/>
            </a:pPr>
            <a:r>
              <a:rPr lang="pt-BR" dirty="0"/>
              <a:t>Classificação Risco</a:t>
            </a:r>
          </a:p>
          <a:p>
            <a:pPr marL="342900" indent="-342900">
              <a:buAutoNum type="arabicParenR"/>
            </a:pPr>
            <a:r>
              <a:rPr lang="pt-BR" dirty="0"/>
              <a:t>Contador de óbitos</a:t>
            </a:r>
          </a:p>
        </p:txBody>
      </p:sp>
      <p:sp>
        <p:nvSpPr>
          <p:cNvPr id="376" name="Elipse 375">
            <a:extLst>
              <a:ext uri="{FF2B5EF4-FFF2-40B4-BE49-F238E27FC236}">
                <a16:creationId xmlns:a16="http://schemas.microsoft.com/office/drawing/2014/main" id="{6B0F3410-67FB-87D8-3F2A-2142FA59A180}"/>
              </a:ext>
            </a:extLst>
          </p:cNvPr>
          <p:cNvSpPr/>
          <p:nvPr/>
        </p:nvSpPr>
        <p:spPr>
          <a:xfrm>
            <a:off x="6452227" y="3374312"/>
            <a:ext cx="74582" cy="745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/>
          </a:p>
        </p:txBody>
      </p:sp>
      <p:sp>
        <p:nvSpPr>
          <p:cNvPr id="377" name="CaixaDeTexto 376">
            <a:extLst>
              <a:ext uri="{FF2B5EF4-FFF2-40B4-BE49-F238E27FC236}">
                <a16:creationId xmlns:a16="http://schemas.microsoft.com/office/drawing/2014/main" id="{F9899539-742C-14D4-6F1D-143DCB588256}"/>
              </a:ext>
            </a:extLst>
          </p:cNvPr>
          <p:cNvSpPr txBox="1"/>
          <p:nvPr/>
        </p:nvSpPr>
        <p:spPr>
          <a:xfrm>
            <a:off x="6407495" y="3443703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2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2B8C90C-DCD2-DD57-C05A-C9D0A21158E6}"/>
              </a:ext>
            </a:extLst>
          </p:cNvPr>
          <p:cNvSpPr txBox="1"/>
          <p:nvPr/>
        </p:nvSpPr>
        <p:spPr>
          <a:xfrm>
            <a:off x="7526457" y="4522855"/>
            <a:ext cx="6045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/>
              <a:t>Internação</a:t>
            </a:r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69B1EFB9-A159-8D52-E1AF-C4C719639CEE}"/>
              </a:ext>
            </a:extLst>
          </p:cNvPr>
          <p:cNvSpPr/>
          <p:nvPr/>
        </p:nvSpPr>
        <p:spPr>
          <a:xfrm>
            <a:off x="3095570" y="1827984"/>
            <a:ext cx="4008235" cy="3505200"/>
          </a:xfrm>
          <a:custGeom>
            <a:avLst/>
            <a:gdLst>
              <a:gd name="connsiteX0" fmla="*/ 4008235 w 4008235"/>
              <a:gd name="connsiteY0" fmla="*/ 3505200 h 3505200"/>
              <a:gd name="connsiteX1" fmla="*/ 3903460 w 4008235"/>
              <a:gd name="connsiteY1" fmla="*/ 2705100 h 3505200"/>
              <a:gd name="connsiteX2" fmla="*/ 3493885 w 4008235"/>
              <a:gd name="connsiteY2" fmla="*/ 2333625 h 3505200"/>
              <a:gd name="connsiteX3" fmla="*/ 2503285 w 4008235"/>
              <a:gd name="connsiteY3" fmla="*/ 2276475 h 3505200"/>
              <a:gd name="connsiteX4" fmla="*/ 1665085 w 4008235"/>
              <a:gd name="connsiteY4" fmla="*/ 2162175 h 3505200"/>
              <a:gd name="connsiteX5" fmla="*/ 388735 w 4008235"/>
              <a:gd name="connsiteY5" fmla="*/ 1885950 h 3505200"/>
              <a:gd name="connsiteX6" fmla="*/ 7735 w 4008235"/>
              <a:gd name="connsiteY6" fmla="*/ 1362075 h 3505200"/>
              <a:gd name="connsiteX7" fmla="*/ 169660 w 4008235"/>
              <a:gd name="connsiteY7" fmla="*/ 0 h 350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8235" h="3505200">
                <a:moveTo>
                  <a:pt x="4008235" y="3505200"/>
                </a:moveTo>
                <a:cubicBezTo>
                  <a:pt x="3998710" y="3202781"/>
                  <a:pt x="3989185" y="2900362"/>
                  <a:pt x="3903460" y="2705100"/>
                </a:cubicBezTo>
                <a:cubicBezTo>
                  <a:pt x="3817735" y="2509838"/>
                  <a:pt x="3727247" y="2405062"/>
                  <a:pt x="3493885" y="2333625"/>
                </a:cubicBezTo>
                <a:cubicBezTo>
                  <a:pt x="3260523" y="2262188"/>
                  <a:pt x="2808085" y="2305050"/>
                  <a:pt x="2503285" y="2276475"/>
                </a:cubicBezTo>
                <a:cubicBezTo>
                  <a:pt x="2198485" y="2247900"/>
                  <a:pt x="2017510" y="2227262"/>
                  <a:pt x="1665085" y="2162175"/>
                </a:cubicBezTo>
                <a:cubicBezTo>
                  <a:pt x="1312660" y="2097087"/>
                  <a:pt x="664960" y="2019300"/>
                  <a:pt x="388735" y="1885950"/>
                </a:cubicBezTo>
                <a:cubicBezTo>
                  <a:pt x="112510" y="1752600"/>
                  <a:pt x="44247" y="1676400"/>
                  <a:pt x="7735" y="1362075"/>
                </a:cubicBezTo>
                <a:cubicBezTo>
                  <a:pt x="-28778" y="1047750"/>
                  <a:pt x="70441" y="523875"/>
                  <a:pt x="16966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B8EBFFC-76BB-122C-A0B8-5435B6F6BD04}"/>
              </a:ext>
            </a:extLst>
          </p:cNvPr>
          <p:cNvSpPr txBox="1"/>
          <p:nvPr/>
        </p:nvSpPr>
        <p:spPr>
          <a:xfrm>
            <a:off x="7247191" y="5178816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E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C77BC1F-094B-B272-1F7C-A8DBCE40F8BF}"/>
              </a:ext>
            </a:extLst>
          </p:cNvPr>
          <p:cNvSpPr txBox="1"/>
          <p:nvPr/>
        </p:nvSpPr>
        <p:spPr>
          <a:xfrm>
            <a:off x="9801639" y="3937880"/>
            <a:ext cx="28647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Desvios:</a:t>
            </a:r>
          </a:p>
          <a:p>
            <a:pPr marL="342900" indent="-342900">
              <a:buAutoNum type="alphaUcParenR"/>
            </a:pPr>
            <a:r>
              <a:rPr lang="pt-BR" sz="1400" dirty="0"/>
              <a:t>Atendimento concluído</a:t>
            </a:r>
          </a:p>
          <a:p>
            <a:pPr marL="342900" indent="-342900">
              <a:buAutoNum type="alphaUcParenR"/>
            </a:pPr>
            <a:r>
              <a:rPr lang="pt-BR" sz="1400" dirty="0"/>
              <a:t>Procedimento especial</a:t>
            </a:r>
          </a:p>
          <a:p>
            <a:pPr marL="342900" indent="-342900">
              <a:buAutoNum type="alphaUcParenR"/>
            </a:pPr>
            <a:r>
              <a:rPr lang="pt-BR" sz="1400" dirty="0"/>
              <a:t>Trabalho de parto</a:t>
            </a:r>
          </a:p>
          <a:p>
            <a:pPr marL="342900" indent="-342900">
              <a:buAutoNum type="alphaUcParenR"/>
            </a:pPr>
            <a:r>
              <a:rPr lang="pt-BR" sz="1400" dirty="0"/>
              <a:t>Internação externa</a:t>
            </a:r>
          </a:p>
          <a:p>
            <a:pPr marL="342900" indent="-342900">
              <a:buAutoNum type="alphaUcParenR"/>
            </a:pPr>
            <a:r>
              <a:rPr lang="pt-BR" sz="1400" dirty="0"/>
              <a:t>Exames e Observação</a:t>
            </a:r>
          </a:p>
          <a:p>
            <a:pPr marL="342900" indent="-342900">
              <a:buAutoNum type="alphaUcParenR"/>
            </a:pPr>
            <a:r>
              <a:rPr lang="pt-BR" sz="1400" dirty="0"/>
              <a:t>Procedimento Especial</a:t>
            </a:r>
          </a:p>
          <a:p>
            <a:pPr marL="342900" indent="-342900">
              <a:buAutoNum type="alphaUcParenR"/>
            </a:pPr>
            <a:r>
              <a:rPr lang="pt-BR" sz="1400" dirty="0"/>
              <a:t>Alojamento</a:t>
            </a:r>
          </a:p>
          <a:p>
            <a:pPr marL="342900" indent="-342900">
              <a:buAutoNum type="alphaUcParenR"/>
            </a:pPr>
            <a:r>
              <a:rPr lang="pt-BR" sz="1400" dirty="0"/>
              <a:t>Primeiros Cuidados RN</a:t>
            </a:r>
          </a:p>
          <a:p>
            <a:pPr marL="342900" indent="-342900">
              <a:buAutoNum type="alphaUcParenR"/>
            </a:pPr>
            <a:r>
              <a:rPr lang="pt-BR" sz="1400" dirty="0"/>
              <a:t>Cuidados Progressivos</a:t>
            </a:r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2B80AD3D-E880-D514-28AE-8306B7C7065D}"/>
              </a:ext>
            </a:extLst>
          </p:cNvPr>
          <p:cNvSpPr/>
          <p:nvPr/>
        </p:nvSpPr>
        <p:spPr>
          <a:xfrm>
            <a:off x="2837932" y="475643"/>
            <a:ext cx="4243352" cy="4872534"/>
          </a:xfrm>
          <a:custGeom>
            <a:avLst/>
            <a:gdLst>
              <a:gd name="connsiteX0" fmla="*/ 4243352 w 4243352"/>
              <a:gd name="connsiteY0" fmla="*/ 4872534 h 4872534"/>
              <a:gd name="connsiteX1" fmla="*/ 4094496 w 4243352"/>
              <a:gd name="connsiteY1" fmla="*/ 4511027 h 4872534"/>
              <a:gd name="connsiteX2" fmla="*/ 3977538 w 4243352"/>
              <a:gd name="connsiteY2" fmla="*/ 4043194 h 4872534"/>
              <a:gd name="connsiteX3" fmla="*/ 3499073 w 4243352"/>
              <a:gd name="connsiteY3" fmla="*/ 3862441 h 4872534"/>
              <a:gd name="connsiteX4" fmla="*/ 2605938 w 4243352"/>
              <a:gd name="connsiteY4" fmla="*/ 3692320 h 4872534"/>
              <a:gd name="connsiteX5" fmla="*/ 1500152 w 4243352"/>
              <a:gd name="connsiteY5" fmla="*/ 3554097 h 4872534"/>
              <a:gd name="connsiteX6" fmla="*/ 723975 w 4243352"/>
              <a:gd name="connsiteY6" fmla="*/ 3511566 h 4872534"/>
              <a:gd name="connsiteX7" fmla="*/ 181715 w 4243352"/>
              <a:gd name="connsiteY7" fmla="*/ 3245752 h 4872534"/>
              <a:gd name="connsiteX8" fmla="*/ 961 w 4243352"/>
              <a:gd name="connsiteY8" fmla="*/ 2512106 h 4872534"/>
              <a:gd name="connsiteX9" fmla="*/ 128552 w 4243352"/>
              <a:gd name="connsiteY9" fmla="*/ 1587073 h 4872534"/>
              <a:gd name="connsiteX10" fmla="*/ 500691 w 4243352"/>
              <a:gd name="connsiteY10" fmla="*/ 438757 h 4872534"/>
              <a:gd name="connsiteX11" fmla="*/ 925994 w 4243352"/>
              <a:gd name="connsiteY11" fmla="*/ 55985 h 4872534"/>
              <a:gd name="connsiteX12" fmla="*/ 1797863 w 4243352"/>
              <a:gd name="connsiteY12" fmla="*/ 24087 h 4872534"/>
              <a:gd name="connsiteX13" fmla="*/ 2276328 w 4243352"/>
              <a:gd name="connsiteY13" fmla="*/ 268636 h 4872534"/>
              <a:gd name="connsiteX14" fmla="*/ 2382654 w 4243352"/>
              <a:gd name="connsiteY14" fmla="*/ 491920 h 4872534"/>
              <a:gd name="connsiteX15" fmla="*/ 2457082 w 4243352"/>
              <a:gd name="connsiteY15" fmla="*/ 513185 h 487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43352" h="4872534">
                <a:moveTo>
                  <a:pt x="4243352" y="4872534"/>
                </a:moveTo>
                <a:cubicBezTo>
                  <a:pt x="4191075" y="4760892"/>
                  <a:pt x="4138798" y="4649250"/>
                  <a:pt x="4094496" y="4511027"/>
                </a:cubicBezTo>
                <a:cubicBezTo>
                  <a:pt x="4050194" y="4372804"/>
                  <a:pt x="4076775" y="4151292"/>
                  <a:pt x="3977538" y="4043194"/>
                </a:cubicBezTo>
                <a:cubicBezTo>
                  <a:pt x="3878301" y="3935096"/>
                  <a:pt x="3727673" y="3920920"/>
                  <a:pt x="3499073" y="3862441"/>
                </a:cubicBezTo>
                <a:cubicBezTo>
                  <a:pt x="3270473" y="3803962"/>
                  <a:pt x="2939092" y="3743711"/>
                  <a:pt x="2605938" y="3692320"/>
                </a:cubicBezTo>
                <a:cubicBezTo>
                  <a:pt x="2272784" y="3640929"/>
                  <a:pt x="1813812" y="3584223"/>
                  <a:pt x="1500152" y="3554097"/>
                </a:cubicBezTo>
                <a:cubicBezTo>
                  <a:pt x="1186492" y="3523971"/>
                  <a:pt x="943715" y="3562957"/>
                  <a:pt x="723975" y="3511566"/>
                </a:cubicBezTo>
                <a:cubicBezTo>
                  <a:pt x="504235" y="3460175"/>
                  <a:pt x="302217" y="3412329"/>
                  <a:pt x="181715" y="3245752"/>
                </a:cubicBezTo>
                <a:cubicBezTo>
                  <a:pt x="61213" y="3079175"/>
                  <a:pt x="9821" y="2788552"/>
                  <a:pt x="961" y="2512106"/>
                </a:cubicBezTo>
                <a:cubicBezTo>
                  <a:pt x="-7899" y="2235660"/>
                  <a:pt x="45264" y="1932631"/>
                  <a:pt x="128552" y="1587073"/>
                </a:cubicBezTo>
                <a:cubicBezTo>
                  <a:pt x="211840" y="1241515"/>
                  <a:pt x="367784" y="693938"/>
                  <a:pt x="500691" y="438757"/>
                </a:cubicBezTo>
                <a:cubicBezTo>
                  <a:pt x="633598" y="183576"/>
                  <a:pt x="709799" y="125097"/>
                  <a:pt x="925994" y="55985"/>
                </a:cubicBezTo>
                <a:cubicBezTo>
                  <a:pt x="1142189" y="-13127"/>
                  <a:pt x="1572807" y="-11355"/>
                  <a:pt x="1797863" y="24087"/>
                </a:cubicBezTo>
                <a:cubicBezTo>
                  <a:pt x="2022919" y="59529"/>
                  <a:pt x="2178863" y="190664"/>
                  <a:pt x="2276328" y="268636"/>
                </a:cubicBezTo>
                <a:cubicBezTo>
                  <a:pt x="2373793" y="346608"/>
                  <a:pt x="2352528" y="451162"/>
                  <a:pt x="2382654" y="491920"/>
                </a:cubicBezTo>
                <a:cubicBezTo>
                  <a:pt x="2412780" y="532678"/>
                  <a:pt x="2434931" y="522931"/>
                  <a:pt x="2457082" y="51318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5B28A956-4C57-2ED8-8E31-89DEC14E88EE}"/>
              </a:ext>
            </a:extLst>
          </p:cNvPr>
          <p:cNvCxnSpPr/>
          <p:nvPr/>
        </p:nvCxnSpPr>
        <p:spPr>
          <a:xfrm>
            <a:off x="5292058" y="991147"/>
            <a:ext cx="964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77433D2-B1AA-3F5C-3395-8D92B1DDAAA7}"/>
              </a:ext>
            </a:extLst>
          </p:cNvPr>
          <p:cNvGrpSpPr/>
          <p:nvPr/>
        </p:nvGrpSpPr>
        <p:grpSpPr>
          <a:xfrm>
            <a:off x="5665036" y="1386634"/>
            <a:ext cx="390073" cy="323105"/>
            <a:chOff x="616635" y="2771335"/>
            <a:chExt cx="1324707" cy="1097280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05496C29-79B2-EAB3-1F28-09D05F4A5328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D5D3D2B1-A34E-B7BE-8CE1-DB72489852F6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15773B3-103A-709C-D80F-FAB34C66F629}"/>
                </a:ext>
              </a:extLst>
            </p:cNvPr>
            <p:cNvSpPr txBox="1"/>
            <p:nvPr/>
          </p:nvSpPr>
          <p:spPr>
            <a:xfrm>
              <a:off x="872663" y="3005605"/>
              <a:ext cx="1025794" cy="731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00" dirty="0"/>
                <a:t>Óbito</a:t>
              </a:r>
            </a:p>
            <a:p>
              <a:pPr algn="ctr"/>
              <a:r>
                <a:rPr lang="pt-BR" sz="400" dirty="0"/>
                <a:t>Mãe</a:t>
              </a:r>
            </a:p>
          </p:txBody>
        </p:sp>
      </p:grp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1A4F53C2-C647-2EE3-07C0-39249CCE958B}"/>
              </a:ext>
            </a:extLst>
          </p:cNvPr>
          <p:cNvSpPr/>
          <p:nvPr/>
        </p:nvSpPr>
        <p:spPr>
          <a:xfrm>
            <a:off x="4945039" y="1559044"/>
            <a:ext cx="655092" cy="269756"/>
          </a:xfrm>
          <a:custGeom>
            <a:avLst/>
            <a:gdLst>
              <a:gd name="connsiteX0" fmla="*/ 0 w 655092"/>
              <a:gd name="connsiteY0" fmla="*/ 269756 h 269756"/>
              <a:gd name="connsiteX1" fmla="*/ 313898 w 655092"/>
              <a:gd name="connsiteY1" fmla="*/ 156025 h 269756"/>
              <a:gd name="connsiteX2" fmla="*/ 464024 w 655092"/>
              <a:gd name="connsiteY2" fmla="*/ 24096 h 269756"/>
              <a:gd name="connsiteX3" fmla="*/ 655092 w 655092"/>
              <a:gd name="connsiteY3" fmla="*/ 5899 h 269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5092" h="269756">
                <a:moveTo>
                  <a:pt x="0" y="269756"/>
                </a:moveTo>
                <a:cubicBezTo>
                  <a:pt x="118280" y="233362"/>
                  <a:pt x="236561" y="196968"/>
                  <a:pt x="313898" y="156025"/>
                </a:cubicBezTo>
                <a:cubicBezTo>
                  <a:pt x="391235" y="115082"/>
                  <a:pt x="407158" y="49117"/>
                  <a:pt x="464024" y="24096"/>
                </a:cubicBezTo>
                <a:cubicBezTo>
                  <a:pt x="520890" y="-925"/>
                  <a:pt x="629313" y="-5474"/>
                  <a:pt x="655092" y="5899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C45A9718-88ED-68CB-9ECD-92FCBAEA594F}"/>
              </a:ext>
            </a:extLst>
          </p:cNvPr>
          <p:cNvCxnSpPr>
            <a:cxnSpLocks/>
            <a:stCxn id="12" idx="3"/>
            <a:endCxn id="8" idx="2"/>
          </p:cNvCxnSpPr>
          <p:nvPr/>
        </p:nvCxnSpPr>
        <p:spPr>
          <a:xfrm flipV="1">
            <a:off x="5600131" y="1548187"/>
            <a:ext cx="64905" cy="16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CC40B00-D2B0-E153-D94D-C3EBAFB037F4}"/>
              </a:ext>
            </a:extLst>
          </p:cNvPr>
          <p:cNvSpPr txBox="1"/>
          <p:nvPr/>
        </p:nvSpPr>
        <p:spPr>
          <a:xfrm>
            <a:off x="905629" y="4935797"/>
            <a:ext cx="7565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Exp (1/36) min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EB30D6-91E7-71FF-0794-C3D3234DB5B5}"/>
              </a:ext>
            </a:extLst>
          </p:cNvPr>
          <p:cNvSpPr txBox="1"/>
          <p:nvPr/>
        </p:nvSpPr>
        <p:spPr>
          <a:xfrm>
            <a:off x="2533392" y="4935797"/>
            <a:ext cx="7565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T (4, 5, 10) min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6B6F78-62C6-EB04-3188-6A61E7FF3368}"/>
              </a:ext>
            </a:extLst>
          </p:cNvPr>
          <p:cNvSpPr txBox="1"/>
          <p:nvPr/>
        </p:nvSpPr>
        <p:spPr>
          <a:xfrm>
            <a:off x="4165382" y="4949737"/>
            <a:ext cx="7565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T (2, 3, 10) min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96773E-B04D-875E-0696-E339CB1CB5AB}"/>
              </a:ext>
            </a:extLst>
          </p:cNvPr>
          <p:cNvSpPr txBox="1"/>
          <p:nvPr/>
        </p:nvSpPr>
        <p:spPr>
          <a:xfrm>
            <a:off x="6003804" y="5069251"/>
            <a:ext cx="87446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T (12, 15, 20) min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7C3EA9-F5B4-A8C9-1A7C-11EF895A0A1A}"/>
              </a:ext>
            </a:extLst>
          </p:cNvPr>
          <p:cNvSpPr txBox="1"/>
          <p:nvPr/>
        </p:nvSpPr>
        <p:spPr>
          <a:xfrm>
            <a:off x="8186346" y="4904573"/>
            <a:ext cx="9575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T (120, 180, 240) min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A9EC83-35CA-B3A9-DC11-31D34AFDECB9}"/>
              </a:ext>
            </a:extLst>
          </p:cNvPr>
          <p:cNvSpPr txBox="1"/>
          <p:nvPr/>
        </p:nvSpPr>
        <p:spPr>
          <a:xfrm>
            <a:off x="8606572" y="2251238"/>
            <a:ext cx="9575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T (60, 90, 120) min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ADB788-7375-FD72-2964-0D8EF54A163B}"/>
              </a:ext>
            </a:extLst>
          </p:cNvPr>
          <p:cNvSpPr txBox="1"/>
          <p:nvPr/>
        </p:nvSpPr>
        <p:spPr>
          <a:xfrm>
            <a:off x="4917166" y="3211189"/>
            <a:ext cx="1028702" cy="19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(9000, 10560, 12000) min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922E2E-5CAC-856C-BD2A-6985BA9B66FA}"/>
              </a:ext>
            </a:extLst>
          </p:cNvPr>
          <p:cNvSpPr txBox="1"/>
          <p:nvPr/>
        </p:nvSpPr>
        <p:spPr>
          <a:xfrm>
            <a:off x="5794592" y="1878488"/>
            <a:ext cx="7988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(60,90,120) min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59A76B-8CB3-763D-16AA-0D2565F1DE6B}"/>
              </a:ext>
            </a:extLst>
          </p:cNvPr>
          <p:cNvSpPr txBox="1"/>
          <p:nvPr/>
        </p:nvSpPr>
        <p:spPr>
          <a:xfrm>
            <a:off x="6188152" y="766521"/>
            <a:ext cx="753405" cy="186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(30, 40, 60) min</a:t>
            </a:r>
          </a:p>
        </p:txBody>
      </p:sp>
      <p:grpSp>
        <p:nvGrpSpPr>
          <p:cNvPr id="27" name="Agrupar 248">
            <a:extLst>
              <a:ext uri="{FF2B5EF4-FFF2-40B4-BE49-F238E27FC236}">
                <a16:creationId xmlns:a16="http://schemas.microsoft.com/office/drawing/2014/main" id="{6622CE30-97CC-5634-32C9-977F3E28A6C6}"/>
              </a:ext>
            </a:extLst>
          </p:cNvPr>
          <p:cNvGrpSpPr/>
          <p:nvPr/>
        </p:nvGrpSpPr>
        <p:grpSpPr>
          <a:xfrm>
            <a:off x="8698613" y="3061723"/>
            <a:ext cx="573593" cy="502229"/>
            <a:chOff x="4449493" y="3019458"/>
            <a:chExt cx="1253198" cy="1097280"/>
          </a:xfrm>
        </p:grpSpPr>
        <p:sp>
          <p:nvSpPr>
            <p:cNvPr id="28" name="Elipse 249">
              <a:extLst>
                <a:ext uri="{FF2B5EF4-FFF2-40B4-BE49-F238E27FC236}">
                  <a16:creationId xmlns:a16="http://schemas.microsoft.com/office/drawing/2014/main" id="{A5E4E151-106F-5337-C952-2D8AD8C868E0}"/>
                </a:ext>
              </a:extLst>
            </p:cNvPr>
            <p:cNvSpPr/>
            <p:nvPr/>
          </p:nvSpPr>
          <p:spPr>
            <a:xfrm>
              <a:off x="4537323" y="3019458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6" name="CaixaDeTexto 250">
              <a:extLst>
                <a:ext uri="{FF2B5EF4-FFF2-40B4-BE49-F238E27FC236}">
                  <a16:creationId xmlns:a16="http://schemas.microsoft.com/office/drawing/2014/main" id="{BBD3B550-F53F-48CC-3B50-9ED8DCA3E5F7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Técnicos BO</a:t>
              </a:r>
            </a:p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Disponível</a:t>
              </a:r>
            </a:p>
          </p:txBody>
        </p:sp>
      </p:grpSp>
      <p:cxnSp>
        <p:nvCxnSpPr>
          <p:cNvPr id="38" name="Conector: Curvo 251">
            <a:extLst>
              <a:ext uri="{FF2B5EF4-FFF2-40B4-BE49-F238E27FC236}">
                <a16:creationId xmlns:a16="http://schemas.microsoft.com/office/drawing/2014/main" id="{2876C321-6BF2-C947-0A78-DBB58F6CF415}"/>
              </a:ext>
            </a:extLst>
          </p:cNvPr>
          <p:cNvCxnSpPr>
            <a:cxnSpLocks/>
            <a:stCxn id="322" idx="1"/>
            <a:endCxn id="36" idx="1"/>
          </p:cNvCxnSpPr>
          <p:nvPr/>
        </p:nvCxnSpPr>
        <p:spPr>
          <a:xfrm rot="10800000" flipV="1">
            <a:off x="8698614" y="2686228"/>
            <a:ext cx="4885" cy="606124"/>
          </a:xfrm>
          <a:prstGeom prst="curvedConnector3">
            <a:avLst>
              <a:gd name="adj1" fmla="val 4779632"/>
            </a:avLst>
          </a:prstGeom>
          <a:ln w="1905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Curvo 252">
            <a:extLst>
              <a:ext uri="{FF2B5EF4-FFF2-40B4-BE49-F238E27FC236}">
                <a16:creationId xmlns:a16="http://schemas.microsoft.com/office/drawing/2014/main" id="{0CCE3C6F-8AAF-1150-F63A-6C73964FB27E}"/>
              </a:ext>
            </a:extLst>
          </p:cNvPr>
          <p:cNvCxnSpPr>
            <a:cxnSpLocks/>
            <a:stCxn id="36" idx="3"/>
            <a:endCxn id="322" idx="3"/>
          </p:cNvCxnSpPr>
          <p:nvPr/>
        </p:nvCxnSpPr>
        <p:spPr>
          <a:xfrm flipV="1">
            <a:off x="9272206" y="2686228"/>
            <a:ext cx="113808" cy="606124"/>
          </a:xfrm>
          <a:prstGeom prst="curvedConnector3">
            <a:avLst>
              <a:gd name="adj1" fmla="val 300865"/>
            </a:avLst>
          </a:prstGeom>
          <a:ln w="1905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B784953-D8E7-C3E9-7049-BABDB752061D}"/>
              </a:ext>
            </a:extLst>
          </p:cNvPr>
          <p:cNvSpPr txBox="1"/>
          <p:nvPr/>
        </p:nvSpPr>
        <p:spPr>
          <a:xfrm>
            <a:off x="8218063" y="609583"/>
            <a:ext cx="9575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(1200, 1440, 1680) min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867411-DF4D-DFDF-D3D3-DD90A52F8D79}"/>
              </a:ext>
            </a:extLst>
          </p:cNvPr>
          <p:cNvSpPr txBox="1"/>
          <p:nvPr/>
        </p:nvSpPr>
        <p:spPr>
          <a:xfrm>
            <a:off x="8193845" y="738115"/>
            <a:ext cx="10293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(2640, 2880,  3120) min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C3FF843-6F31-7A09-D045-5A18491AAEB5}"/>
              </a:ext>
            </a:extLst>
          </p:cNvPr>
          <p:cNvSpPr txBox="1"/>
          <p:nvPr/>
        </p:nvSpPr>
        <p:spPr>
          <a:xfrm>
            <a:off x="4222840" y="1343960"/>
            <a:ext cx="9575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(45, 60, 75) min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219A703-850B-CCBF-1F13-C6B2080041B5}"/>
              </a:ext>
            </a:extLst>
          </p:cNvPr>
          <p:cNvSpPr txBox="1"/>
          <p:nvPr/>
        </p:nvSpPr>
        <p:spPr>
          <a:xfrm>
            <a:off x="4212927" y="1479450"/>
            <a:ext cx="9575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(75, 90, 105) min</a:t>
            </a:r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9F10F9F3-A5B6-2915-8374-0C9EA5CA716D}"/>
              </a:ext>
            </a:extLst>
          </p:cNvPr>
          <p:cNvSpPr/>
          <p:nvPr/>
        </p:nvSpPr>
        <p:spPr>
          <a:xfrm>
            <a:off x="6940550" y="26085"/>
            <a:ext cx="4406900" cy="1294715"/>
          </a:xfrm>
          <a:custGeom>
            <a:avLst/>
            <a:gdLst>
              <a:gd name="connsiteX0" fmla="*/ 0 w 4406900"/>
              <a:gd name="connsiteY0" fmla="*/ 1053415 h 1294715"/>
              <a:gd name="connsiteX1" fmla="*/ 361950 w 4406900"/>
              <a:gd name="connsiteY1" fmla="*/ 862915 h 1294715"/>
              <a:gd name="connsiteX2" fmla="*/ 641350 w 4406900"/>
              <a:gd name="connsiteY2" fmla="*/ 310465 h 1294715"/>
              <a:gd name="connsiteX3" fmla="*/ 1327150 w 4406900"/>
              <a:gd name="connsiteY3" fmla="*/ 100915 h 1294715"/>
              <a:gd name="connsiteX4" fmla="*/ 1835150 w 4406900"/>
              <a:gd name="connsiteY4" fmla="*/ 18365 h 1294715"/>
              <a:gd name="connsiteX5" fmla="*/ 2355850 w 4406900"/>
              <a:gd name="connsiteY5" fmla="*/ 24715 h 1294715"/>
              <a:gd name="connsiteX6" fmla="*/ 3092450 w 4406900"/>
              <a:gd name="connsiteY6" fmla="*/ 278715 h 1294715"/>
              <a:gd name="connsiteX7" fmla="*/ 4406900 w 4406900"/>
              <a:gd name="connsiteY7" fmla="*/ 1294715 h 129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6900" h="1294715">
                <a:moveTo>
                  <a:pt x="0" y="1053415"/>
                </a:moveTo>
                <a:cubicBezTo>
                  <a:pt x="127529" y="1020077"/>
                  <a:pt x="255058" y="986740"/>
                  <a:pt x="361950" y="862915"/>
                </a:cubicBezTo>
                <a:cubicBezTo>
                  <a:pt x="468842" y="739090"/>
                  <a:pt x="480483" y="437465"/>
                  <a:pt x="641350" y="310465"/>
                </a:cubicBezTo>
                <a:cubicBezTo>
                  <a:pt x="802217" y="183465"/>
                  <a:pt x="1128183" y="149598"/>
                  <a:pt x="1327150" y="100915"/>
                </a:cubicBezTo>
                <a:cubicBezTo>
                  <a:pt x="1526117" y="52232"/>
                  <a:pt x="1663700" y="31065"/>
                  <a:pt x="1835150" y="18365"/>
                </a:cubicBezTo>
                <a:cubicBezTo>
                  <a:pt x="2006600" y="5665"/>
                  <a:pt x="2146300" y="-18677"/>
                  <a:pt x="2355850" y="24715"/>
                </a:cubicBezTo>
                <a:cubicBezTo>
                  <a:pt x="2565400" y="68107"/>
                  <a:pt x="2750608" y="67048"/>
                  <a:pt x="3092450" y="278715"/>
                </a:cubicBezTo>
                <a:cubicBezTo>
                  <a:pt x="3434292" y="490382"/>
                  <a:pt x="4201583" y="1111623"/>
                  <a:pt x="4406900" y="129471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1AE6BCDD-8B64-CAD7-7F08-C86E50B9B34A}"/>
              </a:ext>
            </a:extLst>
          </p:cNvPr>
          <p:cNvCxnSpPr>
            <a:cxnSpLocks/>
          </p:cNvCxnSpPr>
          <p:nvPr/>
        </p:nvCxnSpPr>
        <p:spPr>
          <a:xfrm>
            <a:off x="11233150" y="1224693"/>
            <a:ext cx="248108" cy="1952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596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D1A8D-5595-6387-02A2-95B67FF28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83E01C09-592F-EED9-2932-C7A7AA01DA25}"/>
              </a:ext>
            </a:extLst>
          </p:cNvPr>
          <p:cNvGrpSpPr/>
          <p:nvPr/>
        </p:nvGrpSpPr>
        <p:grpSpPr>
          <a:xfrm>
            <a:off x="59969" y="5061264"/>
            <a:ext cx="606323" cy="502229"/>
            <a:chOff x="616635" y="2771335"/>
            <a:chExt cx="1324707" cy="1097280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8E62802-773B-98E1-6DAE-2484E61FA069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73995D5A-6268-F218-1EC4-68DD05D49FB6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AD3811ED-CC7D-F6A5-FE6B-F9308D19E958}"/>
                </a:ext>
              </a:extLst>
            </p:cNvPr>
            <p:cNvSpPr txBox="1"/>
            <p:nvPr/>
          </p:nvSpPr>
          <p:spPr>
            <a:xfrm>
              <a:off x="1028113" y="3130061"/>
              <a:ext cx="729177" cy="437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Rua</a:t>
              </a:r>
            </a:p>
          </p:txBody>
        </p:sp>
      </p:grp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3B5598D-3147-FFEE-2697-927BFD31F2CF}"/>
              </a:ext>
            </a:extLst>
          </p:cNvPr>
          <p:cNvCxnSpPr>
            <a:cxnSpLocks/>
          </p:cNvCxnSpPr>
          <p:nvPr/>
        </p:nvCxnSpPr>
        <p:spPr>
          <a:xfrm>
            <a:off x="687220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516AE3C-413C-C710-8F47-E7ED4EECDA72}"/>
              </a:ext>
            </a:extLst>
          </p:cNvPr>
          <p:cNvSpPr txBox="1"/>
          <p:nvPr/>
        </p:nvSpPr>
        <p:spPr>
          <a:xfrm>
            <a:off x="919017" y="5104628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CHEGADA</a:t>
            </a:r>
          </a:p>
          <a:p>
            <a:pPr algn="ctr"/>
            <a:endParaRPr lang="pt-BR" sz="700" dirty="0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74C9C91B-6C91-9CF5-8C59-A4032031997F}"/>
              </a:ext>
            </a:extLst>
          </p:cNvPr>
          <p:cNvCxnSpPr>
            <a:cxnSpLocks/>
          </p:cNvCxnSpPr>
          <p:nvPr/>
        </p:nvCxnSpPr>
        <p:spPr>
          <a:xfrm>
            <a:off x="1601533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B7A0A5F8-F6FB-C8C0-CC61-92D6326F3A4F}"/>
              </a:ext>
            </a:extLst>
          </p:cNvPr>
          <p:cNvGrpSpPr/>
          <p:nvPr/>
        </p:nvGrpSpPr>
        <p:grpSpPr>
          <a:xfrm>
            <a:off x="1795503" y="5061264"/>
            <a:ext cx="573593" cy="502229"/>
            <a:chOff x="4449493" y="2967335"/>
            <a:chExt cx="1253198" cy="1097280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474A4592-29A6-C966-B8DF-DE3751138E5E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4EF14DB6-0A82-B7CF-CAE7-CBD474F1E67A}"/>
                </a:ext>
              </a:extLst>
            </p:cNvPr>
            <p:cNvSpPr txBox="1"/>
            <p:nvPr/>
          </p:nvSpPr>
          <p:spPr>
            <a:xfrm>
              <a:off x="4449493" y="3105833"/>
              <a:ext cx="1253198" cy="672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Recepção</a:t>
              </a: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48E572F-DF24-5D53-4E02-CC2781F405EB}"/>
              </a:ext>
            </a:extLst>
          </p:cNvPr>
          <p:cNvSpPr txBox="1"/>
          <p:nvPr/>
        </p:nvSpPr>
        <p:spPr>
          <a:xfrm>
            <a:off x="2563066" y="5104628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Recepção</a:t>
            </a:r>
          </a:p>
          <a:p>
            <a:pPr algn="ctr"/>
            <a:endParaRPr lang="pt-BR" sz="700" dirty="0"/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911F1027-70EE-B811-0E0F-CBFFC1BEDB59}"/>
              </a:ext>
            </a:extLst>
          </p:cNvPr>
          <p:cNvCxnSpPr>
            <a:cxnSpLocks/>
          </p:cNvCxnSpPr>
          <p:nvPr/>
        </p:nvCxnSpPr>
        <p:spPr>
          <a:xfrm>
            <a:off x="2333414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70D47395-6AE9-DC8F-A76C-A35A554777FD}"/>
              </a:ext>
            </a:extLst>
          </p:cNvPr>
          <p:cNvGrpSpPr/>
          <p:nvPr/>
        </p:nvGrpSpPr>
        <p:grpSpPr>
          <a:xfrm>
            <a:off x="2589359" y="4216705"/>
            <a:ext cx="573593" cy="502229"/>
            <a:chOff x="4449493" y="2967335"/>
            <a:chExt cx="1253198" cy="1097280"/>
          </a:xfrm>
        </p:grpSpPr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693CF923-21A1-23F6-321B-F937602C84C6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A43DD3F9-94C9-B68E-1D9F-7F881748F8F8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accent1"/>
                  </a:solidFill>
                </a:rPr>
                <a:t>Recepcionista</a:t>
              </a:r>
            </a:p>
            <a:p>
              <a:pPr algn="ctr"/>
              <a:r>
                <a:rPr lang="pt-BR" sz="500" dirty="0">
                  <a:solidFill>
                    <a:schemeClr val="accent1"/>
                  </a:solidFill>
                </a:rPr>
                <a:t>Livre</a:t>
              </a:r>
            </a:p>
          </p:txBody>
        </p:sp>
      </p:grpSp>
      <p:cxnSp>
        <p:nvCxnSpPr>
          <p:cNvPr id="40" name="Conector: Curvo 39">
            <a:extLst>
              <a:ext uri="{FF2B5EF4-FFF2-40B4-BE49-F238E27FC236}">
                <a16:creationId xmlns:a16="http://schemas.microsoft.com/office/drawing/2014/main" id="{4049F760-601B-2F3A-5ACB-FC9A33700EC3}"/>
              </a:ext>
            </a:extLst>
          </p:cNvPr>
          <p:cNvCxnSpPr>
            <a:cxnSpLocks/>
            <a:stCxn id="25" idx="1"/>
          </p:cNvCxnSpPr>
          <p:nvPr/>
        </p:nvCxnSpPr>
        <p:spPr>
          <a:xfrm rot="10800000" flipV="1">
            <a:off x="2479193" y="4471191"/>
            <a:ext cx="110166" cy="754256"/>
          </a:xfrm>
          <a:prstGeom prst="curvedConnector2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: Curvo 49">
            <a:extLst>
              <a:ext uri="{FF2B5EF4-FFF2-40B4-BE49-F238E27FC236}">
                <a16:creationId xmlns:a16="http://schemas.microsoft.com/office/drawing/2014/main" id="{7229388D-5D02-41E0-4A07-3E8AD0962AAC}"/>
              </a:ext>
            </a:extLst>
          </p:cNvPr>
          <p:cNvCxnSpPr>
            <a:cxnSpLocks/>
          </p:cNvCxnSpPr>
          <p:nvPr/>
        </p:nvCxnSpPr>
        <p:spPr>
          <a:xfrm rot="16200000" flipV="1">
            <a:off x="2824183" y="4743360"/>
            <a:ext cx="815209" cy="148980"/>
          </a:xfrm>
          <a:prstGeom prst="curvedConnector3">
            <a:avLst>
              <a:gd name="adj1" fmla="val 99760"/>
            </a:avLst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id="{DE72BD31-9E84-0093-54FB-A94519766839}"/>
              </a:ext>
            </a:extLst>
          </p:cNvPr>
          <p:cNvCxnSpPr>
            <a:cxnSpLocks/>
          </p:cNvCxnSpPr>
          <p:nvPr/>
        </p:nvCxnSpPr>
        <p:spPr>
          <a:xfrm>
            <a:off x="3247795" y="531237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E74537D6-8F72-D2A1-2B91-0EA120C7D85A}"/>
              </a:ext>
            </a:extLst>
          </p:cNvPr>
          <p:cNvSpPr txBox="1"/>
          <p:nvPr/>
        </p:nvSpPr>
        <p:spPr>
          <a:xfrm>
            <a:off x="4218183" y="5128211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Triagem</a:t>
            </a:r>
          </a:p>
          <a:p>
            <a:pPr algn="ctr"/>
            <a:endParaRPr lang="pt-BR" sz="700" dirty="0"/>
          </a:p>
        </p:txBody>
      </p: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A2C562CB-6866-D479-9D68-68B58E6A6E3F}"/>
              </a:ext>
            </a:extLst>
          </p:cNvPr>
          <p:cNvGrpSpPr/>
          <p:nvPr/>
        </p:nvGrpSpPr>
        <p:grpSpPr>
          <a:xfrm>
            <a:off x="4297445" y="4309719"/>
            <a:ext cx="573593" cy="502229"/>
            <a:chOff x="4449493" y="2967335"/>
            <a:chExt cx="1253198" cy="1097280"/>
          </a:xfrm>
        </p:grpSpPr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3E0E14CB-CA80-985D-5748-4EC54239D53A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CBE03606-CCC2-01BE-F762-F2389E26280F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706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accent2"/>
                  </a:solidFill>
                </a:rPr>
                <a:t>Enfermeiro</a:t>
              </a:r>
            </a:p>
            <a:p>
              <a:pPr algn="ctr"/>
              <a:r>
                <a:rPr lang="pt-BR" sz="500" dirty="0">
                  <a:solidFill>
                    <a:schemeClr val="accent2"/>
                  </a:solidFill>
                </a:rPr>
                <a:t>Triagem</a:t>
              </a:r>
            </a:p>
            <a:p>
              <a:pPr algn="ctr"/>
              <a:r>
                <a:rPr lang="pt-BR" sz="500" dirty="0">
                  <a:solidFill>
                    <a:schemeClr val="accent2"/>
                  </a:solidFill>
                </a:rPr>
                <a:t>Livre</a:t>
              </a:r>
            </a:p>
          </p:txBody>
        </p:sp>
      </p:grpSp>
      <p:cxnSp>
        <p:nvCxnSpPr>
          <p:cNvPr id="74" name="Conector: Curvo 73">
            <a:extLst>
              <a:ext uri="{FF2B5EF4-FFF2-40B4-BE49-F238E27FC236}">
                <a16:creationId xmlns:a16="http://schemas.microsoft.com/office/drawing/2014/main" id="{230BF745-AC2B-FA5A-31ED-026DBB165171}"/>
              </a:ext>
            </a:extLst>
          </p:cNvPr>
          <p:cNvCxnSpPr>
            <a:cxnSpLocks/>
            <a:stCxn id="73" idx="1"/>
          </p:cNvCxnSpPr>
          <p:nvPr/>
        </p:nvCxnSpPr>
        <p:spPr>
          <a:xfrm rot="10800000" flipV="1">
            <a:off x="4165383" y="4602677"/>
            <a:ext cx="132062" cy="614988"/>
          </a:xfrm>
          <a:prstGeom prst="curved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: Curvo 74">
            <a:extLst>
              <a:ext uri="{FF2B5EF4-FFF2-40B4-BE49-F238E27FC236}">
                <a16:creationId xmlns:a16="http://schemas.microsoft.com/office/drawing/2014/main" id="{B413B509-62CF-BD2E-E3E0-29B46E63E2AA}"/>
              </a:ext>
            </a:extLst>
          </p:cNvPr>
          <p:cNvCxnSpPr>
            <a:cxnSpLocks/>
            <a:endCxn id="73" idx="3"/>
          </p:cNvCxnSpPr>
          <p:nvPr/>
        </p:nvCxnSpPr>
        <p:spPr>
          <a:xfrm rot="16200000" flipV="1">
            <a:off x="4588974" y="4884742"/>
            <a:ext cx="666239" cy="102110"/>
          </a:xfrm>
          <a:prstGeom prst="curved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8BA3B87C-689F-7F53-FD65-BEBD299A0A06}"/>
              </a:ext>
            </a:extLst>
          </p:cNvPr>
          <p:cNvCxnSpPr>
            <a:cxnSpLocks/>
          </p:cNvCxnSpPr>
          <p:nvPr/>
        </p:nvCxnSpPr>
        <p:spPr>
          <a:xfrm flipV="1">
            <a:off x="4900699" y="5312379"/>
            <a:ext cx="422277" cy="37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CBF7DD1A-1777-6EF9-6DBE-D1A6E10B950D}"/>
              </a:ext>
            </a:extLst>
          </p:cNvPr>
          <p:cNvGrpSpPr/>
          <p:nvPr/>
        </p:nvGrpSpPr>
        <p:grpSpPr>
          <a:xfrm>
            <a:off x="5292058" y="5061264"/>
            <a:ext cx="573593" cy="502229"/>
            <a:chOff x="4449493" y="2967335"/>
            <a:chExt cx="1253198" cy="1097280"/>
          </a:xfrm>
        </p:grpSpPr>
        <p:sp>
          <p:nvSpPr>
            <p:cNvPr id="86" name="Elipse 85">
              <a:extLst>
                <a:ext uri="{FF2B5EF4-FFF2-40B4-BE49-F238E27FC236}">
                  <a16:creationId xmlns:a16="http://schemas.microsoft.com/office/drawing/2014/main" id="{E1D81A14-31D2-F55A-7DE0-9C1D47FD21E9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87" name="CaixaDeTexto 86">
              <a:extLst>
                <a:ext uri="{FF2B5EF4-FFF2-40B4-BE49-F238E27FC236}">
                  <a16:creationId xmlns:a16="http://schemas.microsoft.com/office/drawing/2014/main" id="{7817CDE1-1A5B-406C-7903-157593B18129}"/>
                </a:ext>
              </a:extLst>
            </p:cNvPr>
            <p:cNvSpPr txBox="1"/>
            <p:nvPr/>
          </p:nvSpPr>
          <p:spPr>
            <a:xfrm>
              <a:off x="4449493" y="3178677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Médico</a:t>
              </a:r>
            </a:p>
          </p:txBody>
        </p:sp>
      </p:grpSp>
      <p:sp>
        <p:nvSpPr>
          <p:cNvPr id="88" name="Elipse 87">
            <a:extLst>
              <a:ext uri="{FF2B5EF4-FFF2-40B4-BE49-F238E27FC236}">
                <a16:creationId xmlns:a16="http://schemas.microsoft.com/office/drawing/2014/main" id="{CAC4E5B4-F042-051D-34B6-331DCF88C52C}"/>
              </a:ext>
            </a:extLst>
          </p:cNvPr>
          <p:cNvSpPr/>
          <p:nvPr/>
        </p:nvSpPr>
        <p:spPr>
          <a:xfrm>
            <a:off x="5076929" y="5278844"/>
            <a:ext cx="74582" cy="745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345646AA-E6C7-2A18-AB4B-9BE57DF66434}"/>
              </a:ext>
            </a:extLst>
          </p:cNvPr>
          <p:cNvSpPr txBox="1"/>
          <p:nvPr/>
        </p:nvSpPr>
        <p:spPr>
          <a:xfrm>
            <a:off x="5044453" y="5329572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1</a:t>
            </a:r>
          </a:p>
        </p:txBody>
      </p: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427144C2-410E-0127-4156-D7F90062624F}"/>
              </a:ext>
            </a:extLst>
          </p:cNvPr>
          <p:cNvCxnSpPr>
            <a:cxnSpLocks/>
          </p:cNvCxnSpPr>
          <p:nvPr/>
        </p:nvCxnSpPr>
        <p:spPr>
          <a:xfrm>
            <a:off x="5829969" y="5303710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EE3E012B-67F3-75CF-FA54-7F971F2D4245}"/>
              </a:ext>
            </a:extLst>
          </p:cNvPr>
          <p:cNvGrpSpPr/>
          <p:nvPr/>
        </p:nvGrpSpPr>
        <p:grpSpPr>
          <a:xfrm>
            <a:off x="6170690" y="5970796"/>
            <a:ext cx="573593" cy="502229"/>
            <a:chOff x="4449493" y="2967335"/>
            <a:chExt cx="1253198" cy="1097280"/>
          </a:xfrm>
        </p:grpSpPr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690B0614-4D49-9771-9BE1-34C8EA9A1D55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id="{5009C9C9-7227-5311-7D30-39E49D12E738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706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accent6"/>
                  </a:solidFill>
                </a:rPr>
                <a:t>Médico</a:t>
              </a:r>
            </a:p>
            <a:p>
              <a:pPr algn="ctr"/>
              <a:r>
                <a:rPr lang="pt-BR" sz="500" dirty="0">
                  <a:solidFill>
                    <a:schemeClr val="accent6"/>
                  </a:solidFill>
                </a:rPr>
                <a:t>Obstetra</a:t>
              </a:r>
            </a:p>
            <a:p>
              <a:pPr algn="ctr"/>
              <a:r>
                <a:rPr lang="pt-BR" sz="500" dirty="0">
                  <a:solidFill>
                    <a:schemeClr val="accent6"/>
                  </a:solidFill>
                </a:rPr>
                <a:t>Livre</a:t>
              </a:r>
            </a:p>
          </p:txBody>
        </p:sp>
      </p:grp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8132793D-1A74-A0E1-C62D-696C786A4066}"/>
              </a:ext>
            </a:extLst>
          </p:cNvPr>
          <p:cNvSpPr txBox="1"/>
          <p:nvPr/>
        </p:nvSpPr>
        <p:spPr>
          <a:xfrm>
            <a:off x="6061767" y="5253400"/>
            <a:ext cx="682516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/>
              <a:t>Consulta</a:t>
            </a:r>
            <a:endParaRPr lang="pt-BR" sz="900" dirty="0"/>
          </a:p>
        </p:txBody>
      </p:sp>
      <p:cxnSp>
        <p:nvCxnSpPr>
          <p:cNvPr id="115" name="Conector: Curvo 114">
            <a:extLst>
              <a:ext uri="{FF2B5EF4-FFF2-40B4-BE49-F238E27FC236}">
                <a16:creationId xmlns:a16="http://schemas.microsoft.com/office/drawing/2014/main" id="{B71ED6E3-9561-D76B-E278-31E7685ECCEE}"/>
              </a:ext>
            </a:extLst>
          </p:cNvPr>
          <p:cNvCxnSpPr>
            <a:cxnSpLocks/>
          </p:cNvCxnSpPr>
          <p:nvPr/>
        </p:nvCxnSpPr>
        <p:spPr>
          <a:xfrm>
            <a:off x="6769343" y="5472131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: Curvo 122">
            <a:extLst>
              <a:ext uri="{FF2B5EF4-FFF2-40B4-BE49-F238E27FC236}">
                <a16:creationId xmlns:a16="http://schemas.microsoft.com/office/drawing/2014/main" id="{D01B47D4-6E71-8F11-C28A-7FE58EC6B9FC}"/>
              </a:ext>
            </a:extLst>
          </p:cNvPr>
          <p:cNvCxnSpPr>
            <a:cxnSpLocks/>
          </p:cNvCxnSpPr>
          <p:nvPr/>
        </p:nvCxnSpPr>
        <p:spPr>
          <a:xfrm flipH="1" flipV="1">
            <a:off x="6027878" y="5520126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20DA0A71-A166-B9DE-84A2-E1190F8799C4}"/>
              </a:ext>
            </a:extLst>
          </p:cNvPr>
          <p:cNvCxnSpPr>
            <a:cxnSpLocks/>
            <a:stCxn id="106" idx="3"/>
          </p:cNvCxnSpPr>
          <p:nvPr/>
        </p:nvCxnSpPr>
        <p:spPr>
          <a:xfrm flipV="1">
            <a:off x="6744283" y="5353426"/>
            <a:ext cx="392761" cy="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CaixaDeTexto 134">
            <a:extLst>
              <a:ext uri="{FF2B5EF4-FFF2-40B4-BE49-F238E27FC236}">
                <a16:creationId xmlns:a16="http://schemas.microsoft.com/office/drawing/2014/main" id="{89F94FFA-0D00-EF59-3BC8-885F9C23F1A0}"/>
              </a:ext>
            </a:extLst>
          </p:cNvPr>
          <p:cNvSpPr txBox="1"/>
          <p:nvPr/>
        </p:nvSpPr>
        <p:spPr>
          <a:xfrm>
            <a:off x="6496620" y="4536037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A</a:t>
            </a:r>
          </a:p>
        </p:txBody>
      </p:sp>
      <p:cxnSp>
        <p:nvCxnSpPr>
          <p:cNvPr id="147" name="Conector: Curvo 146">
            <a:extLst>
              <a:ext uri="{FF2B5EF4-FFF2-40B4-BE49-F238E27FC236}">
                <a16:creationId xmlns:a16="http://schemas.microsoft.com/office/drawing/2014/main" id="{5502628B-C695-56D4-C7C3-D7B1B9F7054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27734" y="4823050"/>
            <a:ext cx="733651" cy="330270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Agrupar 157">
            <a:extLst>
              <a:ext uri="{FF2B5EF4-FFF2-40B4-BE49-F238E27FC236}">
                <a16:creationId xmlns:a16="http://schemas.microsoft.com/office/drawing/2014/main" id="{D19A9BD2-66AD-1863-EFA8-67E46573BE09}"/>
              </a:ext>
            </a:extLst>
          </p:cNvPr>
          <p:cNvGrpSpPr/>
          <p:nvPr/>
        </p:nvGrpSpPr>
        <p:grpSpPr>
          <a:xfrm>
            <a:off x="3434441" y="5082029"/>
            <a:ext cx="573593" cy="502229"/>
            <a:chOff x="4449493" y="2967335"/>
            <a:chExt cx="1253198" cy="1097280"/>
          </a:xfrm>
        </p:grpSpPr>
        <p:sp>
          <p:nvSpPr>
            <p:cNvPr id="159" name="Elipse 158">
              <a:extLst>
                <a:ext uri="{FF2B5EF4-FFF2-40B4-BE49-F238E27FC236}">
                  <a16:creationId xmlns:a16="http://schemas.microsoft.com/office/drawing/2014/main" id="{147F949E-A879-166C-E8FB-3417780B2321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160" name="CaixaDeTexto 159">
              <a:extLst>
                <a:ext uri="{FF2B5EF4-FFF2-40B4-BE49-F238E27FC236}">
                  <a16:creationId xmlns:a16="http://schemas.microsoft.com/office/drawing/2014/main" id="{B7B857E1-A908-907E-A337-A7633841FEEF}"/>
                </a:ext>
              </a:extLst>
            </p:cNvPr>
            <p:cNvSpPr txBox="1"/>
            <p:nvPr/>
          </p:nvSpPr>
          <p:spPr>
            <a:xfrm>
              <a:off x="4449493" y="3178677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Triagem</a:t>
              </a:r>
            </a:p>
          </p:txBody>
        </p:sp>
      </p:grpSp>
      <p:cxnSp>
        <p:nvCxnSpPr>
          <p:cNvPr id="161" name="Conector de Seta Reta 160">
            <a:extLst>
              <a:ext uri="{FF2B5EF4-FFF2-40B4-BE49-F238E27FC236}">
                <a16:creationId xmlns:a16="http://schemas.microsoft.com/office/drawing/2014/main" id="{D761E407-668A-9DF3-1AFB-AEA153908754}"/>
              </a:ext>
            </a:extLst>
          </p:cNvPr>
          <p:cNvCxnSpPr>
            <a:cxnSpLocks/>
          </p:cNvCxnSpPr>
          <p:nvPr/>
        </p:nvCxnSpPr>
        <p:spPr>
          <a:xfrm>
            <a:off x="3972352" y="5332058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ector: Curvo 162">
            <a:extLst>
              <a:ext uri="{FF2B5EF4-FFF2-40B4-BE49-F238E27FC236}">
                <a16:creationId xmlns:a16="http://schemas.microsoft.com/office/drawing/2014/main" id="{F049BFA6-E55A-4E6D-4D90-58862CEC8CAA}"/>
              </a:ext>
            </a:extLst>
          </p:cNvPr>
          <p:cNvCxnSpPr>
            <a:endCxn id="4" idx="0"/>
          </p:cNvCxnSpPr>
          <p:nvPr/>
        </p:nvCxnSpPr>
        <p:spPr>
          <a:xfrm rot="10800000">
            <a:off x="415178" y="5061265"/>
            <a:ext cx="6721866" cy="292161"/>
          </a:xfrm>
          <a:prstGeom prst="curvedConnector4">
            <a:avLst>
              <a:gd name="adj1" fmla="val 5905"/>
              <a:gd name="adj2" fmla="val 42341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94F5F8AC-965D-42DB-00B8-30C570818C79}"/>
              </a:ext>
            </a:extLst>
          </p:cNvPr>
          <p:cNvGrpSpPr/>
          <p:nvPr/>
        </p:nvGrpSpPr>
        <p:grpSpPr>
          <a:xfrm>
            <a:off x="7442465" y="5071067"/>
            <a:ext cx="639729" cy="502229"/>
            <a:chOff x="4379847" y="2967335"/>
            <a:chExt cx="1397693" cy="1097280"/>
          </a:xfrm>
        </p:grpSpPr>
        <p:sp>
          <p:nvSpPr>
            <p:cNvPr id="167" name="Elipse 166">
              <a:extLst>
                <a:ext uri="{FF2B5EF4-FFF2-40B4-BE49-F238E27FC236}">
                  <a16:creationId xmlns:a16="http://schemas.microsoft.com/office/drawing/2014/main" id="{CA830CC6-F64D-4594-7408-24323AB44CCE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168" name="CaixaDeTexto 167">
              <a:extLst>
                <a:ext uri="{FF2B5EF4-FFF2-40B4-BE49-F238E27FC236}">
                  <a16:creationId xmlns:a16="http://schemas.microsoft.com/office/drawing/2014/main" id="{80E6E384-5200-CCA4-CC76-44492A0D7E14}"/>
                </a:ext>
              </a:extLst>
            </p:cNvPr>
            <p:cNvSpPr txBox="1"/>
            <p:nvPr/>
          </p:nvSpPr>
          <p:spPr>
            <a:xfrm>
              <a:off x="4379847" y="3146069"/>
              <a:ext cx="1397693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Observação</a:t>
              </a:r>
            </a:p>
          </p:txBody>
        </p:sp>
      </p:grpSp>
      <p:cxnSp>
        <p:nvCxnSpPr>
          <p:cNvPr id="169" name="Conector de Seta Reta 168">
            <a:extLst>
              <a:ext uri="{FF2B5EF4-FFF2-40B4-BE49-F238E27FC236}">
                <a16:creationId xmlns:a16="http://schemas.microsoft.com/office/drawing/2014/main" id="{BD0D79BC-A06B-0982-CA39-734CE2D213F1}"/>
              </a:ext>
            </a:extLst>
          </p:cNvPr>
          <p:cNvCxnSpPr>
            <a:cxnSpLocks/>
          </p:cNvCxnSpPr>
          <p:nvPr/>
        </p:nvCxnSpPr>
        <p:spPr>
          <a:xfrm>
            <a:off x="8020719" y="532898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187AD052-B974-2DCF-80F0-32175D2D43CA}"/>
              </a:ext>
            </a:extLst>
          </p:cNvPr>
          <p:cNvSpPr txBox="1"/>
          <p:nvPr/>
        </p:nvSpPr>
        <p:spPr>
          <a:xfrm>
            <a:off x="8252517" y="5098157"/>
            <a:ext cx="82521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800" dirty="0"/>
              <a:t>Exames</a:t>
            </a:r>
          </a:p>
          <a:p>
            <a:pPr algn="ctr"/>
            <a:r>
              <a:rPr lang="pt-BR" sz="800" dirty="0"/>
              <a:t>e/ou</a:t>
            </a:r>
          </a:p>
          <a:p>
            <a:pPr algn="ctr"/>
            <a:r>
              <a:rPr lang="pt-BR" sz="800" dirty="0"/>
              <a:t>Observação</a:t>
            </a:r>
            <a:endParaRPr lang="pt-BR" sz="500" dirty="0"/>
          </a:p>
        </p:txBody>
      </p: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B1880C04-5D7A-CA3A-E43A-BFF894EC2448}"/>
              </a:ext>
            </a:extLst>
          </p:cNvPr>
          <p:cNvSpPr txBox="1"/>
          <p:nvPr/>
        </p:nvSpPr>
        <p:spPr>
          <a:xfrm>
            <a:off x="7159425" y="4641956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D</a:t>
            </a:r>
          </a:p>
        </p:txBody>
      </p:sp>
      <p:cxnSp>
        <p:nvCxnSpPr>
          <p:cNvPr id="180" name="Conector: Curvo 179">
            <a:extLst>
              <a:ext uri="{FF2B5EF4-FFF2-40B4-BE49-F238E27FC236}">
                <a16:creationId xmlns:a16="http://schemas.microsoft.com/office/drawing/2014/main" id="{D0C539DF-8155-15B6-7240-F701D05144C4}"/>
              </a:ext>
            </a:extLst>
          </p:cNvPr>
          <p:cNvCxnSpPr>
            <a:cxnSpLocks/>
            <a:stCxn id="170" idx="3"/>
            <a:endCxn id="87" idx="1"/>
          </p:cNvCxnSpPr>
          <p:nvPr/>
        </p:nvCxnSpPr>
        <p:spPr>
          <a:xfrm flipH="1" flipV="1">
            <a:off x="5292058" y="5311885"/>
            <a:ext cx="3785671" cy="17105"/>
          </a:xfrm>
          <a:prstGeom prst="curvedConnector5">
            <a:avLst>
              <a:gd name="adj1" fmla="val -6877"/>
              <a:gd name="adj2" fmla="val -7745788"/>
              <a:gd name="adj3" fmla="val 10323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de Seta Reta 197">
            <a:extLst>
              <a:ext uri="{FF2B5EF4-FFF2-40B4-BE49-F238E27FC236}">
                <a16:creationId xmlns:a16="http://schemas.microsoft.com/office/drawing/2014/main" id="{069562D4-43F4-DA9A-574A-D85FD681197A}"/>
              </a:ext>
            </a:extLst>
          </p:cNvPr>
          <p:cNvCxnSpPr>
            <a:cxnSpLocks/>
          </p:cNvCxnSpPr>
          <p:nvPr/>
        </p:nvCxnSpPr>
        <p:spPr>
          <a:xfrm flipV="1">
            <a:off x="7128578" y="5328824"/>
            <a:ext cx="349013" cy="246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ector de Seta Reta 222">
            <a:extLst>
              <a:ext uri="{FF2B5EF4-FFF2-40B4-BE49-F238E27FC236}">
                <a16:creationId xmlns:a16="http://schemas.microsoft.com/office/drawing/2014/main" id="{05E01F03-1742-002E-44C0-E9B9CC944147}"/>
              </a:ext>
            </a:extLst>
          </p:cNvPr>
          <p:cNvCxnSpPr>
            <a:cxnSpLocks/>
            <a:stCxn id="34" idx="7"/>
          </p:cNvCxnSpPr>
          <p:nvPr/>
        </p:nvCxnSpPr>
        <p:spPr>
          <a:xfrm>
            <a:off x="3265230" y="1827984"/>
            <a:ext cx="281326" cy="96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CaixaDeTexto 225">
            <a:extLst>
              <a:ext uri="{FF2B5EF4-FFF2-40B4-BE49-F238E27FC236}">
                <a16:creationId xmlns:a16="http://schemas.microsoft.com/office/drawing/2014/main" id="{75DF8C08-D14F-3D2B-4EAC-3DAA492BBF82}"/>
              </a:ext>
            </a:extLst>
          </p:cNvPr>
          <p:cNvSpPr txBox="1"/>
          <p:nvPr/>
        </p:nvSpPr>
        <p:spPr>
          <a:xfrm>
            <a:off x="6725229" y="4089601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C</a:t>
            </a:r>
          </a:p>
        </p:txBody>
      </p: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7A75C901-6D7A-9259-B61C-9385FDB2DC94}"/>
              </a:ext>
            </a:extLst>
          </p:cNvPr>
          <p:cNvGrpSpPr/>
          <p:nvPr/>
        </p:nvGrpSpPr>
        <p:grpSpPr>
          <a:xfrm>
            <a:off x="3479593" y="1575587"/>
            <a:ext cx="573593" cy="502229"/>
            <a:chOff x="4449493" y="2967335"/>
            <a:chExt cx="1253198" cy="1097280"/>
          </a:xfrm>
        </p:grpSpPr>
        <p:sp>
          <p:nvSpPr>
            <p:cNvPr id="206" name="Elipse 205">
              <a:extLst>
                <a:ext uri="{FF2B5EF4-FFF2-40B4-BE49-F238E27FC236}">
                  <a16:creationId xmlns:a16="http://schemas.microsoft.com/office/drawing/2014/main" id="{7CAA65B3-1141-2540-D841-5205F5710EFE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07" name="CaixaDeTexto 206">
              <a:extLst>
                <a:ext uri="{FF2B5EF4-FFF2-40B4-BE49-F238E27FC236}">
                  <a16:creationId xmlns:a16="http://schemas.microsoft.com/office/drawing/2014/main" id="{3FDB40B8-23F8-97BC-7A17-AB024262FA79}"/>
                </a:ext>
              </a:extLst>
            </p:cNvPr>
            <p:cNvSpPr txBox="1"/>
            <p:nvPr/>
          </p:nvSpPr>
          <p:spPr>
            <a:xfrm>
              <a:off x="4449493" y="3201371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Parto</a:t>
              </a:r>
            </a:p>
          </p:txBody>
        </p:sp>
      </p:grpSp>
      <p:sp>
        <p:nvSpPr>
          <p:cNvPr id="208" name="CaixaDeTexto 207">
            <a:extLst>
              <a:ext uri="{FF2B5EF4-FFF2-40B4-BE49-F238E27FC236}">
                <a16:creationId xmlns:a16="http://schemas.microsoft.com/office/drawing/2014/main" id="{DC621962-8875-ECCF-71A3-EAF168343213}"/>
              </a:ext>
            </a:extLst>
          </p:cNvPr>
          <p:cNvSpPr txBox="1"/>
          <p:nvPr/>
        </p:nvSpPr>
        <p:spPr>
          <a:xfrm>
            <a:off x="4247156" y="1618951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Parto</a:t>
            </a:r>
          </a:p>
          <a:p>
            <a:pPr algn="ctr"/>
            <a:endParaRPr lang="pt-BR" sz="700" dirty="0"/>
          </a:p>
        </p:txBody>
      </p:sp>
      <p:cxnSp>
        <p:nvCxnSpPr>
          <p:cNvPr id="209" name="Conector de Seta Reta 208">
            <a:extLst>
              <a:ext uri="{FF2B5EF4-FFF2-40B4-BE49-F238E27FC236}">
                <a16:creationId xmlns:a16="http://schemas.microsoft.com/office/drawing/2014/main" id="{1CB400B3-7B51-BF77-84AA-9ACE8E341E78}"/>
              </a:ext>
            </a:extLst>
          </p:cNvPr>
          <p:cNvCxnSpPr>
            <a:cxnSpLocks/>
          </p:cNvCxnSpPr>
          <p:nvPr/>
        </p:nvCxnSpPr>
        <p:spPr>
          <a:xfrm>
            <a:off x="4017504" y="1826702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7" name="Agrupar 226">
            <a:extLst>
              <a:ext uri="{FF2B5EF4-FFF2-40B4-BE49-F238E27FC236}">
                <a16:creationId xmlns:a16="http://schemas.microsoft.com/office/drawing/2014/main" id="{80D181FC-C85C-7008-56B7-B55417BEAF83}"/>
              </a:ext>
            </a:extLst>
          </p:cNvPr>
          <p:cNvGrpSpPr/>
          <p:nvPr/>
        </p:nvGrpSpPr>
        <p:grpSpPr>
          <a:xfrm>
            <a:off x="4282838" y="777356"/>
            <a:ext cx="573593" cy="502229"/>
            <a:chOff x="4439869" y="2967335"/>
            <a:chExt cx="1253198" cy="1097280"/>
          </a:xfrm>
        </p:grpSpPr>
        <p:sp>
          <p:nvSpPr>
            <p:cNvPr id="228" name="Elipse 227">
              <a:extLst>
                <a:ext uri="{FF2B5EF4-FFF2-40B4-BE49-F238E27FC236}">
                  <a16:creationId xmlns:a16="http://schemas.microsoft.com/office/drawing/2014/main" id="{B9E4293A-5CEB-1588-2C64-AF2CA0F68EC5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29" name="CaixaDeTexto 228">
              <a:extLst>
                <a:ext uri="{FF2B5EF4-FFF2-40B4-BE49-F238E27FC236}">
                  <a16:creationId xmlns:a16="http://schemas.microsoft.com/office/drawing/2014/main" id="{A0DA7604-F758-392A-ECD8-9F2F31CE675E}"/>
                </a:ext>
              </a:extLst>
            </p:cNvPr>
            <p:cNvSpPr txBox="1"/>
            <p:nvPr/>
          </p:nvSpPr>
          <p:spPr>
            <a:xfrm>
              <a:off x="4439869" y="3170198"/>
              <a:ext cx="1253198" cy="706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Equipe BO e Neo</a:t>
              </a:r>
            </a:p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Disponível</a:t>
              </a:r>
            </a:p>
          </p:txBody>
        </p:sp>
      </p:grpSp>
      <p:cxnSp>
        <p:nvCxnSpPr>
          <p:cNvPr id="230" name="Conector: Curvo 229">
            <a:extLst>
              <a:ext uri="{FF2B5EF4-FFF2-40B4-BE49-F238E27FC236}">
                <a16:creationId xmlns:a16="http://schemas.microsoft.com/office/drawing/2014/main" id="{8C7A7762-CC71-C2E1-4E12-B78D8D1A5CBD}"/>
              </a:ext>
            </a:extLst>
          </p:cNvPr>
          <p:cNvCxnSpPr>
            <a:cxnSpLocks/>
            <a:stCxn id="229" idx="1"/>
          </p:cNvCxnSpPr>
          <p:nvPr/>
        </p:nvCxnSpPr>
        <p:spPr>
          <a:xfrm rot="10800000" flipV="1">
            <a:off x="4172672" y="1031790"/>
            <a:ext cx="110166" cy="715784"/>
          </a:xfrm>
          <a:prstGeom prst="curvedConnector2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ector: Curvo 230">
            <a:extLst>
              <a:ext uri="{FF2B5EF4-FFF2-40B4-BE49-F238E27FC236}">
                <a16:creationId xmlns:a16="http://schemas.microsoft.com/office/drawing/2014/main" id="{F40ABDE8-FD5E-7873-48DB-E5398449285D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14534" y="1257630"/>
            <a:ext cx="815209" cy="148980"/>
          </a:xfrm>
          <a:prstGeom prst="curvedConnector3">
            <a:avLst>
              <a:gd name="adj1" fmla="val 99760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2" name="Agrupar 231">
            <a:extLst>
              <a:ext uri="{FF2B5EF4-FFF2-40B4-BE49-F238E27FC236}">
                <a16:creationId xmlns:a16="http://schemas.microsoft.com/office/drawing/2014/main" id="{78F28377-6AEC-2EF0-D1DE-D9EB6244F482}"/>
              </a:ext>
            </a:extLst>
          </p:cNvPr>
          <p:cNvGrpSpPr/>
          <p:nvPr/>
        </p:nvGrpSpPr>
        <p:grpSpPr>
          <a:xfrm>
            <a:off x="5409835" y="826843"/>
            <a:ext cx="573593" cy="502229"/>
            <a:chOff x="4449493" y="2967335"/>
            <a:chExt cx="1253198" cy="1097280"/>
          </a:xfrm>
        </p:grpSpPr>
        <p:sp>
          <p:nvSpPr>
            <p:cNvPr id="233" name="Elipse 232">
              <a:extLst>
                <a:ext uri="{FF2B5EF4-FFF2-40B4-BE49-F238E27FC236}">
                  <a16:creationId xmlns:a16="http://schemas.microsoft.com/office/drawing/2014/main" id="{FC748245-F4E7-36CF-DAED-028E8A0A71F6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34" name="CaixaDeTexto 233">
              <a:extLst>
                <a:ext uri="{FF2B5EF4-FFF2-40B4-BE49-F238E27FC236}">
                  <a16:creationId xmlns:a16="http://schemas.microsoft.com/office/drawing/2014/main" id="{D4AB2684-C84F-81B7-2EFE-48B8D917B37B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706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/>
                <a:t>Aguarda</a:t>
              </a:r>
            </a:p>
            <a:p>
              <a:pPr algn="ctr"/>
              <a:r>
                <a:rPr lang="pt-BR" sz="500" dirty="0"/>
                <a:t>Procedimento</a:t>
              </a:r>
            </a:p>
            <a:p>
              <a:pPr algn="ctr"/>
              <a:r>
                <a:rPr lang="pt-BR" sz="500" dirty="0"/>
                <a:t>Especial</a:t>
              </a:r>
            </a:p>
          </p:txBody>
        </p:sp>
      </p:grpSp>
      <p:sp>
        <p:nvSpPr>
          <p:cNvPr id="235" name="CaixaDeTexto 234">
            <a:extLst>
              <a:ext uri="{FF2B5EF4-FFF2-40B4-BE49-F238E27FC236}">
                <a16:creationId xmlns:a16="http://schemas.microsoft.com/office/drawing/2014/main" id="{05BE281E-FCDA-2F49-DA49-19C3D4B6AF8B}"/>
              </a:ext>
            </a:extLst>
          </p:cNvPr>
          <p:cNvSpPr txBox="1"/>
          <p:nvPr/>
        </p:nvSpPr>
        <p:spPr>
          <a:xfrm>
            <a:off x="6179779" y="924068"/>
            <a:ext cx="76177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/>
              <a:t>Procedimento Especial</a:t>
            </a:r>
          </a:p>
        </p:txBody>
      </p:sp>
      <p:cxnSp>
        <p:nvCxnSpPr>
          <p:cNvPr id="236" name="Conector de Seta Reta 235">
            <a:extLst>
              <a:ext uri="{FF2B5EF4-FFF2-40B4-BE49-F238E27FC236}">
                <a16:creationId xmlns:a16="http://schemas.microsoft.com/office/drawing/2014/main" id="{841FD5E7-4410-81BE-F64A-1CF97774CF0D}"/>
              </a:ext>
            </a:extLst>
          </p:cNvPr>
          <p:cNvCxnSpPr>
            <a:cxnSpLocks/>
          </p:cNvCxnSpPr>
          <p:nvPr/>
        </p:nvCxnSpPr>
        <p:spPr>
          <a:xfrm>
            <a:off x="5947746" y="1077959"/>
            <a:ext cx="2317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1" name="Agrupar 240">
            <a:extLst>
              <a:ext uri="{FF2B5EF4-FFF2-40B4-BE49-F238E27FC236}">
                <a16:creationId xmlns:a16="http://schemas.microsoft.com/office/drawing/2014/main" id="{7AED3F6E-DE41-22BE-E597-B00E40D9A60A}"/>
              </a:ext>
            </a:extLst>
          </p:cNvPr>
          <p:cNvGrpSpPr/>
          <p:nvPr/>
        </p:nvGrpSpPr>
        <p:grpSpPr>
          <a:xfrm>
            <a:off x="7379675" y="837338"/>
            <a:ext cx="573593" cy="502229"/>
            <a:chOff x="4449493" y="2967335"/>
            <a:chExt cx="1253198" cy="1097280"/>
          </a:xfrm>
        </p:grpSpPr>
        <p:sp>
          <p:nvSpPr>
            <p:cNvPr id="242" name="Elipse 241">
              <a:extLst>
                <a:ext uri="{FF2B5EF4-FFF2-40B4-BE49-F238E27FC236}">
                  <a16:creationId xmlns:a16="http://schemas.microsoft.com/office/drawing/2014/main" id="{B1EE6EBB-DD49-AD6D-AE05-6567F5796CFA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43" name="CaixaDeTexto 242">
              <a:extLst>
                <a:ext uri="{FF2B5EF4-FFF2-40B4-BE49-F238E27FC236}">
                  <a16:creationId xmlns:a16="http://schemas.microsoft.com/office/drawing/2014/main" id="{2642293E-76E9-218C-1318-2C39EFE666F9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Alojamento</a:t>
              </a:r>
            </a:p>
          </p:txBody>
        </p:sp>
      </p:grpSp>
      <p:grpSp>
        <p:nvGrpSpPr>
          <p:cNvPr id="249" name="Agrupar 248">
            <a:extLst>
              <a:ext uri="{FF2B5EF4-FFF2-40B4-BE49-F238E27FC236}">
                <a16:creationId xmlns:a16="http://schemas.microsoft.com/office/drawing/2014/main" id="{6528AE58-6AB6-DF70-7075-F7AA30800726}"/>
              </a:ext>
            </a:extLst>
          </p:cNvPr>
          <p:cNvGrpSpPr/>
          <p:nvPr/>
        </p:nvGrpSpPr>
        <p:grpSpPr>
          <a:xfrm>
            <a:off x="6272287" y="65536"/>
            <a:ext cx="573593" cy="502229"/>
            <a:chOff x="4449493" y="2967335"/>
            <a:chExt cx="1253198" cy="1097280"/>
          </a:xfrm>
        </p:grpSpPr>
        <p:sp>
          <p:nvSpPr>
            <p:cNvPr id="250" name="Elipse 249">
              <a:extLst>
                <a:ext uri="{FF2B5EF4-FFF2-40B4-BE49-F238E27FC236}">
                  <a16:creationId xmlns:a16="http://schemas.microsoft.com/office/drawing/2014/main" id="{0B5C89FD-A569-FDB2-8505-02A147DAF356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51" name="CaixaDeTexto 250">
              <a:extLst>
                <a:ext uri="{FF2B5EF4-FFF2-40B4-BE49-F238E27FC236}">
                  <a16:creationId xmlns:a16="http://schemas.microsoft.com/office/drawing/2014/main" id="{4A2AB9DB-DCA4-694B-3CF8-27391EE47516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Técnicos BO</a:t>
              </a:r>
            </a:p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Disponível</a:t>
              </a:r>
            </a:p>
          </p:txBody>
        </p:sp>
      </p:grpSp>
      <p:cxnSp>
        <p:nvCxnSpPr>
          <p:cNvPr id="252" name="Conector: Curvo 251">
            <a:extLst>
              <a:ext uri="{FF2B5EF4-FFF2-40B4-BE49-F238E27FC236}">
                <a16:creationId xmlns:a16="http://schemas.microsoft.com/office/drawing/2014/main" id="{65C0EF61-3D64-A4C0-3AA3-8E033372AE0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22121" y="317075"/>
            <a:ext cx="132062" cy="653460"/>
          </a:xfrm>
          <a:prstGeom prst="curvedConnector2">
            <a:avLst/>
          </a:prstGeom>
          <a:ln w="1905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ector: Curvo 252">
            <a:extLst>
              <a:ext uri="{FF2B5EF4-FFF2-40B4-BE49-F238E27FC236}">
                <a16:creationId xmlns:a16="http://schemas.microsoft.com/office/drawing/2014/main" id="{C38EE39B-F71D-A149-8391-8B24B6E50FF7}"/>
              </a:ext>
            </a:extLst>
          </p:cNvPr>
          <p:cNvCxnSpPr>
            <a:cxnSpLocks/>
            <a:endCxn id="251" idx="3"/>
          </p:cNvCxnSpPr>
          <p:nvPr/>
        </p:nvCxnSpPr>
        <p:spPr>
          <a:xfrm rot="16200000" flipV="1">
            <a:off x="6585020" y="580883"/>
            <a:ext cx="687891" cy="166169"/>
          </a:xfrm>
          <a:prstGeom prst="curvedConnector2">
            <a:avLst/>
          </a:prstGeom>
          <a:ln w="1905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ector: Curvo 263">
            <a:extLst>
              <a:ext uri="{FF2B5EF4-FFF2-40B4-BE49-F238E27FC236}">
                <a16:creationId xmlns:a16="http://schemas.microsoft.com/office/drawing/2014/main" id="{335CBD24-6982-E2C8-3599-A153E860E8A8}"/>
              </a:ext>
            </a:extLst>
          </p:cNvPr>
          <p:cNvCxnSpPr>
            <a:stCxn id="208" idx="3"/>
            <a:endCxn id="243" idx="1"/>
          </p:cNvCxnSpPr>
          <p:nvPr/>
        </p:nvCxnSpPr>
        <p:spPr>
          <a:xfrm flipV="1">
            <a:off x="4929672" y="1076669"/>
            <a:ext cx="2450003" cy="750031"/>
          </a:xfrm>
          <a:prstGeom prst="curvedConnector3">
            <a:avLst>
              <a:gd name="adj1" fmla="val 9924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6" name="Agrupar 265">
            <a:extLst>
              <a:ext uri="{FF2B5EF4-FFF2-40B4-BE49-F238E27FC236}">
                <a16:creationId xmlns:a16="http://schemas.microsoft.com/office/drawing/2014/main" id="{DB86AF7D-EAB1-1784-3A12-2FC456D87C3C}"/>
              </a:ext>
            </a:extLst>
          </p:cNvPr>
          <p:cNvGrpSpPr/>
          <p:nvPr/>
        </p:nvGrpSpPr>
        <p:grpSpPr>
          <a:xfrm>
            <a:off x="5068173" y="2060372"/>
            <a:ext cx="573593" cy="502229"/>
            <a:chOff x="4448610" y="2967335"/>
            <a:chExt cx="1253198" cy="1097280"/>
          </a:xfrm>
        </p:grpSpPr>
        <p:sp>
          <p:nvSpPr>
            <p:cNvPr id="267" name="Elipse 266">
              <a:extLst>
                <a:ext uri="{FF2B5EF4-FFF2-40B4-BE49-F238E27FC236}">
                  <a16:creationId xmlns:a16="http://schemas.microsoft.com/office/drawing/2014/main" id="{5A7EEC37-3A94-82C5-3906-D82C2A05CFE1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68" name="CaixaDeTexto 267">
              <a:extLst>
                <a:ext uri="{FF2B5EF4-FFF2-40B4-BE49-F238E27FC236}">
                  <a16:creationId xmlns:a16="http://schemas.microsoft.com/office/drawing/2014/main" id="{F5E3E1F4-98AC-D71C-8686-564F8313E849}"/>
                </a:ext>
              </a:extLst>
            </p:cNvPr>
            <p:cNvSpPr txBox="1"/>
            <p:nvPr/>
          </p:nvSpPr>
          <p:spPr>
            <a:xfrm>
              <a:off x="4448610" y="3088894"/>
              <a:ext cx="1253198" cy="907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Avaliação inicial</a:t>
              </a:r>
            </a:p>
          </p:txBody>
        </p:sp>
      </p:grpSp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A8C58324-41BD-AD8C-F600-CD2691237B27}"/>
              </a:ext>
            </a:extLst>
          </p:cNvPr>
          <p:cNvSpPr txBox="1"/>
          <p:nvPr/>
        </p:nvSpPr>
        <p:spPr>
          <a:xfrm>
            <a:off x="5836140" y="2049875"/>
            <a:ext cx="68251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Avaliação Inicial</a:t>
            </a:r>
          </a:p>
          <a:p>
            <a:pPr algn="ctr"/>
            <a:endParaRPr lang="pt-BR" sz="700" dirty="0"/>
          </a:p>
        </p:txBody>
      </p:sp>
      <p:cxnSp>
        <p:nvCxnSpPr>
          <p:cNvPr id="270" name="Conector de Seta Reta 269">
            <a:extLst>
              <a:ext uri="{FF2B5EF4-FFF2-40B4-BE49-F238E27FC236}">
                <a16:creationId xmlns:a16="http://schemas.microsoft.com/office/drawing/2014/main" id="{0B7CB9DA-BF19-66FF-7B97-62248F7E8B2A}"/>
              </a:ext>
            </a:extLst>
          </p:cNvPr>
          <p:cNvCxnSpPr>
            <a:cxnSpLocks/>
          </p:cNvCxnSpPr>
          <p:nvPr/>
        </p:nvCxnSpPr>
        <p:spPr>
          <a:xfrm>
            <a:off x="5606488" y="2311487"/>
            <a:ext cx="23179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ector de Seta Reta 271">
            <a:extLst>
              <a:ext uri="{FF2B5EF4-FFF2-40B4-BE49-F238E27FC236}">
                <a16:creationId xmlns:a16="http://schemas.microsoft.com/office/drawing/2014/main" id="{3F332E56-5CCE-7652-6C33-97DB40B01688}"/>
              </a:ext>
            </a:extLst>
          </p:cNvPr>
          <p:cNvCxnSpPr>
            <a:cxnSpLocks/>
            <a:stCxn id="208" idx="2"/>
            <a:endCxn id="268" idx="1"/>
          </p:cNvCxnSpPr>
          <p:nvPr/>
        </p:nvCxnSpPr>
        <p:spPr>
          <a:xfrm>
            <a:off x="4588414" y="2034449"/>
            <a:ext cx="479759" cy="28931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4" name="Agrupar 273">
            <a:extLst>
              <a:ext uri="{FF2B5EF4-FFF2-40B4-BE49-F238E27FC236}">
                <a16:creationId xmlns:a16="http://schemas.microsoft.com/office/drawing/2014/main" id="{7A5A9196-7D72-5037-EBB7-7903AE0F3F3F}"/>
              </a:ext>
            </a:extLst>
          </p:cNvPr>
          <p:cNvGrpSpPr/>
          <p:nvPr/>
        </p:nvGrpSpPr>
        <p:grpSpPr>
          <a:xfrm>
            <a:off x="4348546" y="2749856"/>
            <a:ext cx="573593" cy="502229"/>
            <a:chOff x="4448612" y="2967335"/>
            <a:chExt cx="1253198" cy="1097280"/>
          </a:xfrm>
        </p:grpSpPr>
        <p:sp>
          <p:nvSpPr>
            <p:cNvPr id="275" name="Elipse 274">
              <a:extLst>
                <a:ext uri="{FF2B5EF4-FFF2-40B4-BE49-F238E27FC236}">
                  <a16:creationId xmlns:a16="http://schemas.microsoft.com/office/drawing/2014/main" id="{CDCF3815-4CBB-A9FB-C4F6-1A891B91D7E9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76" name="CaixaDeTexto 275">
              <a:extLst>
                <a:ext uri="{FF2B5EF4-FFF2-40B4-BE49-F238E27FC236}">
                  <a16:creationId xmlns:a16="http://schemas.microsoft.com/office/drawing/2014/main" id="{26E56E12-0006-571F-E366-0F06B8A77E0C}"/>
                </a:ext>
              </a:extLst>
            </p:cNvPr>
            <p:cNvSpPr txBox="1"/>
            <p:nvPr/>
          </p:nvSpPr>
          <p:spPr>
            <a:xfrm>
              <a:off x="4448612" y="3201200"/>
              <a:ext cx="1253198" cy="6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UCP</a:t>
              </a:r>
            </a:p>
          </p:txBody>
        </p:sp>
      </p:grpSp>
      <p:sp>
        <p:nvSpPr>
          <p:cNvPr id="277" name="CaixaDeTexto 276">
            <a:extLst>
              <a:ext uri="{FF2B5EF4-FFF2-40B4-BE49-F238E27FC236}">
                <a16:creationId xmlns:a16="http://schemas.microsoft.com/office/drawing/2014/main" id="{07E5AAA4-EE99-653D-BD26-742475082E16}"/>
              </a:ext>
            </a:extLst>
          </p:cNvPr>
          <p:cNvSpPr txBox="1"/>
          <p:nvPr/>
        </p:nvSpPr>
        <p:spPr>
          <a:xfrm>
            <a:off x="5116512" y="2793220"/>
            <a:ext cx="68251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UCP</a:t>
            </a:r>
          </a:p>
          <a:p>
            <a:pPr algn="ctr"/>
            <a:endParaRPr lang="pt-BR" sz="700" dirty="0"/>
          </a:p>
        </p:txBody>
      </p:sp>
      <p:cxnSp>
        <p:nvCxnSpPr>
          <p:cNvPr id="278" name="Conector de Seta Reta 277">
            <a:extLst>
              <a:ext uri="{FF2B5EF4-FFF2-40B4-BE49-F238E27FC236}">
                <a16:creationId xmlns:a16="http://schemas.microsoft.com/office/drawing/2014/main" id="{98548B11-4FAE-88E2-97C3-B21CF40A9667}"/>
              </a:ext>
            </a:extLst>
          </p:cNvPr>
          <p:cNvCxnSpPr>
            <a:cxnSpLocks/>
          </p:cNvCxnSpPr>
          <p:nvPr/>
        </p:nvCxnSpPr>
        <p:spPr>
          <a:xfrm>
            <a:off x="4886860" y="3000971"/>
            <a:ext cx="23179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ector: Curvo 279">
            <a:extLst>
              <a:ext uri="{FF2B5EF4-FFF2-40B4-BE49-F238E27FC236}">
                <a16:creationId xmlns:a16="http://schemas.microsoft.com/office/drawing/2014/main" id="{868D42F7-A470-0EC7-3837-3AB8DAF8137B}"/>
              </a:ext>
            </a:extLst>
          </p:cNvPr>
          <p:cNvCxnSpPr>
            <a:stCxn id="208" idx="2"/>
            <a:endCxn id="276" idx="1"/>
          </p:cNvCxnSpPr>
          <p:nvPr/>
        </p:nvCxnSpPr>
        <p:spPr>
          <a:xfrm rot="5400000">
            <a:off x="3980312" y="2402683"/>
            <a:ext cx="976337" cy="239868"/>
          </a:xfrm>
          <a:prstGeom prst="curvedConnector4">
            <a:avLst>
              <a:gd name="adj1" fmla="val 42119"/>
              <a:gd name="adj2" fmla="val 195302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CaixaDeTexto 284">
            <a:extLst>
              <a:ext uri="{FF2B5EF4-FFF2-40B4-BE49-F238E27FC236}">
                <a16:creationId xmlns:a16="http://schemas.microsoft.com/office/drawing/2014/main" id="{3323CE0A-E521-D53F-3277-B17AF15BF3AA}"/>
              </a:ext>
            </a:extLst>
          </p:cNvPr>
          <p:cNvSpPr txBox="1"/>
          <p:nvPr/>
        </p:nvSpPr>
        <p:spPr>
          <a:xfrm>
            <a:off x="4701617" y="2115761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F</a:t>
            </a:r>
          </a:p>
        </p:txBody>
      </p:sp>
      <p:sp>
        <p:nvSpPr>
          <p:cNvPr id="286" name="CaixaDeTexto 285">
            <a:extLst>
              <a:ext uri="{FF2B5EF4-FFF2-40B4-BE49-F238E27FC236}">
                <a16:creationId xmlns:a16="http://schemas.microsoft.com/office/drawing/2014/main" id="{8E130523-951F-321D-3876-4F7A8F7555DD}"/>
              </a:ext>
            </a:extLst>
          </p:cNvPr>
          <p:cNvSpPr txBox="1"/>
          <p:nvPr/>
        </p:nvSpPr>
        <p:spPr>
          <a:xfrm>
            <a:off x="3946159" y="2506779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G</a:t>
            </a:r>
          </a:p>
        </p:txBody>
      </p:sp>
      <p:grpSp>
        <p:nvGrpSpPr>
          <p:cNvPr id="287" name="Agrupar 286">
            <a:extLst>
              <a:ext uri="{FF2B5EF4-FFF2-40B4-BE49-F238E27FC236}">
                <a16:creationId xmlns:a16="http://schemas.microsoft.com/office/drawing/2014/main" id="{A28F4816-7C16-0CF2-C652-16F63F7E71C3}"/>
              </a:ext>
            </a:extLst>
          </p:cNvPr>
          <p:cNvGrpSpPr/>
          <p:nvPr/>
        </p:nvGrpSpPr>
        <p:grpSpPr>
          <a:xfrm>
            <a:off x="7360196" y="1713559"/>
            <a:ext cx="573593" cy="502229"/>
            <a:chOff x="4449493" y="2967335"/>
            <a:chExt cx="1253198" cy="1097280"/>
          </a:xfrm>
        </p:grpSpPr>
        <p:sp>
          <p:nvSpPr>
            <p:cNvPr id="288" name="Elipse 287">
              <a:extLst>
                <a:ext uri="{FF2B5EF4-FFF2-40B4-BE49-F238E27FC236}">
                  <a16:creationId xmlns:a16="http://schemas.microsoft.com/office/drawing/2014/main" id="{F64B5227-E47F-9E0D-8DC2-E26761F0E879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89" name="CaixaDeTexto 288">
              <a:extLst>
                <a:ext uri="{FF2B5EF4-FFF2-40B4-BE49-F238E27FC236}">
                  <a16:creationId xmlns:a16="http://schemas.microsoft.com/office/drawing/2014/main" id="{5F2096E6-B7D0-A109-EE8E-150A74603FF7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Alojamento</a:t>
              </a:r>
            </a:p>
          </p:txBody>
        </p:sp>
      </p:grpSp>
      <p:cxnSp>
        <p:nvCxnSpPr>
          <p:cNvPr id="291" name="Conector: Curvo 290">
            <a:extLst>
              <a:ext uri="{FF2B5EF4-FFF2-40B4-BE49-F238E27FC236}">
                <a16:creationId xmlns:a16="http://schemas.microsoft.com/office/drawing/2014/main" id="{3FE96165-2FF0-AE52-EB0F-3848F5F8BAF5}"/>
              </a:ext>
            </a:extLst>
          </p:cNvPr>
          <p:cNvCxnSpPr>
            <a:stCxn id="269" idx="3"/>
            <a:endCxn id="289" idx="1"/>
          </p:cNvCxnSpPr>
          <p:nvPr/>
        </p:nvCxnSpPr>
        <p:spPr>
          <a:xfrm flipV="1">
            <a:off x="6518656" y="1952890"/>
            <a:ext cx="841540" cy="358595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Agrupar 294">
            <a:extLst>
              <a:ext uri="{FF2B5EF4-FFF2-40B4-BE49-F238E27FC236}">
                <a16:creationId xmlns:a16="http://schemas.microsoft.com/office/drawing/2014/main" id="{3E30D96C-7385-A0D0-60DB-99021E61B99F}"/>
              </a:ext>
            </a:extLst>
          </p:cNvPr>
          <p:cNvGrpSpPr/>
          <p:nvPr/>
        </p:nvGrpSpPr>
        <p:grpSpPr>
          <a:xfrm>
            <a:off x="5185638" y="3477297"/>
            <a:ext cx="573593" cy="502229"/>
            <a:chOff x="4431683" y="2967335"/>
            <a:chExt cx="1253198" cy="1097280"/>
          </a:xfrm>
        </p:grpSpPr>
        <p:sp>
          <p:nvSpPr>
            <p:cNvPr id="296" name="Elipse 295">
              <a:extLst>
                <a:ext uri="{FF2B5EF4-FFF2-40B4-BE49-F238E27FC236}">
                  <a16:creationId xmlns:a16="http://schemas.microsoft.com/office/drawing/2014/main" id="{7E59E476-7AC6-45C1-3ED6-32B6B0DE1E1A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297" name="CaixaDeTexto 296">
              <a:extLst>
                <a:ext uri="{FF2B5EF4-FFF2-40B4-BE49-F238E27FC236}">
                  <a16:creationId xmlns:a16="http://schemas.microsoft.com/office/drawing/2014/main" id="{1BD72223-084C-9441-2144-9DD0631F566F}"/>
                </a:ext>
              </a:extLst>
            </p:cNvPr>
            <p:cNvSpPr txBox="1"/>
            <p:nvPr/>
          </p:nvSpPr>
          <p:spPr>
            <a:xfrm>
              <a:off x="4431683" y="3090983"/>
              <a:ext cx="1253198" cy="874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C00000"/>
                  </a:solidFill>
                </a:rPr>
                <a:t>Leito UCP/Equipe Neo</a:t>
              </a:r>
            </a:p>
            <a:p>
              <a:pPr algn="ctr"/>
              <a:r>
                <a:rPr lang="pt-BR" sz="500" dirty="0">
                  <a:solidFill>
                    <a:srgbClr val="C00000"/>
                  </a:solidFill>
                </a:rPr>
                <a:t>Disponível</a:t>
              </a:r>
            </a:p>
          </p:txBody>
        </p:sp>
      </p:grpSp>
      <p:cxnSp>
        <p:nvCxnSpPr>
          <p:cNvPr id="298" name="Conector: Curvo 297">
            <a:extLst>
              <a:ext uri="{FF2B5EF4-FFF2-40B4-BE49-F238E27FC236}">
                <a16:creationId xmlns:a16="http://schemas.microsoft.com/office/drawing/2014/main" id="{2B40CCF4-F24C-1704-1FFD-63E4E806C09D}"/>
              </a:ext>
            </a:extLst>
          </p:cNvPr>
          <p:cNvCxnSpPr>
            <a:cxnSpLocks/>
          </p:cNvCxnSpPr>
          <p:nvPr/>
        </p:nvCxnSpPr>
        <p:spPr>
          <a:xfrm>
            <a:off x="5810404" y="3055370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Conector: Curvo 298">
            <a:extLst>
              <a:ext uri="{FF2B5EF4-FFF2-40B4-BE49-F238E27FC236}">
                <a16:creationId xmlns:a16="http://schemas.microsoft.com/office/drawing/2014/main" id="{A0D21BB2-1530-569F-14A6-4860C4F0B816}"/>
              </a:ext>
            </a:extLst>
          </p:cNvPr>
          <p:cNvCxnSpPr>
            <a:cxnSpLocks/>
          </p:cNvCxnSpPr>
          <p:nvPr/>
        </p:nvCxnSpPr>
        <p:spPr>
          <a:xfrm flipH="1" flipV="1">
            <a:off x="5082623" y="3102822"/>
            <a:ext cx="54462" cy="749780"/>
          </a:xfrm>
          <a:prstGeom prst="curvedConnector3">
            <a:avLst>
              <a:gd name="adj1" fmla="val 519742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CaixaDeTexto 299">
            <a:extLst>
              <a:ext uri="{FF2B5EF4-FFF2-40B4-BE49-F238E27FC236}">
                <a16:creationId xmlns:a16="http://schemas.microsoft.com/office/drawing/2014/main" id="{F312CCAF-D97F-B138-BF0E-D6EAE86F2660}"/>
              </a:ext>
            </a:extLst>
          </p:cNvPr>
          <p:cNvSpPr txBox="1"/>
          <p:nvPr/>
        </p:nvSpPr>
        <p:spPr>
          <a:xfrm>
            <a:off x="8315951" y="924068"/>
            <a:ext cx="76177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/>
              <a:t>Alojamento</a:t>
            </a:r>
          </a:p>
          <a:p>
            <a:pPr algn="ctr"/>
            <a:r>
              <a:rPr lang="pt-BR" sz="700" dirty="0"/>
              <a:t>Conjunto</a:t>
            </a:r>
          </a:p>
        </p:txBody>
      </p:sp>
      <p:cxnSp>
        <p:nvCxnSpPr>
          <p:cNvPr id="302" name="Conector de Seta Reta 301">
            <a:extLst>
              <a:ext uri="{FF2B5EF4-FFF2-40B4-BE49-F238E27FC236}">
                <a16:creationId xmlns:a16="http://schemas.microsoft.com/office/drawing/2014/main" id="{BDC6E233-6EE6-14B9-3212-D4334AC297F1}"/>
              </a:ext>
            </a:extLst>
          </p:cNvPr>
          <p:cNvCxnSpPr>
            <a:cxnSpLocks/>
          </p:cNvCxnSpPr>
          <p:nvPr/>
        </p:nvCxnSpPr>
        <p:spPr>
          <a:xfrm>
            <a:off x="7924748" y="1076669"/>
            <a:ext cx="362683" cy="12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onector: Curvo 303">
            <a:extLst>
              <a:ext uri="{FF2B5EF4-FFF2-40B4-BE49-F238E27FC236}">
                <a16:creationId xmlns:a16="http://schemas.microsoft.com/office/drawing/2014/main" id="{F9F7866C-EFC0-87DE-072A-E47105336879}"/>
              </a:ext>
            </a:extLst>
          </p:cNvPr>
          <p:cNvCxnSpPr>
            <a:stCxn id="289" idx="3"/>
            <a:endCxn id="300" idx="1"/>
          </p:cNvCxnSpPr>
          <p:nvPr/>
        </p:nvCxnSpPr>
        <p:spPr>
          <a:xfrm flipV="1">
            <a:off x="7933789" y="1077957"/>
            <a:ext cx="382162" cy="874933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6" name="Agrupar 305">
            <a:extLst>
              <a:ext uri="{FF2B5EF4-FFF2-40B4-BE49-F238E27FC236}">
                <a16:creationId xmlns:a16="http://schemas.microsoft.com/office/drawing/2014/main" id="{26F00BA3-AFE9-696B-3CEC-B7CF2248818E}"/>
              </a:ext>
            </a:extLst>
          </p:cNvPr>
          <p:cNvGrpSpPr/>
          <p:nvPr/>
        </p:nvGrpSpPr>
        <p:grpSpPr>
          <a:xfrm>
            <a:off x="6708888" y="3189670"/>
            <a:ext cx="606323" cy="502229"/>
            <a:chOff x="616635" y="2771335"/>
            <a:chExt cx="1324707" cy="1097280"/>
          </a:xfrm>
        </p:grpSpPr>
        <p:sp>
          <p:nvSpPr>
            <p:cNvPr id="307" name="Elipse 306">
              <a:extLst>
                <a:ext uri="{FF2B5EF4-FFF2-40B4-BE49-F238E27FC236}">
                  <a16:creationId xmlns:a16="http://schemas.microsoft.com/office/drawing/2014/main" id="{593E1323-7DAD-3D4C-3631-00BD1521E607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308" name="Elipse 307">
              <a:extLst>
                <a:ext uri="{FF2B5EF4-FFF2-40B4-BE49-F238E27FC236}">
                  <a16:creationId xmlns:a16="http://schemas.microsoft.com/office/drawing/2014/main" id="{832ED662-CA78-F97A-AFD7-0F6E9BD6C225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09" name="CaixaDeTexto 308">
              <a:extLst>
                <a:ext uri="{FF2B5EF4-FFF2-40B4-BE49-F238E27FC236}">
                  <a16:creationId xmlns:a16="http://schemas.microsoft.com/office/drawing/2014/main" id="{431AABA2-3D5B-1C28-C8D6-149AC6DE8C2A}"/>
                </a:ext>
              </a:extLst>
            </p:cNvPr>
            <p:cNvSpPr txBox="1"/>
            <p:nvPr/>
          </p:nvSpPr>
          <p:spPr>
            <a:xfrm>
              <a:off x="886945" y="3098296"/>
              <a:ext cx="1011513" cy="437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Óbito</a:t>
              </a:r>
            </a:p>
          </p:txBody>
        </p:sp>
      </p:grpSp>
      <p:cxnSp>
        <p:nvCxnSpPr>
          <p:cNvPr id="311" name="Conector: Curvo 310">
            <a:extLst>
              <a:ext uri="{FF2B5EF4-FFF2-40B4-BE49-F238E27FC236}">
                <a16:creationId xmlns:a16="http://schemas.microsoft.com/office/drawing/2014/main" id="{97E21169-5264-0F88-CF3A-05BC0C0EF59B}"/>
              </a:ext>
            </a:extLst>
          </p:cNvPr>
          <p:cNvCxnSpPr>
            <a:stCxn id="277" idx="3"/>
            <a:endCxn id="307" idx="2"/>
          </p:cNvCxnSpPr>
          <p:nvPr/>
        </p:nvCxnSpPr>
        <p:spPr>
          <a:xfrm>
            <a:off x="5799028" y="3000969"/>
            <a:ext cx="909860" cy="439816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CaixaDeTexto 311">
            <a:extLst>
              <a:ext uri="{FF2B5EF4-FFF2-40B4-BE49-F238E27FC236}">
                <a16:creationId xmlns:a16="http://schemas.microsoft.com/office/drawing/2014/main" id="{C363180B-7B00-463E-9E3C-1AFE45FAD8B9}"/>
              </a:ext>
            </a:extLst>
          </p:cNvPr>
          <p:cNvSpPr txBox="1"/>
          <p:nvPr/>
        </p:nvSpPr>
        <p:spPr>
          <a:xfrm>
            <a:off x="6294944" y="2791012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H</a:t>
            </a:r>
          </a:p>
        </p:txBody>
      </p:sp>
      <p:sp>
        <p:nvSpPr>
          <p:cNvPr id="313" name="CaixaDeTexto 312">
            <a:extLst>
              <a:ext uri="{FF2B5EF4-FFF2-40B4-BE49-F238E27FC236}">
                <a16:creationId xmlns:a16="http://schemas.microsoft.com/office/drawing/2014/main" id="{DEB4AA4E-1FC5-A5E5-F721-3C916205CC71}"/>
              </a:ext>
            </a:extLst>
          </p:cNvPr>
          <p:cNvSpPr txBox="1"/>
          <p:nvPr/>
        </p:nvSpPr>
        <p:spPr>
          <a:xfrm>
            <a:off x="6227188" y="3062521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I</a:t>
            </a:r>
          </a:p>
        </p:txBody>
      </p:sp>
      <p:grpSp>
        <p:nvGrpSpPr>
          <p:cNvPr id="314" name="Agrupar 313">
            <a:extLst>
              <a:ext uri="{FF2B5EF4-FFF2-40B4-BE49-F238E27FC236}">
                <a16:creationId xmlns:a16="http://schemas.microsoft.com/office/drawing/2014/main" id="{A67C207C-D817-1483-E374-0316DAFF103C}"/>
              </a:ext>
            </a:extLst>
          </p:cNvPr>
          <p:cNvGrpSpPr/>
          <p:nvPr/>
        </p:nvGrpSpPr>
        <p:grpSpPr>
          <a:xfrm>
            <a:off x="8396927" y="83766"/>
            <a:ext cx="573593" cy="502229"/>
            <a:chOff x="4449493" y="2967335"/>
            <a:chExt cx="1253198" cy="1097280"/>
          </a:xfrm>
        </p:grpSpPr>
        <p:sp>
          <p:nvSpPr>
            <p:cNvPr id="315" name="Elipse 314">
              <a:extLst>
                <a:ext uri="{FF2B5EF4-FFF2-40B4-BE49-F238E27FC236}">
                  <a16:creationId xmlns:a16="http://schemas.microsoft.com/office/drawing/2014/main" id="{505A9D18-A6FB-67B0-6F07-1CAB34C8AC2A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16" name="CaixaDeTexto 315">
              <a:extLst>
                <a:ext uri="{FF2B5EF4-FFF2-40B4-BE49-F238E27FC236}">
                  <a16:creationId xmlns:a16="http://schemas.microsoft.com/office/drawing/2014/main" id="{87A3652D-3885-133D-D8CC-1B05FD37C5B8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  <a:prstDash val="sysDot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chemeClr val="bg1">
                      <a:lumMod val="65000"/>
                    </a:schemeClr>
                  </a:solidFill>
                </a:rPr>
                <a:t>Alojamento</a:t>
              </a:r>
            </a:p>
            <a:p>
              <a:pPr algn="ctr"/>
              <a:r>
                <a:rPr lang="pt-BR" sz="500" dirty="0">
                  <a:solidFill>
                    <a:schemeClr val="bg1">
                      <a:lumMod val="65000"/>
                    </a:schemeClr>
                  </a:solidFill>
                </a:rPr>
                <a:t>Disponível</a:t>
              </a:r>
            </a:p>
          </p:txBody>
        </p:sp>
      </p:grpSp>
      <p:cxnSp>
        <p:nvCxnSpPr>
          <p:cNvPr id="317" name="Conector: Curvo 316">
            <a:extLst>
              <a:ext uri="{FF2B5EF4-FFF2-40B4-BE49-F238E27FC236}">
                <a16:creationId xmlns:a16="http://schemas.microsoft.com/office/drawing/2014/main" id="{DE0C7677-1EBC-CAAE-FF3A-F67E83DCC884}"/>
              </a:ext>
            </a:extLst>
          </p:cNvPr>
          <p:cNvCxnSpPr>
            <a:cxnSpLocks/>
          </p:cNvCxnSpPr>
          <p:nvPr/>
        </p:nvCxnSpPr>
        <p:spPr>
          <a:xfrm rot="10800000" flipV="1">
            <a:off x="8246761" y="335305"/>
            <a:ext cx="132062" cy="653460"/>
          </a:xfrm>
          <a:prstGeom prst="curvedConnector2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Conector: Curvo 317">
            <a:extLst>
              <a:ext uri="{FF2B5EF4-FFF2-40B4-BE49-F238E27FC236}">
                <a16:creationId xmlns:a16="http://schemas.microsoft.com/office/drawing/2014/main" id="{CF2AE45C-004C-CC54-E4D6-CB79B00C5F27}"/>
              </a:ext>
            </a:extLst>
          </p:cNvPr>
          <p:cNvCxnSpPr>
            <a:cxnSpLocks/>
            <a:endCxn id="316" idx="3"/>
          </p:cNvCxnSpPr>
          <p:nvPr/>
        </p:nvCxnSpPr>
        <p:spPr>
          <a:xfrm rot="16200000" flipV="1">
            <a:off x="8709660" y="599113"/>
            <a:ext cx="687891" cy="166169"/>
          </a:xfrm>
          <a:prstGeom prst="curvedConnector2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9" name="Agrupar 318">
            <a:extLst>
              <a:ext uri="{FF2B5EF4-FFF2-40B4-BE49-F238E27FC236}">
                <a16:creationId xmlns:a16="http://schemas.microsoft.com/office/drawing/2014/main" id="{C01B8F0C-87A3-7BC9-72E2-9C48060B4E03}"/>
              </a:ext>
            </a:extLst>
          </p:cNvPr>
          <p:cNvGrpSpPr/>
          <p:nvPr/>
        </p:nvGrpSpPr>
        <p:grpSpPr>
          <a:xfrm>
            <a:off x="7935531" y="2435115"/>
            <a:ext cx="573593" cy="502229"/>
            <a:chOff x="4448608" y="2967335"/>
            <a:chExt cx="1253197" cy="1097280"/>
          </a:xfrm>
        </p:grpSpPr>
        <p:sp>
          <p:nvSpPr>
            <p:cNvPr id="320" name="Elipse 319">
              <a:extLst>
                <a:ext uri="{FF2B5EF4-FFF2-40B4-BE49-F238E27FC236}">
                  <a16:creationId xmlns:a16="http://schemas.microsoft.com/office/drawing/2014/main" id="{0EA39955-8E16-8116-6553-046DE25A9BC9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21" name="CaixaDeTexto 320">
              <a:extLst>
                <a:ext uri="{FF2B5EF4-FFF2-40B4-BE49-F238E27FC236}">
                  <a16:creationId xmlns:a16="http://schemas.microsoft.com/office/drawing/2014/main" id="{5638601B-C34C-6774-2502-DC9D4E2CDF6D}"/>
                </a:ext>
              </a:extLst>
            </p:cNvPr>
            <p:cNvSpPr txBox="1"/>
            <p:nvPr/>
          </p:nvSpPr>
          <p:spPr>
            <a:xfrm>
              <a:off x="4448608" y="3088896"/>
              <a:ext cx="1253197" cy="907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Aguarda</a:t>
              </a:r>
            </a:p>
            <a:p>
              <a:pPr algn="ctr"/>
              <a:r>
                <a:rPr lang="pt-BR" sz="700" dirty="0"/>
                <a:t>Testes</a:t>
              </a:r>
            </a:p>
            <a:p>
              <a:pPr algn="ctr"/>
              <a:r>
                <a:rPr lang="pt-BR" sz="700" dirty="0"/>
                <a:t>Neonatais</a:t>
              </a:r>
            </a:p>
          </p:txBody>
        </p:sp>
      </p:grpSp>
      <p:sp>
        <p:nvSpPr>
          <p:cNvPr id="322" name="CaixaDeTexto 321">
            <a:extLst>
              <a:ext uri="{FF2B5EF4-FFF2-40B4-BE49-F238E27FC236}">
                <a16:creationId xmlns:a16="http://schemas.microsoft.com/office/drawing/2014/main" id="{214DCEA1-7864-C3CF-ED8D-DACBCDC1A161}"/>
              </a:ext>
            </a:extLst>
          </p:cNvPr>
          <p:cNvSpPr txBox="1"/>
          <p:nvPr/>
        </p:nvSpPr>
        <p:spPr>
          <a:xfrm>
            <a:off x="8703498" y="2424618"/>
            <a:ext cx="68251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pt-BR" sz="700" dirty="0"/>
          </a:p>
          <a:p>
            <a:pPr algn="ctr"/>
            <a:r>
              <a:rPr lang="pt-BR" sz="700" dirty="0"/>
              <a:t>Testes Neonatais</a:t>
            </a:r>
          </a:p>
          <a:p>
            <a:pPr algn="ctr"/>
            <a:endParaRPr lang="pt-BR" sz="700" dirty="0"/>
          </a:p>
        </p:txBody>
      </p:sp>
      <p:cxnSp>
        <p:nvCxnSpPr>
          <p:cNvPr id="323" name="Conector de Seta Reta 322">
            <a:extLst>
              <a:ext uri="{FF2B5EF4-FFF2-40B4-BE49-F238E27FC236}">
                <a16:creationId xmlns:a16="http://schemas.microsoft.com/office/drawing/2014/main" id="{C6ED33F6-EBC1-DE1C-819D-230BC1D07D9F}"/>
              </a:ext>
            </a:extLst>
          </p:cNvPr>
          <p:cNvCxnSpPr>
            <a:cxnSpLocks/>
          </p:cNvCxnSpPr>
          <p:nvPr/>
        </p:nvCxnSpPr>
        <p:spPr>
          <a:xfrm>
            <a:off x="8473846" y="2686230"/>
            <a:ext cx="23179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4" name="Agrupar 323">
            <a:extLst>
              <a:ext uri="{FF2B5EF4-FFF2-40B4-BE49-F238E27FC236}">
                <a16:creationId xmlns:a16="http://schemas.microsoft.com/office/drawing/2014/main" id="{C785D17C-ACAC-67D7-28D5-2F04E4B90314}"/>
              </a:ext>
            </a:extLst>
          </p:cNvPr>
          <p:cNvGrpSpPr/>
          <p:nvPr/>
        </p:nvGrpSpPr>
        <p:grpSpPr>
          <a:xfrm>
            <a:off x="9352047" y="853405"/>
            <a:ext cx="573593" cy="502229"/>
            <a:chOff x="4449493" y="2967335"/>
            <a:chExt cx="1253198" cy="1097280"/>
          </a:xfrm>
        </p:grpSpPr>
        <p:sp>
          <p:nvSpPr>
            <p:cNvPr id="325" name="Elipse 324">
              <a:extLst>
                <a:ext uri="{FF2B5EF4-FFF2-40B4-BE49-F238E27FC236}">
                  <a16:creationId xmlns:a16="http://schemas.microsoft.com/office/drawing/2014/main" id="{3429243B-9CA0-BE52-A8B1-EC62EE23FC51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26" name="CaixaDeTexto 325">
              <a:extLst>
                <a:ext uri="{FF2B5EF4-FFF2-40B4-BE49-F238E27FC236}">
                  <a16:creationId xmlns:a16="http://schemas.microsoft.com/office/drawing/2014/main" id="{0102CD10-3D07-8C4E-035B-6713EE911DA4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Alta</a:t>
              </a:r>
            </a:p>
          </p:txBody>
        </p:sp>
      </p:grpSp>
      <p:grpSp>
        <p:nvGrpSpPr>
          <p:cNvPr id="327" name="Agrupar 326">
            <a:extLst>
              <a:ext uri="{FF2B5EF4-FFF2-40B4-BE49-F238E27FC236}">
                <a16:creationId xmlns:a16="http://schemas.microsoft.com/office/drawing/2014/main" id="{786AC919-A59C-9733-74FD-1BA991F48A6B}"/>
              </a:ext>
            </a:extLst>
          </p:cNvPr>
          <p:cNvGrpSpPr/>
          <p:nvPr/>
        </p:nvGrpSpPr>
        <p:grpSpPr>
          <a:xfrm>
            <a:off x="9356760" y="1644708"/>
            <a:ext cx="573593" cy="502229"/>
            <a:chOff x="4449493" y="2967335"/>
            <a:chExt cx="1253198" cy="1097280"/>
          </a:xfrm>
        </p:grpSpPr>
        <p:sp>
          <p:nvSpPr>
            <p:cNvPr id="328" name="Elipse 327">
              <a:extLst>
                <a:ext uri="{FF2B5EF4-FFF2-40B4-BE49-F238E27FC236}">
                  <a16:creationId xmlns:a16="http://schemas.microsoft.com/office/drawing/2014/main" id="{F204887C-2DD5-32E7-5AB1-BAE25033DC88}"/>
                </a:ext>
              </a:extLst>
            </p:cNvPr>
            <p:cNvSpPr/>
            <p:nvPr/>
          </p:nvSpPr>
          <p:spPr>
            <a:xfrm>
              <a:off x="4527452" y="2967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29" name="CaixaDeTexto 328">
              <a:extLst>
                <a:ext uri="{FF2B5EF4-FFF2-40B4-BE49-F238E27FC236}">
                  <a16:creationId xmlns:a16="http://schemas.microsoft.com/office/drawing/2014/main" id="{95915BE8-6B85-2E7A-FFF0-343D7CA7270E}"/>
                </a:ext>
              </a:extLst>
            </p:cNvPr>
            <p:cNvSpPr txBox="1"/>
            <p:nvPr/>
          </p:nvSpPr>
          <p:spPr>
            <a:xfrm>
              <a:off x="4449493" y="3187633"/>
              <a:ext cx="1253198" cy="605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dirty="0"/>
                <a:t>Aguarda</a:t>
              </a:r>
            </a:p>
            <a:p>
              <a:pPr algn="ctr"/>
              <a:r>
                <a:rPr lang="pt-BR" sz="600" dirty="0"/>
                <a:t>Alta</a:t>
              </a:r>
            </a:p>
          </p:txBody>
        </p:sp>
      </p:grpSp>
      <p:cxnSp>
        <p:nvCxnSpPr>
          <p:cNvPr id="331" name="Conector: Curvo 330">
            <a:extLst>
              <a:ext uri="{FF2B5EF4-FFF2-40B4-BE49-F238E27FC236}">
                <a16:creationId xmlns:a16="http://schemas.microsoft.com/office/drawing/2014/main" id="{A4CEA836-A286-29BD-D07C-0327A81A887F}"/>
              </a:ext>
            </a:extLst>
          </p:cNvPr>
          <p:cNvCxnSpPr>
            <a:stCxn id="300" idx="2"/>
            <a:endCxn id="321" idx="1"/>
          </p:cNvCxnSpPr>
          <p:nvPr/>
        </p:nvCxnSpPr>
        <p:spPr>
          <a:xfrm rot="5400000">
            <a:off x="7582857" y="1584520"/>
            <a:ext cx="1466658" cy="761309"/>
          </a:xfrm>
          <a:prstGeom prst="curvedConnector4">
            <a:avLst>
              <a:gd name="adj1" fmla="val 42918"/>
              <a:gd name="adj2" fmla="val 107006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Conector: Curvo 335">
            <a:extLst>
              <a:ext uri="{FF2B5EF4-FFF2-40B4-BE49-F238E27FC236}">
                <a16:creationId xmlns:a16="http://schemas.microsoft.com/office/drawing/2014/main" id="{993DE86D-0D13-4F87-8784-602DB471829F}"/>
              </a:ext>
            </a:extLst>
          </p:cNvPr>
          <p:cNvCxnSpPr>
            <a:stCxn id="322" idx="3"/>
            <a:endCxn id="328" idx="4"/>
          </p:cNvCxnSpPr>
          <p:nvPr/>
        </p:nvCxnSpPr>
        <p:spPr>
          <a:xfrm flipV="1">
            <a:off x="9386014" y="2146937"/>
            <a:ext cx="257543" cy="539291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ector: Curvo 337">
            <a:extLst>
              <a:ext uri="{FF2B5EF4-FFF2-40B4-BE49-F238E27FC236}">
                <a16:creationId xmlns:a16="http://schemas.microsoft.com/office/drawing/2014/main" id="{C3CE4740-9C71-866B-8703-072632F20116}"/>
              </a:ext>
            </a:extLst>
          </p:cNvPr>
          <p:cNvCxnSpPr>
            <a:cxnSpLocks/>
          </p:cNvCxnSpPr>
          <p:nvPr/>
        </p:nvCxnSpPr>
        <p:spPr>
          <a:xfrm>
            <a:off x="9085349" y="1077957"/>
            <a:ext cx="274318" cy="14779"/>
          </a:xfrm>
          <a:prstGeom prst="curvedConnector3">
            <a:avLst>
              <a:gd name="adj1" fmla="val 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CaixaDeTexto 339">
            <a:extLst>
              <a:ext uri="{FF2B5EF4-FFF2-40B4-BE49-F238E27FC236}">
                <a16:creationId xmlns:a16="http://schemas.microsoft.com/office/drawing/2014/main" id="{98EC1AFD-B7BC-BEE6-7135-938B8A858DB9}"/>
              </a:ext>
            </a:extLst>
          </p:cNvPr>
          <p:cNvSpPr txBox="1"/>
          <p:nvPr/>
        </p:nvSpPr>
        <p:spPr>
          <a:xfrm>
            <a:off x="10379719" y="1351656"/>
            <a:ext cx="761778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/>
              <a:t>Alta Médica</a:t>
            </a:r>
          </a:p>
        </p:txBody>
      </p:sp>
      <p:cxnSp>
        <p:nvCxnSpPr>
          <p:cNvPr id="342" name="Conector: Curvo 341">
            <a:extLst>
              <a:ext uri="{FF2B5EF4-FFF2-40B4-BE49-F238E27FC236}">
                <a16:creationId xmlns:a16="http://schemas.microsoft.com/office/drawing/2014/main" id="{5CD0D7FE-9EBB-4365-69C0-1E06A0A22795}"/>
              </a:ext>
            </a:extLst>
          </p:cNvPr>
          <p:cNvCxnSpPr>
            <a:stCxn id="329" idx="3"/>
          </p:cNvCxnSpPr>
          <p:nvPr/>
        </p:nvCxnSpPr>
        <p:spPr>
          <a:xfrm flipV="1">
            <a:off x="9930353" y="1515423"/>
            <a:ext cx="406587" cy="368616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onector: Curvo 343">
            <a:extLst>
              <a:ext uri="{FF2B5EF4-FFF2-40B4-BE49-F238E27FC236}">
                <a16:creationId xmlns:a16="http://schemas.microsoft.com/office/drawing/2014/main" id="{A8DFEA7F-58D8-2540-149B-767EA18BD53E}"/>
              </a:ext>
            </a:extLst>
          </p:cNvPr>
          <p:cNvCxnSpPr>
            <a:stCxn id="326" idx="3"/>
            <a:endCxn id="340" idx="1"/>
          </p:cNvCxnSpPr>
          <p:nvPr/>
        </p:nvCxnSpPr>
        <p:spPr>
          <a:xfrm>
            <a:off x="9925640" y="1092736"/>
            <a:ext cx="454079" cy="358948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5" name="Agrupar 344">
            <a:extLst>
              <a:ext uri="{FF2B5EF4-FFF2-40B4-BE49-F238E27FC236}">
                <a16:creationId xmlns:a16="http://schemas.microsoft.com/office/drawing/2014/main" id="{1A35B4EC-903E-F499-14E4-EE6C3D900DE6}"/>
              </a:ext>
            </a:extLst>
          </p:cNvPr>
          <p:cNvGrpSpPr/>
          <p:nvPr/>
        </p:nvGrpSpPr>
        <p:grpSpPr>
          <a:xfrm>
            <a:off x="11525708" y="1200569"/>
            <a:ext cx="606323" cy="502229"/>
            <a:chOff x="616635" y="2771335"/>
            <a:chExt cx="1324707" cy="1097280"/>
          </a:xfrm>
        </p:grpSpPr>
        <p:sp>
          <p:nvSpPr>
            <p:cNvPr id="346" name="Elipse 345">
              <a:extLst>
                <a:ext uri="{FF2B5EF4-FFF2-40B4-BE49-F238E27FC236}">
                  <a16:creationId xmlns:a16="http://schemas.microsoft.com/office/drawing/2014/main" id="{BEAFA280-5DB2-70C3-F1D4-FE237435072D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347" name="Elipse 346">
              <a:extLst>
                <a:ext uri="{FF2B5EF4-FFF2-40B4-BE49-F238E27FC236}">
                  <a16:creationId xmlns:a16="http://schemas.microsoft.com/office/drawing/2014/main" id="{C24A9E65-3C2D-E288-A906-0B8F88B721A9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48" name="CaixaDeTexto 347">
              <a:extLst>
                <a:ext uri="{FF2B5EF4-FFF2-40B4-BE49-F238E27FC236}">
                  <a16:creationId xmlns:a16="http://schemas.microsoft.com/office/drawing/2014/main" id="{F3685D43-0ACB-D301-5F0C-EB1494AD1E56}"/>
                </a:ext>
              </a:extLst>
            </p:cNvPr>
            <p:cNvSpPr txBox="1"/>
            <p:nvPr/>
          </p:nvSpPr>
          <p:spPr>
            <a:xfrm>
              <a:off x="886945" y="3098296"/>
              <a:ext cx="1011513" cy="437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/>
                <a:t>Rua</a:t>
              </a:r>
            </a:p>
          </p:txBody>
        </p:sp>
      </p:grpSp>
      <p:cxnSp>
        <p:nvCxnSpPr>
          <p:cNvPr id="350" name="Conector de Seta Reta 349">
            <a:extLst>
              <a:ext uri="{FF2B5EF4-FFF2-40B4-BE49-F238E27FC236}">
                <a16:creationId xmlns:a16="http://schemas.microsoft.com/office/drawing/2014/main" id="{CB77A559-2016-E84E-6E1F-43DD356A7E11}"/>
              </a:ext>
            </a:extLst>
          </p:cNvPr>
          <p:cNvCxnSpPr>
            <a:stCxn id="340" idx="3"/>
            <a:endCxn id="346" idx="2"/>
          </p:cNvCxnSpPr>
          <p:nvPr/>
        </p:nvCxnSpPr>
        <p:spPr>
          <a:xfrm>
            <a:off x="11141497" y="1451684"/>
            <a:ext cx="3842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onector: Curvo 354">
            <a:extLst>
              <a:ext uri="{FF2B5EF4-FFF2-40B4-BE49-F238E27FC236}">
                <a16:creationId xmlns:a16="http://schemas.microsoft.com/office/drawing/2014/main" id="{60A7ABC9-09A2-6991-D652-16D90192FB7B}"/>
              </a:ext>
            </a:extLst>
          </p:cNvPr>
          <p:cNvCxnSpPr>
            <a:cxnSpLocks/>
            <a:stCxn id="340" idx="3"/>
            <a:endCxn id="346" idx="3"/>
          </p:cNvCxnSpPr>
          <p:nvPr/>
        </p:nvCxnSpPr>
        <p:spPr>
          <a:xfrm>
            <a:off x="11141497" y="1451684"/>
            <a:ext cx="457761" cy="177564"/>
          </a:xfrm>
          <a:prstGeom prst="curvedConnector4">
            <a:avLst>
              <a:gd name="adj1" fmla="val 41966"/>
              <a:gd name="adj2" fmla="val 228742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1" name="Agrupar 360">
            <a:extLst>
              <a:ext uri="{FF2B5EF4-FFF2-40B4-BE49-F238E27FC236}">
                <a16:creationId xmlns:a16="http://schemas.microsoft.com/office/drawing/2014/main" id="{1B84CFB0-0F4C-73CB-64AD-86A6E8866A66}"/>
              </a:ext>
            </a:extLst>
          </p:cNvPr>
          <p:cNvGrpSpPr/>
          <p:nvPr/>
        </p:nvGrpSpPr>
        <p:grpSpPr>
          <a:xfrm>
            <a:off x="7479403" y="4368981"/>
            <a:ext cx="606323" cy="502229"/>
            <a:chOff x="616635" y="2771335"/>
            <a:chExt cx="1324707" cy="1097280"/>
          </a:xfrm>
        </p:grpSpPr>
        <p:sp>
          <p:nvSpPr>
            <p:cNvPr id="362" name="Elipse 361">
              <a:extLst>
                <a:ext uri="{FF2B5EF4-FFF2-40B4-BE49-F238E27FC236}">
                  <a16:creationId xmlns:a16="http://schemas.microsoft.com/office/drawing/2014/main" id="{D3750ABD-C678-9F91-E011-54850D837634}"/>
                </a:ext>
              </a:extLst>
            </p:cNvPr>
            <p:cNvSpPr/>
            <p:nvPr/>
          </p:nvSpPr>
          <p:spPr>
            <a:xfrm>
              <a:off x="616635" y="2771335"/>
              <a:ext cx="1097280" cy="10972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/>
            </a:p>
          </p:txBody>
        </p:sp>
        <p:sp>
          <p:nvSpPr>
            <p:cNvPr id="363" name="Elipse 362">
              <a:extLst>
                <a:ext uri="{FF2B5EF4-FFF2-40B4-BE49-F238E27FC236}">
                  <a16:creationId xmlns:a16="http://schemas.microsoft.com/office/drawing/2014/main" id="{0F3BB0EE-92F4-60C7-9DA2-1A394546C630}"/>
                </a:ext>
              </a:extLst>
            </p:cNvPr>
            <p:cNvSpPr/>
            <p:nvPr/>
          </p:nvSpPr>
          <p:spPr>
            <a:xfrm>
              <a:off x="844062" y="2771335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64" name="CaixaDeTexto 363">
              <a:extLst>
                <a:ext uri="{FF2B5EF4-FFF2-40B4-BE49-F238E27FC236}">
                  <a16:creationId xmlns:a16="http://schemas.microsoft.com/office/drawing/2014/main" id="{2168DDDE-647C-650F-6626-80A93BE5B89C}"/>
                </a:ext>
              </a:extLst>
            </p:cNvPr>
            <p:cNvSpPr txBox="1"/>
            <p:nvPr/>
          </p:nvSpPr>
          <p:spPr>
            <a:xfrm>
              <a:off x="886945" y="3098296"/>
              <a:ext cx="1011513" cy="437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pt-BR" sz="700" dirty="0"/>
            </a:p>
          </p:txBody>
        </p:sp>
      </p:grpSp>
      <p:grpSp>
        <p:nvGrpSpPr>
          <p:cNvPr id="371" name="Agrupar 370">
            <a:extLst>
              <a:ext uri="{FF2B5EF4-FFF2-40B4-BE49-F238E27FC236}">
                <a16:creationId xmlns:a16="http://schemas.microsoft.com/office/drawing/2014/main" id="{36A2D291-4148-651A-39C2-8BD2FB81FB4A}"/>
              </a:ext>
            </a:extLst>
          </p:cNvPr>
          <p:cNvGrpSpPr/>
          <p:nvPr/>
        </p:nvGrpSpPr>
        <p:grpSpPr>
          <a:xfrm>
            <a:off x="95103" y="362376"/>
            <a:ext cx="2119098" cy="923330"/>
            <a:chOff x="415177" y="362376"/>
            <a:chExt cx="2119098" cy="923330"/>
          </a:xfrm>
        </p:grpSpPr>
        <p:sp>
          <p:nvSpPr>
            <p:cNvPr id="367" name="CaixaDeTexto 366">
              <a:extLst>
                <a:ext uri="{FF2B5EF4-FFF2-40B4-BE49-F238E27FC236}">
                  <a16:creationId xmlns:a16="http://schemas.microsoft.com/office/drawing/2014/main" id="{E7A26C2E-F39F-0803-1AE3-093F8068446B}"/>
                </a:ext>
              </a:extLst>
            </p:cNvPr>
            <p:cNvSpPr txBox="1"/>
            <p:nvPr/>
          </p:nvSpPr>
          <p:spPr>
            <a:xfrm>
              <a:off x="415177" y="362376"/>
              <a:ext cx="163638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/>
                <a:t>Entidades:</a:t>
              </a:r>
            </a:p>
            <a:p>
              <a:r>
                <a:rPr lang="pt-BR" dirty="0"/>
                <a:t>Gestante</a:t>
              </a:r>
            </a:p>
            <a:p>
              <a:r>
                <a:rPr lang="pt-BR" dirty="0"/>
                <a:t>Recém-nascido</a:t>
              </a:r>
            </a:p>
          </p:txBody>
        </p:sp>
        <p:cxnSp>
          <p:nvCxnSpPr>
            <p:cNvPr id="369" name="Conector reto 368">
              <a:extLst>
                <a:ext uri="{FF2B5EF4-FFF2-40B4-BE49-F238E27FC236}">
                  <a16:creationId xmlns:a16="http://schemas.microsoft.com/office/drawing/2014/main" id="{7A2237E9-DFE6-4C82-859F-455BBB4E3650}"/>
                </a:ext>
              </a:extLst>
            </p:cNvPr>
            <p:cNvCxnSpPr/>
            <p:nvPr/>
          </p:nvCxnSpPr>
          <p:spPr>
            <a:xfrm>
              <a:off x="1458271" y="870208"/>
              <a:ext cx="51832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Conector reto 369">
              <a:extLst>
                <a:ext uri="{FF2B5EF4-FFF2-40B4-BE49-F238E27FC236}">
                  <a16:creationId xmlns:a16="http://schemas.microsoft.com/office/drawing/2014/main" id="{AE9F3029-1C54-5236-A36F-F4DDDC328649}"/>
                </a:ext>
              </a:extLst>
            </p:cNvPr>
            <p:cNvCxnSpPr/>
            <p:nvPr/>
          </p:nvCxnSpPr>
          <p:spPr>
            <a:xfrm>
              <a:off x="2015954" y="1116538"/>
              <a:ext cx="518321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3" name="CaixaDeTexto 372">
            <a:extLst>
              <a:ext uri="{FF2B5EF4-FFF2-40B4-BE49-F238E27FC236}">
                <a16:creationId xmlns:a16="http://schemas.microsoft.com/office/drawing/2014/main" id="{23317748-33AD-21C9-132E-05A4FCA38497}"/>
              </a:ext>
            </a:extLst>
          </p:cNvPr>
          <p:cNvSpPr txBox="1"/>
          <p:nvPr/>
        </p:nvSpPr>
        <p:spPr>
          <a:xfrm>
            <a:off x="95102" y="1501288"/>
            <a:ext cx="28647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Pontos de Atribuição:</a:t>
            </a:r>
          </a:p>
          <a:p>
            <a:pPr marL="342900" indent="-342900">
              <a:buAutoNum type="arabicParenR"/>
            </a:pPr>
            <a:r>
              <a:rPr lang="pt-BR" dirty="0"/>
              <a:t>Classificação Risco</a:t>
            </a:r>
          </a:p>
          <a:p>
            <a:pPr marL="342900" indent="-342900">
              <a:buAutoNum type="arabicParenR"/>
            </a:pPr>
            <a:r>
              <a:rPr lang="pt-BR" dirty="0"/>
              <a:t>Contador de óbitos</a:t>
            </a:r>
          </a:p>
        </p:txBody>
      </p:sp>
      <p:sp>
        <p:nvSpPr>
          <p:cNvPr id="376" name="Elipse 375">
            <a:extLst>
              <a:ext uri="{FF2B5EF4-FFF2-40B4-BE49-F238E27FC236}">
                <a16:creationId xmlns:a16="http://schemas.microsoft.com/office/drawing/2014/main" id="{F529BA3A-4DA0-0765-6D94-2E7DD7F9615E}"/>
              </a:ext>
            </a:extLst>
          </p:cNvPr>
          <p:cNvSpPr/>
          <p:nvPr/>
        </p:nvSpPr>
        <p:spPr>
          <a:xfrm>
            <a:off x="6452227" y="3374312"/>
            <a:ext cx="74582" cy="745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00"/>
          </a:p>
        </p:txBody>
      </p:sp>
      <p:sp>
        <p:nvSpPr>
          <p:cNvPr id="377" name="CaixaDeTexto 376">
            <a:extLst>
              <a:ext uri="{FF2B5EF4-FFF2-40B4-BE49-F238E27FC236}">
                <a16:creationId xmlns:a16="http://schemas.microsoft.com/office/drawing/2014/main" id="{57A117CE-AB38-5551-B21B-F1D2637AF570}"/>
              </a:ext>
            </a:extLst>
          </p:cNvPr>
          <p:cNvSpPr txBox="1"/>
          <p:nvPr/>
        </p:nvSpPr>
        <p:spPr>
          <a:xfrm>
            <a:off x="6407495" y="3443703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2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60DF85-A53B-319F-CB01-0107DDE18991}"/>
              </a:ext>
            </a:extLst>
          </p:cNvPr>
          <p:cNvSpPr txBox="1"/>
          <p:nvPr/>
        </p:nvSpPr>
        <p:spPr>
          <a:xfrm>
            <a:off x="7526457" y="4522855"/>
            <a:ext cx="60458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/>
              <a:t>Internação</a:t>
            </a:r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7C7B38C5-70F6-F8F2-F634-774897B29136}"/>
              </a:ext>
            </a:extLst>
          </p:cNvPr>
          <p:cNvSpPr/>
          <p:nvPr/>
        </p:nvSpPr>
        <p:spPr>
          <a:xfrm>
            <a:off x="3095570" y="1827984"/>
            <a:ext cx="4008235" cy="3505200"/>
          </a:xfrm>
          <a:custGeom>
            <a:avLst/>
            <a:gdLst>
              <a:gd name="connsiteX0" fmla="*/ 4008235 w 4008235"/>
              <a:gd name="connsiteY0" fmla="*/ 3505200 h 3505200"/>
              <a:gd name="connsiteX1" fmla="*/ 3903460 w 4008235"/>
              <a:gd name="connsiteY1" fmla="*/ 2705100 h 3505200"/>
              <a:gd name="connsiteX2" fmla="*/ 3493885 w 4008235"/>
              <a:gd name="connsiteY2" fmla="*/ 2333625 h 3505200"/>
              <a:gd name="connsiteX3" fmla="*/ 2503285 w 4008235"/>
              <a:gd name="connsiteY3" fmla="*/ 2276475 h 3505200"/>
              <a:gd name="connsiteX4" fmla="*/ 1665085 w 4008235"/>
              <a:gd name="connsiteY4" fmla="*/ 2162175 h 3505200"/>
              <a:gd name="connsiteX5" fmla="*/ 388735 w 4008235"/>
              <a:gd name="connsiteY5" fmla="*/ 1885950 h 3505200"/>
              <a:gd name="connsiteX6" fmla="*/ 7735 w 4008235"/>
              <a:gd name="connsiteY6" fmla="*/ 1362075 h 3505200"/>
              <a:gd name="connsiteX7" fmla="*/ 169660 w 4008235"/>
              <a:gd name="connsiteY7" fmla="*/ 0 h 350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8235" h="3505200">
                <a:moveTo>
                  <a:pt x="4008235" y="3505200"/>
                </a:moveTo>
                <a:cubicBezTo>
                  <a:pt x="3998710" y="3202781"/>
                  <a:pt x="3989185" y="2900362"/>
                  <a:pt x="3903460" y="2705100"/>
                </a:cubicBezTo>
                <a:cubicBezTo>
                  <a:pt x="3817735" y="2509838"/>
                  <a:pt x="3727247" y="2405062"/>
                  <a:pt x="3493885" y="2333625"/>
                </a:cubicBezTo>
                <a:cubicBezTo>
                  <a:pt x="3260523" y="2262188"/>
                  <a:pt x="2808085" y="2305050"/>
                  <a:pt x="2503285" y="2276475"/>
                </a:cubicBezTo>
                <a:cubicBezTo>
                  <a:pt x="2198485" y="2247900"/>
                  <a:pt x="2017510" y="2227262"/>
                  <a:pt x="1665085" y="2162175"/>
                </a:cubicBezTo>
                <a:cubicBezTo>
                  <a:pt x="1312660" y="2097087"/>
                  <a:pt x="664960" y="2019300"/>
                  <a:pt x="388735" y="1885950"/>
                </a:cubicBezTo>
                <a:cubicBezTo>
                  <a:pt x="112510" y="1752600"/>
                  <a:pt x="44247" y="1676400"/>
                  <a:pt x="7735" y="1362075"/>
                </a:cubicBezTo>
                <a:cubicBezTo>
                  <a:pt x="-28778" y="1047750"/>
                  <a:pt x="70441" y="523875"/>
                  <a:pt x="16966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500BF49-A541-F5D1-7BD5-5674A2C2AEFF}"/>
              </a:ext>
            </a:extLst>
          </p:cNvPr>
          <p:cNvSpPr txBox="1"/>
          <p:nvPr/>
        </p:nvSpPr>
        <p:spPr>
          <a:xfrm>
            <a:off x="7247191" y="5178816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E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2CBC675-5F3F-BB20-72F7-34B24FCEFE7C}"/>
              </a:ext>
            </a:extLst>
          </p:cNvPr>
          <p:cNvSpPr txBox="1"/>
          <p:nvPr/>
        </p:nvSpPr>
        <p:spPr>
          <a:xfrm>
            <a:off x="9506220" y="4092623"/>
            <a:ext cx="28647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Desvios:</a:t>
            </a:r>
          </a:p>
          <a:p>
            <a:pPr marL="342900" indent="-342900">
              <a:buAutoNum type="alphaUcParenR"/>
            </a:pPr>
            <a:r>
              <a:rPr lang="pt-BR" sz="1400" dirty="0"/>
              <a:t>Atendimento concluído (70%)</a:t>
            </a:r>
          </a:p>
          <a:p>
            <a:pPr marL="342900" indent="-342900">
              <a:buAutoNum type="alphaUcParenR"/>
            </a:pPr>
            <a:r>
              <a:rPr lang="pt-BR" sz="1400" dirty="0"/>
              <a:t>Procedimento especial (2%)</a:t>
            </a:r>
          </a:p>
          <a:p>
            <a:pPr marL="342900" indent="-342900">
              <a:buAutoNum type="alphaUcParenR"/>
            </a:pPr>
            <a:r>
              <a:rPr lang="pt-BR" sz="1400" dirty="0"/>
              <a:t>Trabalho de parto (15%)</a:t>
            </a:r>
          </a:p>
          <a:p>
            <a:pPr marL="342900" indent="-342900">
              <a:buAutoNum type="alphaUcParenR"/>
            </a:pPr>
            <a:r>
              <a:rPr lang="pt-BR" sz="1400" dirty="0"/>
              <a:t>Internação externa (5%)</a:t>
            </a:r>
          </a:p>
          <a:p>
            <a:pPr marL="342900" indent="-342900">
              <a:buAutoNum type="alphaUcParenR"/>
            </a:pPr>
            <a:r>
              <a:rPr lang="pt-BR" sz="1400" dirty="0"/>
              <a:t>Exames e Observação (8%)</a:t>
            </a:r>
          </a:p>
          <a:p>
            <a:pPr marL="342900" indent="-342900">
              <a:buAutoNum type="alphaUcParenR"/>
            </a:pPr>
            <a:endParaRPr lang="pt-BR" sz="1400" dirty="0"/>
          </a:p>
          <a:p>
            <a:pPr marL="342900" indent="-342900">
              <a:buAutoNum type="alphaUcParenR"/>
            </a:pPr>
            <a:r>
              <a:rPr lang="pt-BR" sz="1400" dirty="0"/>
              <a:t>Cuidados ao RN (90%)</a:t>
            </a:r>
          </a:p>
          <a:p>
            <a:pPr marL="342900" indent="-342900">
              <a:buAutoNum type="alphaUcParenR"/>
            </a:pPr>
            <a:r>
              <a:rPr lang="pt-BR" sz="1400" dirty="0"/>
              <a:t>UCP (10%)</a:t>
            </a:r>
          </a:p>
          <a:p>
            <a:pPr marL="342900" indent="-342900">
              <a:buAutoNum type="alphaUcParenR"/>
            </a:pPr>
            <a:endParaRPr lang="pt-BR" sz="1400" dirty="0"/>
          </a:p>
          <a:p>
            <a:pPr marL="342900" indent="-342900">
              <a:buAutoNum type="alphaUcParenR"/>
            </a:pPr>
            <a:r>
              <a:rPr lang="pt-BR" sz="1400" dirty="0"/>
              <a:t>Alta médica (99%)</a:t>
            </a:r>
          </a:p>
          <a:p>
            <a:pPr marL="342900" indent="-342900">
              <a:buAutoNum type="alphaUcParenR"/>
            </a:pPr>
            <a:r>
              <a:rPr lang="pt-BR" sz="1400" dirty="0"/>
              <a:t>Óbito (1%)</a:t>
            </a:r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3A359221-2800-5650-008B-21355389739B}"/>
              </a:ext>
            </a:extLst>
          </p:cNvPr>
          <p:cNvSpPr/>
          <p:nvPr/>
        </p:nvSpPr>
        <p:spPr>
          <a:xfrm>
            <a:off x="2880706" y="577916"/>
            <a:ext cx="4243352" cy="4773778"/>
          </a:xfrm>
          <a:custGeom>
            <a:avLst/>
            <a:gdLst>
              <a:gd name="connsiteX0" fmla="*/ 4243352 w 4243352"/>
              <a:gd name="connsiteY0" fmla="*/ 4872534 h 4872534"/>
              <a:gd name="connsiteX1" fmla="*/ 4094496 w 4243352"/>
              <a:gd name="connsiteY1" fmla="*/ 4511027 h 4872534"/>
              <a:gd name="connsiteX2" fmla="*/ 3977538 w 4243352"/>
              <a:gd name="connsiteY2" fmla="*/ 4043194 h 4872534"/>
              <a:gd name="connsiteX3" fmla="*/ 3499073 w 4243352"/>
              <a:gd name="connsiteY3" fmla="*/ 3862441 h 4872534"/>
              <a:gd name="connsiteX4" fmla="*/ 2605938 w 4243352"/>
              <a:gd name="connsiteY4" fmla="*/ 3692320 h 4872534"/>
              <a:gd name="connsiteX5" fmla="*/ 1500152 w 4243352"/>
              <a:gd name="connsiteY5" fmla="*/ 3554097 h 4872534"/>
              <a:gd name="connsiteX6" fmla="*/ 723975 w 4243352"/>
              <a:gd name="connsiteY6" fmla="*/ 3511566 h 4872534"/>
              <a:gd name="connsiteX7" fmla="*/ 181715 w 4243352"/>
              <a:gd name="connsiteY7" fmla="*/ 3245752 h 4872534"/>
              <a:gd name="connsiteX8" fmla="*/ 961 w 4243352"/>
              <a:gd name="connsiteY8" fmla="*/ 2512106 h 4872534"/>
              <a:gd name="connsiteX9" fmla="*/ 128552 w 4243352"/>
              <a:gd name="connsiteY9" fmla="*/ 1587073 h 4872534"/>
              <a:gd name="connsiteX10" fmla="*/ 500691 w 4243352"/>
              <a:gd name="connsiteY10" fmla="*/ 438757 h 4872534"/>
              <a:gd name="connsiteX11" fmla="*/ 925994 w 4243352"/>
              <a:gd name="connsiteY11" fmla="*/ 55985 h 4872534"/>
              <a:gd name="connsiteX12" fmla="*/ 1797863 w 4243352"/>
              <a:gd name="connsiteY12" fmla="*/ 24087 h 4872534"/>
              <a:gd name="connsiteX13" fmla="*/ 2276328 w 4243352"/>
              <a:gd name="connsiteY13" fmla="*/ 268636 h 4872534"/>
              <a:gd name="connsiteX14" fmla="*/ 2382654 w 4243352"/>
              <a:gd name="connsiteY14" fmla="*/ 491920 h 4872534"/>
              <a:gd name="connsiteX15" fmla="*/ 2457082 w 4243352"/>
              <a:gd name="connsiteY15" fmla="*/ 513185 h 487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43352" h="4872534">
                <a:moveTo>
                  <a:pt x="4243352" y="4872534"/>
                </a:moveTo>
                <a:cubicBezTo>
                  <a:pt x="4191075" y="4760892"/>
                  <a:pt x="4138798" y="4649250"/>
                  <a:pt x="4094496" y="4511027"/>
                </a:cubicBezTo>
                <a:cubicBezTo>
                  <a:pt x="4050194" y="4372804"/>
                  <a:pt x="4076775" y="4151292"/>
                  <a:pt x="3977538" y="4043194"/>
                </a:cubicBezTo>
                <a:cubicBezTo>
                  <a:pt x="3878301" y="3935096"/>
                  <a:pt x="3727673" y="3920920"/>
                  <a:pt x="3499073" y="3862441"/>
                </a:cubicBezTo>
                <a:cubicBezTo>
                  <a:pt x="3270473" y="3803962"/>
                  <a:pt x="2939092" y="3743711"/>
                  <a:pt x="2605938" y="3692320"/>
                </a:cubicBezTo>
                <a:cubicBezTo>
                  <a:pt x="2272784" y="3640929"/>
                  <a:pt x="1813812" y="3584223"/>
                  <a:pt x="1500152" y="3554097"/>
                </a:cubicBezTo>
                <a:cubicBezTo>
                  <a:pt x="1186492" y="3523971"/>
                  <a:pt x="943715" y="3562957"/>
                  <a:pt x="723975" y="3511566"/>
                </a:cubicBezTo>
                <a:cubicBezTo>
                  <a:pt x="504235" y="3460175"/>
                  <a:pt x="302217" y="3412329"/>
                  <a:pt x="181715" y="3245752"/>
                </a:cubicBezTo>
                <a:cubicBezTo>
                  <a:pt x="61213" y="3079175"/>
                  <a:pt x="9821" y="2788552"/>
                  <a:pt x="961" y="2512106"/>
                </a:cubicBezTo>
                <a:cubicBezTo>
                  <a:pt x="-7899" y="2235660"/>
                  <a:pt x="45264" y="1932631"/>
                  <a:pt x="128552" y="1587073"/>
                </a:cubicBezTo>
                <a:cubicBezTo>
                  <a:pt x="211840" y="1241515"/>
                  <a:pt x="367784" y="693938"/>
                  <a:pt x="500691" y="438757"/>
                </a:cubicBezTo>
                <a:cubicBezTo>
                  <a:pt x="633598" y="183576"/>
                  <a:pt x="709799" y="125097"/>
                  <a:pt x="925994" y="55985"/>
                </a:cubicBezTo>
                <a:cubicBezTo>
                  <a:pt x="1142189" y="-13127"/>
                  <a:pt x="1572807" y="-11355"/>
                  <a:pt x="1797863" y="24087"/>
                </a:cubicBezTo>
                <a:cubicBezTo>
                  <a:pt x="2022919" y="59529"/>
                  <a:pt x="2178863" y="190664"/>
                  <a:pt x="2276328" y="268636"/>
                </a:cubicBezTo>
                <a:cubicBezTo>
                  <a:pt x="2373793" y="346608"/>
                  <a:pt x="2352528" y="451162"/>
                  <a:pt x="2382654" y="491920"/>
                </a:cubicBezTo>
                <a:cubicBezTo>
                  <a:pt x="2412780" y="532678"/>
                  <a:pt x="2434931" y="522931"/>
                  <a:pt x="2457082" y="51318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A4E12690-D2EA-7DAE-6B62-B6D7EBB1EE74}"/>
              </a:ext>
            </a:extLst>
          </p:cNvPr>
          <p:cNvCxnSpPr>
            <a:cxnSpLocks/>
            <a:stCxn id="43" idx="15"/>
            <a:endCxn id="234" idx="1"/>
          </p:cNvCxnSpPr>
          <p:nvPr/>
        </p:nvCxnSpPr>
        <p:spPr>
          <a:xfrm>
            <a:off x="5337788" y="1080700"/>
            <a:ext cx="72047" cy="85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3A4C58F-91BB-1463-42D1-497F3E4A7D25}"/>
              </a:ext>
            </a:extLst>
          </p:cNvPr>
          <p:cNvSpPr txBox="1"/>
          <p:nvPr/>
        </p:nvSpPr>
        <p:spPr>
          <a:xfrm>
            <a:off x="905629" y="4935797"/>
            <a:ext cx="7565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Exp (1/36) min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998DCB-F243-33AA-1D9A-348FAE740777}"/>
              </a:ext>
            </a:extLst>
          </p:cNvPr>
          <p:cNvSpPr txBox="1"/>
          <p:nvPr/>
        </p:nvSpPr>
        <p:spPr>
          <a:xfrm>
            <a:off x="2533392" y="4935797"/>
            <a:ext cx="7565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T (4, 5, 10) min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E30678-AAA8-04E2-76E6-AAD53FB2C29C}"/>
              </a:ext>
            </a:extLst>
          </p:cNvPr>
          <p:cNvSpPr txBox="1"/>
          <p:nvPr/>
        </p:nvSpPr>
        <p:spPr>
          <a:xfrm>
            <a:off x="4165382" y="4949737"/>
            <a:ext cx="75651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T (2, 3, 10) min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6D66E1-4787-B1E1-3981-F4D571EA807C}"/>
              </a:ext>
            </a:extLst>
          </p:cNvPr>
          <p:cNvSpPr txBox="1"/>
          <p:nvPr/>
        </p:nvSpPr>
        <p:spPr>
          <a:xfrm>
            <a:off x="6003804" y="5069251"/>
            <a:ext cx="87446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T (12, 15, 20) min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B3D05F-C3BB-7320-65CC-3F373AAEACC2}"/>
              </a:ext>
            </a:extLst>
          </p:cNvPr>
          <p:cNvSpPr txBox="1"/>
          <p:nvPr/>
        </p:nvSpPr>
        <p:spPr>
          <a:xfrm>
            <a:off x="8186346" y="4904573"/>
            <a:ext cx="9575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T (120, 180, 240) min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B7463A-675B-5C12-17B2-39D857B5BC2E}"/>
              </a:ext>
            </a:extLst>
          </p:cNvPr>
          <p:cNvSpPr txBox="1"/>
          <p:nvPr/>
        </p:nvSpPr>
        <p:spPr>
          <a:xfrm>
            <a:off x="8606572" y="2251238"/>
            <a:ext cx="95755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T (60, 90, 120) min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7BE25F-B84C-8B11-EC13-CCF21D27A144}"/>
              </a:ext>
            </a:extLst>
          </p:cNvPr>
          <p:cNvSpPr txBox="1"/>
          <p:nvPr/>
        </p:nvSpPr>
        <p:spPr>
          <a:xfrm>
            <a:off x="4917166" y="3211189"/>
            <a:ext cx="1028702" cy="19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(9000, 10560, 12000) min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6FD62B-8DBE-0949-109F-0A08776DD7A2}"/>
              </a:ext>
            </a:extLst>
          </p:cNvPr>
          <p:cNvSpPr txBox="1"/>
          <p:nvPr/>
        </p:nvSpPr>
        <p:spPr>
          <a:xfrm>
            <a:off x="5794592" y="1878488"/>
            <a:ext cx="7988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(60,90,120) min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7A9BF9-0345-CACF-9C28-AABF10E7DE32}"/>
              </a:ext>
            </a:extLst>
          </p:cNvPr>
          <p:cNvSpPr txBox="1"/>
          <p:nvPr/>
        </p:nvSpPr>
        <p:spPr>
          <a:xfrm>
            <a:off x="6188152" y="766521"/>
            <a:ext cx="753405" cy="186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(30, 40, 60) min</a:t>
            </a:r>
          </a:p>
        </p:txBody>
      </p:sp>
      <p:grpSp>
        <p:nvGrpSpPr>
          <p:cNvPr id="27" name="Agrupar 248">
            <a:extLst>
              <a:ext uri="{FF2B5EF4-FFF2-40B4-BE49-F238E27FC236}">
                <a16:creationId xmlns:a16="http://schemas.microsoft.com/office/drawing/2014/main" id="{10C8484F-E47E-D72A-4504-ADC6A105700D}"/>
              </a:ext>
            </a:extLst>
          </p:cNvPr>
          <p:cNvGrpSpPr/>
          <p:nvPr/>
        </p:nvGrpSpPr>
        <p:grpSpPr>
          <a:xfrm>
            <a:off x="8698613" y="3109348"/>
            <a:ext cx="573593" cy="502229"/>
            <a:chOff x="4449493" y="3019458"/>
            <a:chExt cx="1253198" cy="1097280"/>
          </a:xfrm>
        </p:grpSpPr>
        <p:sp>
          <p:nvSpPr>
            <p:cNvPr id="28" name="Elipse 249">
              <a:extLst>
                <a:ext uri="{FF2B5EF4-FFF2-40B4-BE49-F238E27FC236}">
                  <a16:creationId xmlns:a16="http://schemas.microsoft.com/office/drawing/2014/main" id="{8FD527C2-4456-1BF2-0BC0-499F5500C621}"/>
                </a:ext>
              </a:extLst>
            </p:cNvPr>
            <p:cNvSpPr/>
            <p:nvPr/>
          </p:nvSpPr>
          <p:spPr>
            <a:xfrm>
              <a:off x="4537323" y="3019458"/>
              <a:ext cx="1097280" cy="10972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7030A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700" dirty="0"/>
            </a:p>
          </p:txBody>
        </p:sp>
        <p:sp>
          <p:nvSpPr>
            <p:cNvPr id="36" name="CaixaDeTexto 250">
              <a:extLst>
                <a:ext uri="{FF2B5EF4-FFF2-40B4-BE49-F238E27FC236}">
                  <a16:creationId xmlns:a16="http://schemas.microsoft.com/office/drawing/2014/main" id="{85DAC5DA-8546-0CFB-CA16-8A7F86144130}"/>
                </a:ext>
              </a:extLst>
            </p:cNvPr>
            <p:cNvSpPr txBox="1"/>
            <p:nvPr/>
          </p:nvSpPr>
          <p:spPr>
            <a:xfrm>
              <a:off x="4449493" y="3254366"/>
              <a:ext cx="1253198" cy="53794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Técnicos </a:t>
              </a:r>
              <a:r>
                <a:rPr lang="pt-BR" sz="500" dirty="0" err="1">
                  <a:solidFill>
                    <a:srgbClr val="7030A0"/>
                  </a:solidFill>
                </a:rPr>
                <a:t>neo</a:t>
              </a:r>
              <a:endParaRPr lang="pt-BR" sz="500" dirty="0">
                <a:solidFill>
                  <a:srgbClr val="7030A0"/>
                </a:solidFill>
              </a:endParaRPr>
            </a:p>
            <a:p>
              <a:pPr algn="ctr"/>
              <a:r>
                <a:rPr lang="pt-BR" sz="500" dirty="0">
                  <a:solidFill>
                    <a:srgbClr val="7030A0"/>
                  </a:solidFill>
                </a:rPr>
                <a:t>Disponível</a:t>
              </a:r>
            </a:p>
          </p:txBody>
        </p:sp>
      </p:grpSp>
      <p:cxnSp>
        <p:nvCxnSpPr>
          <p:cNvPr id="38" name="Conector: Curvo 251">
            <a:extLst>
              <a:ext uri="{FF2B5EF4-FFF2-40B4-BE49-F238E27FC236}">
                <a16:creationId xmlns:a16="http://schemas.microsoft.com/office/drawing/2014/main" id="{49B14D82-5D67-5766-195C-C0A7DEC9902C}"/>
              </a:ext>
            </a:extLst>
          </p:cNvPr>
          <p:cNvCxnSpPr>
            <a:cxnSpLocks/>
            <a:endCxn id="36" idx="1"/>
          </p:cNvCxnSpPr>
          <p:nvPr/>
        </p:nvCxnSpPr>
        <p:spPr>
          <a:xfrm rot="10800000" flipV="1">
            <a:off x="8698614" y="2733853"/>
            <a:ext cx="4885" cy="606124"/>
          </a:xfrm>
          <a:prstGeom prst="curvedConnector3">
            <a:avLst>
              <a:gd name="adj1" fmla="val 4779632"/>
            </a:avLst>
          </a:prstGeom>
          <a:ln w="1905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Curvo 252">
            <a:extLst>
              <a:ext uri="{FF2B5EF4-FFF2-40B4-BE49-F238E27FC236}">
                <a16:creationId xmlns:a16="http://schemas.microsoft.com/office/drawing/2014/main" id="{C8B8732D-B830-D8D8-D0FE-63EADFA49CDC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9272206" y="2733853"/>
            <a:ext cx="113808" cy="606124"/>
          </a:xfrm>
          <a:prstGeom prst="curvedConnector3">
            <a:avLst>
              <a:gd name="adj1" fmla="val 300865"/>
            </a:avLst>
          </a:prstGeom>
          <a:ln w="19050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1AFEFF2-BE3A-E400-7BE2-13B37540223F}"/>
              </a:ext>
            </a:extLst>
          </p:cNvPr>
          <p:cNvSpPr txBox="1"/>
          <p:nvPr/>
        </p:nvSpPr>
        <p:spPr>
          <a:xfrm>
            <a:off x="8218063" y="609583"/>
            <a:ext cx="9575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(1200, 1440, 1680) min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B2EDA5F-48AC-9035-7B1A-3FC794318607}"/>
              </a:ext>
            </a:extLst>
          </p:cNvPr>
          <p:cNvSpPr txBox="1"/>
          <p:nvPr/>
        </p:nvSpPr>
        <p:spPr>
          <a:xfrm>
            <a:off x="8193845" y="738115"/>
            <a:ext cx="10293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(2640, 2880,  3120) min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750F64C-95CB-87EC-C11A-9F5F3FC6DB4F}"/>
              </a:ext>
            </a:extLst>
          </p:cNvPr>
          <p:cNvSpPr txBox="1"/>
          <p:nvPr/>
        </p:nvSpPr>
        <p:spPr>
          <a:xfrm>
            <a:off x="4222840" y="1343960"/>
            <a:ext cx="9575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(45, 60, 75) min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82010AE-60E5-D0E1-9BDE-1BC1EE391423}"/>
              </a:ext>
            </a:extLst>
          </p:cNvPr>
          <p:cNvSpPr txBox="1"/>
          <p:nvPr/>
        </p:nvSpPr>
        <p:spPr>
          <a:xfrm>
            <a:off x="4212927" y="1479450"/>
            <a:ext cx="9575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/>
              <a:t>T (75, 90, 105) min</a:t>
            </a:r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28271CE0-3C25-F59E-C964-88734A08723B}"/>
              </a:ext>
            </a:extLst>
          </p:cNvPr>
          <p:cNvSpPr/>
          <p:nvPr/>
        </p:nvSpPr>
        <p:spPr>
          <a:xfrm>
            <a:off x="6940550" y="26085"/>
            <a:ext cx="4406900" cy="1294715"/>
          </a:xfrm>
          <a:custGeom>
            <a:avLst/>
            <a:gdLst>
              <a:gd name="connsiteX0" fmla="*/ 0 w 4406900"/>
              <a:gd name="connsiteY0" fmla="*/ 1053415 h 1294715"/>
              <a:gd name="connsiteX1" fmla="*/ 361950 w 4406900"/>
              <a:gd name="connsiteY1" fmla="*/ 862915 h 1294715"/>
              <a:gd name="connsiteX2" fmla="*/ 641350 w 4406900"/>
              <a:gd name="connsiteY2" fmla="*/ 310465 h 1294715"/>
              <a:gd name="connsiteX3" fmla="*/ 1327150 w 4406900"/>
              <a:gd name="connsiteY3" fmla="*/ 100915 h 1294715"/>
              <a:gd name="connsiteX4" fmla="*/ 1835150 w 4406900"/>
              <a:gd name="connsiteY4" fmla="*/ 18365 h 1294715"/>
              <a:gd name="connsiteX5" fmla="*/ 2355850 w 4406900"/>
              <a:gd name="connsiteY5" fmla="*/ 24715 h 1294715"/>
              <a:gd name="connsiteX6" fmla="*/ 3092450 w 4406900"/>
              <a:gd name="connsiteY6" fmla="*/ 278715 h 1294715"/>
              <a:gd name="connsiteX7" fmla="*/ 4406900 w 4406900"/>
              <a:gd name="connsiteY7" fmla="*/ 1294715 h 129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6900" h="1294715">
                <a:moveTo>
                  <a:pt x="0" y="1053415"/>
                </a:moveTo>
                <a:cubicBezTo>
                  <a:pt x="127529" y="1020077"/>
                  <a:pt x="255058" y="986740"/>
                  <a:pt x="361950" y="862915"/>
                </a:cubicBezTo>
                <a:cubicBezTo>
                  <a:pt x="468842" y="739090"/>
                  <a:pt x="480483" y="437465"/>
                  <a:pt x="641350" y="310465"/>
                </a:cubicBezTo>
                <a:cubicBezTo>
                  <a:pt x="802217" y="183465"/>
                  <a:pt x="1128183" y="149598"/>
                  <a:pt x="1327150" y="100915"/>
                </a:cubicBezTo>
                <a:cubicBezTo>
                  <a:pt x="1526117" y="52232"/>
                  <a:pt x="1663700" y="31065"/>
                  <a:pt x="1835150" y="18365"/>
                </a:cubicBezTo>
                <a:cubicBezTo>
                  <a:pt x="2006600" y="5665"/>
                  <a:pt x="2146300" y="-18677"/>
                  <a:pt x="2355850" y="24715"/>
                </a:cubicBezTo>
                <a:cubicBezTo>
                  <a:pt x="2565400" y="68107"/>
                  <a:pt x="2750608" y="67048"/>
                  <a:pt x="3092450" y="278715"/>
                </a:cubicBezTo>
                <a:cubicBezTo>
                  <a:pt x="3434292" y="490382"/>
                  <a:pt x="4201583" y="1111623"/>
                  <a:pt x="4406900" y="129471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21B9E787-0FBD-7669-AAED-81CBDEC42178}"/>
              </a:ext>
            </a:extLst>
          </p:cNvPr>
          <p:cNvCxnSpPr>
            <a:cxnSpLocks/>
          </p:cNvCxnSpPr>
          <p:nvPr/>
        </p:nvCxnSpPr>
        <p:spPr>
          <a:xfrm>
            <a:off x="11233150" y="1224693"/>
            <a:ext cx="248108" cy="1952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15BFE179-C811-9216-314F-A4387E18424E}"/>
              </a:ext>
            </a:extLst>
          </p:cNvPr>
          <p:cNvSpPr txBox="1"/>
          <p:nvPr/>
        </p:nvSpPr>
        <p:spPr>
          <a:xfrm>
            <a:off x="6709726" y="4455454"/>
            <a:ext cx="1426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/>
              <a:t>B</a:t>
            </a:r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DE3D4A6E-D63D-D9CC-CA23-0E3165193EE6}"/>
              </a:ext>
            </a:extLst>
          </p:cNvPr>
          <p:cNvCxnSpPr>
            <a:cxnSpLocks/>
            <a:stCxn id="62" idx="6"/>
          </p:cNvCxnSpPr>
          <p:nvPr/>
        </p:nvCxnSpPr>
        <p:spPr>
          <a:xfrm flipH="1" flipV="1">
            <a:off x="9756842" y="2137858"/>
            <a:ext cx="53908" cy="14814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Forma Livre: Forma 61">
            <a:extLst>
              <a:ext uri="{FF2B5EF4-FFF2-40B4-BE49-F238E27FC236}">
                <a16:creationId xmlns:a16="http://schemas.microsoft.com/office/drawing/2014/main" id="{D89FD206-A956-FABB-576E-6DEA83248426}"/>
              </a:ext>
            </a:extLst>
          </p:cNvPr>
          <p:cNvSpPr/>
          <p:nvPr/>
        </p:nvSpPr>
        <p:spPr>
          <a:xfrm>
            <a:off x="5800725" y="2286000"/>
            <a:ext cx="4271820" cy="1410921"/>
          </a:xfrm>
          <a:custGeom>
            <a:avLst/>
            <a:gdLst>
              <a:gd name="connsiteX0" fmla="*/ 0 w 4271820"/>
              <a:gd name="connsiteY0" fmla="*/ 723900 h 1410921"/>
              <a:gd name="connsiteX1" fmla="*/ 1752600 w 4271820"/>
              <a:gd name="connsiteY1" fmla="*/ 723900 h 1410921"/>
              <a:gd name="connsiteX2" fmla="*/ 2466975 w 4271820"/>
              <a:gd name="connsiteY2" fmla="*/ 1266825 h 1410921"/>
              <a:gd name="connsiteX3" fmla="*/ 3600450 w 4271820"/>
              <a:gd name="connsiteY3" fmla="*/ 1400175 h 1410921"/>
              <a:gd name="connsiteX4" fmla="*/ 4171950 w 4271820"/>
              <a:gd name="connsiteY4" fmla="*/ 1314450 h 1410921"/>
              <a:gd name="connsiteX5" fmla="*/ 4257675 w 4271820"/>
              <a:gd name="connsiteY5" fmla="*/ 619125 h 1410921"/>
              <a:gd name="connsiteX6" fmla="*/ 4010025 w 4271820"/>
              <a:gd name="connsiteY6" fmla="*/ 0 h 141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71820" h="1410921">
                <a:moveTo>
                  <a:pt x="0" y="723900"/>
                </a:moveTo>
                <a:cubicBezTo>
                  <a:pt x="670719" y="678656"/>
                  <a:pt x="1341438" y="633412"/>
                  <a:pt x="1752600" y="723900"/>
                </a:cubicBezTo>
                <a:cubicBezTo>
                  <a:pt x="2163763" y="814388"/>
                  <a:pt x="2159000" y="1154113"/>
                  <a:pt x="2466975" y="1266825"/>
                </a:cubicBezTo>
                <a:cubicBezTo>
                  <a:pt x="2774950" y="1379537"/>
                  <a:pt x="3316288" y="1392238"/>
                  <a:pt x="3600450" y="1400175"/>
                </a:cubicBezTo>
                <a:cubicBezTo>
                  <a:pt x="3884612" y="1408112"/>
                  <a:pt x="4062413" y="1444625"/>
                  <a:pt x="4171950" y="1314450"/>
                </a:cubicBezTo>
                <a:cubicBezTo>
                  <a:pt x="4281487" y="1184275"/>
                  <a:pt x="4284662" y="838200"/>
                  <a:pt x="4257675" y="619125"/>
                </a:cubicBezTo>
                <a:cubicBezTo>
                  <a:pt x="4230688" y="400050"/>
                  <a:pt x="4120356" y="200025"/>
                  <a:pt x="4010025" y="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612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FB43B2B-89B7-16F4-624F-D0E7E72A1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352" y="1145219"/>
            <a:ext cx="9891296" cy="423912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531A47-6FDD-6247-3324-F62DD3DED73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Período de </a:t>
            </a:r>
            <a:r>
              <a:rPr lang="pt-B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warm-up</a:t>
            </a:r>
            <a:endParaRPr lang="pt-B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031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596F75-615B-8E4D-D5B4-7075075C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Informações Coletadas na Visita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994823-CCB6-0AF6-F429-C422CE272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média, chegam 40 pacientes por dia na Maternidade;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São realizados cerca de 165 partos por mês (teste de Aderência);</a:t>
            </a:r>
            <a:endParaRPr lang="pt-BR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76% são parto normal e 24% são cesáreas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mãe permanece no Bloco Obstétrico por até 2h após o parto.</a:t>
            </a:r>
          </a:p>
          <a:p>
            <a:pPr marL="0" indent="0">
              <a:buNone/>
            </a:pPr>
            <a:endParaRPr lang="pt-BR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Capacidades: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Alojamentos Conjuntos;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Salas de Parto;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Equipe BO: 1 enfermeiro assistencial, 1 enfermeiro obstétrico e 6 técnicos de enfermagem;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Equipe neonatal: 2 enfermeiros e 8 técnicos de enfermagem;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Equipe médica: 3 obstetras, 3 pediatras e 1 anestesista.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036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57DE-728E-1089-AE5A-A5EF6E9EB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2EED29-1913-C964-9AD6-B5F27E36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2025 – Partos e Procedimentos Especiais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AD9E352C-91D0-AE80-DA87-88D582D1B085}"/>
              </a:ext>
            </a:extLst>
          </p:cNvPr>
          <p:cNvGraphicFramePr>
            <a:graphicFrameLocks/>
          </p:cNvGraphicFramePr>
          <p:nvPr/>
        </p:nvGraphicFramePr>
        <p:xfrm>
          <a:off x="2104557" y="1690688"/>
          <a:ext cx="7982886" cy="47897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1943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25C7-7588-7C59-F39B-DDE45BB35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F6C9D-E6F5-2AD3-4042-BE62D061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 de Aderência – Número de Partos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FAB5D7F-3101-03BF-38D7-1DC8A678A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" y="1690688"/>
            <a:ext cx="9875520" cy="479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5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747FE-155E-4FB0-43E6-44A23DFF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FCAF1-F555-C79A-0274-8A55D9BA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 de Aderência – Número de Procedimentos Especiais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690648-8EA8-91DF-154B-9B52999C6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856" y="1690688"/>
            <a:ext cx="9872287" cy="47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8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0EE59-6121-68BC-2783-0777F925D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5469F-6502-6E43-9A70-B3BC7207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 de Friedman: Simulação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A1B259-9140-49B8-7C9D-4831EBFD7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401" y="1690688"/>
            <a:ext cx="3853092" cy="4676403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465855A8-692E-C948-0A93-309043163B3D}"/>
              </a:ext>
            </a:extLst>
          </p:cNvPr>
          <p:cNvGrpSpPr/>
          <p:nvPr/>
        </p:nvGrpSpPr>
        <p:grpSpPr>
          <a:xfrm>
            <a:off x="6249508" y="1697584"/>
            <a:ext cx="3812796" cy="1731415"/>
            <a:chOff x="6249508" y="1697584"/>
            <a:chExt cx="3812796" cy="1731415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C5C8BE46-1DD9-9E60-95B2-735132A99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9508" y="1697584"/>
              <a:ext cx="3812796" cy="1731415"/>
            </a:xfrm>
            <a:prstGeom prst="rect">
              <a:avLst/>
            </a:prstGeom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884A729E-CF4D-D806-F12B-755FE65AF4B9}"/>
                </a:ext>
              </a:extLst>
            </p:cNvPr>
            <p:cNvSpPr/>
            <p:nvPr/>
          </p:nvSpPr>
          <p:spPr>
            <a:xfrm>
              <a:off x="8862645" y="2686929"/>
              <a:ext cx="829994" cy="46423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10B8206-21A2-4F5F-2316-EEDA4EE1DE1B}"/>
                  </a:ext>
                </a:extLst>
              </p:cNvPr>
              <p:cNvSpPr txBox="1"/>
              <p:nvPr/>
            </p:nvSpPr>
            <p:spPr>
              <a:xfrm>
                <a:off x="6597748" y="4065563"/>
                <a:ext cx="385309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: Não há diferença estatisticamente significativa entre as amostras</a:t>
                </a:r>
              </a:p>
              <a:p>
                <a:endParaRPr lang="pt-BR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pt-BR" b="0" i="1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&gt;0.05</m:t>
                    </m:r>
                  </m:oMath>
                </a14:m>
                <a:r>
                  <a:rPr lang="pt-BR" dirty="0"/>
                  <a:t>: Não se rejeita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10B8206-21A2-4F5F-2316-EEDA4EE1D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748" y="4065563"/>
                <a:ext cx="3853092" cy="1200329"/>
              </a:xfrm>
              <a:prstGeom prst="rect">
                <a:avLst/>
              </a:prstGeom>
              <a:blipFill>
                <a:blip r:embed="rId4"/>
                <a:stretch>
                  <a:fillRect l="-1266" t="-3046" b="-71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57022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659</Words>
  <Application>Microsoft Office PowerPoint</Application>
  <PresentationFormat>Widescreen</PresentationFormat>
  <Paragraphs>253</Paragraphs>
  <Slides>8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Informações Coletadas na Visita</vt:lpstr>
      <vt:lpstr>Dados 2025 – Partos e Procedimentos Especiais</vt:lpstr>
      <vt:lpstr>Teste de Aderência – Número de Partos</vt:lpstr>
      <vt:lpstr>Teste de Aderência – Número de Procedimentos Especiais</vt:lpstr>
      <vt:lpstr>Teste de Friedman: Simulação x Real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MARCOS DE MORAIS NASCIMENTO</dc:creator>
  <cp:lastModifiedBy>GABRIEL MARCOS DE MORAIS NASCIMENTO</cp:lastModifiedBy>
  <cp:revision>74</cp:revision>
  <dcterms:created xsi:type="dcterms:W3CDTF">2025-09-10T01:20:06Z</dcterms:created>
  <dcterms:modified xsi:type="dcterms:W3CDTF">2025-11-19T17:34:40Z</dcterms:modified>
</cp:coreProperties>
</file>