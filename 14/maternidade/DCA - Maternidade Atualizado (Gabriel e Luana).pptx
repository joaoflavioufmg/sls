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91" autoAdjust="0"/>
  </p:normalViewPr>
  <p:slideViewPr>
    <p:cSldViewPr snapToGrid="0">
      <p:cViewPr varScale="1">
        <p:scale>
          <a:sx n="108" d="100"/>
          <a:sy n="108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bri\OneDrive\&#193;rea%20de%20Trabalho\Maternidade_atualizado\PARTOS%20REALIZADOS%20MATERNIDADE%20-%202025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'Total de partos'!$O$7</c:f>
              <c:strCache>
                <c:ptCount val="1"/>
                <c:pt idx="0">
                  <c:v>Partos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accent1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'Total de partos'!$N$8:$N$15</c:f>
              <c:strCache>
                <c:ptCount val="8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</c:strCache>
            </c:strRef>
          </c:cat>
          <c:val>
            <c:numRef>
              <c:f>'Total de partos'!$O$8:$O$15</c:f>
              <c:numCache>
                <c:formatCode>0</c:formatCode>
                <c:ptCount val="8"/>
                <c:pt idx="0">
                  <c:v>162</c:v>
                </c:pt>
                <c:pt idx="1">
                  <c:v>120</c:v>
                </c:pt>
                <c:pt idx="2">
                  <c:v>206</c:v>
                </c:pt>
                <c:pt idx="3">
                  <c:v>157</c:v>
                </c:pt>
                <c:pt idx="4">
                  <c:v>186</c:v>
                </c:pt>
                <c:pt idx="5">
                  <c:v>194</c:v>
                </c:pt>
                <c:pt idx="6">
                  <c:v>179</c:v>
                </c:pt>
                <c:pt idx="7">
                  <c:v>171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0A-4AE3-9223-4801216F117D}"/>
            </c:ext>
          </c:extLst>
        </c:ser>
        <c:ser>
          <c:idx val="1"/>
          <c:order val="1"/>
          <c:tx>
            <c:strRef>
              <c:f>'Total de partos'!$P$7</c:f>
              <c:strCache>
                <c:ptCount val="1"/>
                <c:pt idx="0">
                  <c:v>Proc Esp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accent2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'Total de partos'!$N$8:$N$15</c:f>
              <c:strCache>
                <c:ptCount val="8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</c:strCache>
            </c:strRef>
          </c:cat>
          <c:val>
            <c:numRef>
              <c:f>'Total de partos'!$P$8:$P$15</c:f>
              <c:numCache>
                <c:formatCode>0</c:formatCode>
                <c:ptCount val="8"/>
                <c:pt idx="0">
                  <c:v>12</c:v>
                </c:pt>
                <c:pt idx="1">
                  <c:v>17</c:v>
                </c:pt>
                <c:pt idx="2">
                  <c:v>15</c:v>
                </c:pt>
                <c:pt idx="3">
                  <c:v>24</c:v>
                </c:pt>
                <c:pt idx="4">
                  <c:v>13</c:v>
                </c:pt>
                <c:pt idx="5">
                  <c:v>6</c:v>
                </c:pt>
                <c:pt idx="6">
                  <c:v>18</c:v>
                </c:pt>
                <c:pt idx="7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0A-4AE3-9223-4801216F117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771427136"/>
        <c:axId val="773415792"/>
      </c:barChart>
      <c:catAx>
        <c:axId val="771427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773415792"/>
        <c:crosses val="autoZero"/>
        <c:auto val="1"/>
        <c:lblAlgn val="ctr"/>
        <c:lblOffset val="100"/>
        <c:noMultiLvlLbl val="0"/>
      </c:catAx>
      <c:valAx>
        <c:axId val="7734157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7714271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BE881F-4173-4370-AB67-CE72FB1EEF4B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4933B4-D72D-485F-8B29-F4D42AB92A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002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933B4-D72D-485F-8B29-F4D42AB92A6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7994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B8F7EE-BE34-6BC5-29EF-6A5C09B5CD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A3A992-56C7-961E-9794-CC94AC9F1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4728CC-F88C-B6FF-D679-024F0F02C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681157-A0E1-200E-2845-9ECE6EBF9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9E8FCC-B865-975A-ED2B-49AF4CFB5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799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21DB2-100F-D6AD-CD3E-F410E65B5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327862-D3A4-9654-2FDB-4CAD516F0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5ED2DF-14B2-507F-731D-3B3685773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D41087-D701-D2DA-46F2-69BF4D48D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F23F8F-42BA-8AE0-E2D0-8E6A677BC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2444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B0AD7A-616A-238B-93DE-1BB4EC7EB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DC282F6-F9F9-29B5-5889-C53EB00EB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C4F70C-9576-D90E-09C7-BC15F677B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AF3403-898F-82CB-EF7D-3F0E3CEE2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04B78C-B2A8-50D3-BCE9-6DEB2CF00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049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0200E6-2FF5-BEC0-BFFC-472EBCFBF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5C997B-8F27-D542-E940-32101C3C35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18EC31F-184E-AFDD-DC89-A54214D98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B5B0598-E85D-8CAF-7766-218601FD5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280291F-1F89-D9FB-552A-E0B02994C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A20F66-958D-2AB6-B56A-247D0D849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8270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A8A002-8F7C-29AD-421D-A2E35764B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6DC59DE-A21C-7F68-7BCC-E4F1795CA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29E2B0-A54F-DE13-105B-6F23B99CE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0A5635-0BF0-6DBF-6144-3698FD9413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7ADA24-9D4A-6210-F9B5-149AC3F80C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7564F9B-C17C-41FF-5DAE-EF154808A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1EB7818-2906-027D-41AE-A9695E39E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782E355-2694-AF58-10BF-4DF1C9957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0707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338E25-5655-1904-5EAE-C0888A4BD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F2AB9C0-15A0-D3BE-EB33-D09EFEE7C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A0AF6F4-17C3-CFE2-E301-02E6E1053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D623ACD-ECA6-68C8-77FD-6B11F01C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8992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4261C08-7C04-3055-3955-162DC6D02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D16ADF-AE40-A158-C41F-5763F45A9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6BC5B8-86B0-CA90-26C5-58DF2122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1767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5453B9-0268-27A9-B5A4-8492E6A53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F3CBA0-02FC-50E2-FD6B-C70852254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BD13F4E-F1C4-CB89-89AE-C41DB826B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955A0AA-E7AD-494C-92BA-0CA4DA655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546B34-46D4-903E-61D2-64A12BBFA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8957495-1E4A-464F-B213-C8C094C37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6342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74F061-73B5-0681-E572-036E9CB19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94AC98C-0A2A-DC7C-16DA-0CA21E3FBE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85C778C-1F78-5F6E-79BF-6D6BCAA01D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15A306C-BFAE-C432-6850-FC395FBCA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8C39D1-4E92-FE52-D9DA-B39FC024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470F018-C440-ECC8-35A8-76F63579E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1843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B9DCC-48C9-233F-67B6-808B10A54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B195256-D4E1-80B0-10C2-10E366B0C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EDFD64-6572-370F-FF4D-EFC74F4BC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3D56D7-0236-3B4E-EA24-BEA4D0275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94BE1A-6B63-FC82-ACE0-BD63807FC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7412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B572FB2-936C-E710-E643-6B0B555899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B429F6C-CB45-E43A-C153-E18AE85B3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84F4F5-0DF1-80BF-B6AD-DB2CBFE40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415EED-99B4-F73D-C16E-79F63268F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A1A3A1-6A83-E8D1-5F55-C51F31855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972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734BCEE-6AA0-DB0D-6047-79C2F5AD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8A2A91-ADCA-D0B1-0EA8-464F62A85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E2FC51-DF0F-F8D0-32E7-331D93F23F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3E323-45A2-4916-A57C-4D9279AE3351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050EEE-04E2-4A8C-AC6E-BBB5BC05C9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F2D3F8-C515-D829-2D34-FFE2ACCECA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6201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354609DB-3A83-4956-FC22-C79763223D88}"/>
              </a:ext>
            </a:extLst>
          </p:cNvPr>
          <p:cNvGrpSpPr/>
          <p:nvPr/>
        </p:nvGrpSpPr>
        <p:grpSpPr>
          <a:xfrm>
            <a:off x="59969" y="5061264"/>
            <a:ext cx="606323" cy="502229"/>
            <a:chOff x="616635" y="2771335"/>
            <a:chExt cx="1324707" cy="1097280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1BB0379A-B30F-BE66-27F0-9F3774169A62}"/>
                </a:ext>
              </a:extLst>
            </p:cNvPr>
            <p:cNvSpPr/>
            <p:nvPr/>
          </p:nvSpPr>
          <p:spPr>
            <a:xfrm>
              <a:off x="616635" y="2771335"/>
              <a:ext cx="1097280" cy="10972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/>
            </a:p>
          </p:txBody>
        </p: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4513831E-CBAB-1C7D-C00D-418ACCE9F48F}"/>
                </a:ext>
              </a:extLst>
            </p:cNvPr>
            <p:cNvSpPr/>
            <p:nvPr/>
          </p:nvSpPr>
          <p:spPr>
            <a:xfrm>
              <a:off x="844062" y="2771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64E7D5FC-E1DA-3307-4B96-E452D1AF8148}"/>
                </a:ext>
              </a:extLst>
            </p:cNvPr>
            <p:cNvSpPr txBox="1"/>
            <p:nvPr/>
          </p:nvSpPr>
          <p:spPr>
            <a:xfrm>
              <a:off x="1028113" y="3130061"/>
              <a:ext cx="729177" cy="4370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Rua</a:t>
              </a:r>
            </a:p>
          </p:txBody>
        </p:sp>
      </p:grp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4B830D91-07A5-263D-23BA-E8F7E90842C7}"/>
              </a:ext>
            </a:extLst>
          </p:cNvPr>
          <p:cNvCxnSpPr>
            <a:cxnSpLocks/>
          </p:cNvCxnSpPr>
          <p:nvPr/>
        </p:nvCxnSpPr>
        <p:spPr>
          <a:xfrm>
            <a:off x="687220" y="5312379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C374C46-9682-DB15-C3E2-E3B7950F38BC}"/>
              </a:ext>
            </a:extLst>
          </p:cNvPr>
          <p:cNvSpPr txBox="1"/>
          <p:nvPr/>
        </p:nvSpPr>
        <p:spPr>
          <a:xfrm>
            <a:off x="919017" y="5104628"/>
            <a:ext cx="682516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700" dirty="0"/>
              <a:t>CHEGADA</a:t>
            </a:r>
          </a:p>
          <a:p>
            <a:pPr algn="ctr"/>
            <a:endParaRPr lang="pt-BR" sz="700" dirty="0"/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AD64655D-C665-D05E-96DD-A429DD171031}"/>
              </a:ext>
            </a:extLst>
          </p:cNvPr>
          <p:cNvCxnSpPr>
            <a:cxnSpLocks/>
          </p:cNvCxnSpPr>
          <p:nvPr/>
        </p:nvCxnSpPr>
        <p:spPr>
          <a:xfrm>
            <a:off x="1601533" y="5312379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3C8615BA-9FA4-773D-83E1-ED70000E752F}"/>
              </a:ext>
            </a:extLst>
          </p:cNvPr>
          <p:cNvGrpSpPr/>
          <p:nvPr/>
        </p:nvGrpSpPr>
        <p:grpSpPr>
          <a:xfrm>
            <a:off x="1795503" y="5061264"/>
            <a:ext cx="573593" cy="502229"/>
            <a:chOff x="4449493" y="2967335"/>
            <a:chExt cx="1253198" cy="1097280"/>
          </a:xfrm>
        </p:grpSpPr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FB8CDE88-D637-AEB6-6F33-6847C703BCAA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64BABFFA-D4D1-89BA-BF78-80552098F88D}"/>
                </a:ext>
              </a:extLst>
            </p:cNvPr>
            <p:cNvSpPr txBox="1"/>
            <p:nvPr/>
          </p:nvSpPr>
          <p:spPr>
            <a:xfrm>
              <a:off x="4449493" y="3105833"/>
              <a:ext cx="1253198" cy="672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Recepção</a:t>
              </a:r>
            </a:p>
          </p:txBody>
        </p:sp>
      </p:grp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46EBD1E-3355-B083-365E-3E2478E7757E}"/>
              </a:ext>
            </a:extLst>
          </p:cNvPr>
          <p:cNvSpPr txBox="1"/>
          <p:nvPr/>
        </p:nvSpPr>
        <p:spPr>
          <a:xfrm>
            <a:off x="2563066" y="5104628"/>
            <a:ext cx="682516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700" dirty="0"/>
              <a:t>Recepção</a:t>
            </a:r>
          </a:p>
          <a:p>
            <a:pPr algn="ctr"/>
            <a:endParaRPr lang="pt-BR" sz="700" dirty="0"/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CBF6ECEF-D9C3-1547-2E58-A38C88BABF0E}"/>
              </a:ext>
            </a:extLst>
          </p:cNvPr>
          <p:cNvCxnSpPr>
            <a:cxnSpLocks/>
          </p:cNvCxnSpPr>
          <p:nvPr/>
        </p:nvCxnSpPr>
        <p:spPr>
          <a:xfrm>
            <a:off x="2333414" y="5312379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FDD75B63-4EE6-DC0B-49D2-D549E62242B3}"/>
              </a:ext>
            </a:extLst>
          </p:cNvPr>
          <p:cNvGrpSpPr/>
          <p:nvPr/>
        </p:nvGrpSpPr>
        <p:grpSpPr>
          <a:xfrm>
            <a:off x="2589359" y="4216705"/>
            <a:ext cx="573593" cy="502229"/>
            <a:chOff x="4449493" y="2967335"/>
            <a:chExt cx="1253198" cy="1097280"/>
          </a:xfrm>
        </p:grpSpPr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E42A73D2-961E-D0E5-9F3B-BBC97F4EF807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D449CBFC-7F0C-10B5-DDF4-83DE48C3957A}"/>
                </a:ext>
              </a:extLst>
            </p:cNvPr>
            <p:cNvSpPr txBox="1"/>
            <p:nvPr/>
          </p:nvSpPr>
          <p:spPr>
            <a:xfrm>
              <a:off x="4449493" y="3254366"/>
              <a:ext cx="1253198" cy="5379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chemeClr val="accent1"/>
                  </a:solidFill>
                </a:rPr>
                <a:t>Recepcionista</a:t>
              </a:r>
            </a:p>
            <a:p>
              <a:pPr algn="ctr"/>
              <a:r>
                <a:rPr lang="pt-BR" sz="500" dirty="0">
                  <a:solidFill>
                    <a:schemeClr val="accent1"/>
                  </a:solidFill>
                </a:rPr>
                <a:t>Livre</a:t>
              </a:r>
            </a:p>
          </p:txBody>
        </p:sp>
      </p:grpSp>
      <p:cxnSp>
        <p:nvCxnSpPr>
          <p:cNvPr id="40" name="Conector: Curvo 39">
            <a:extLst>
              <a:ext uri="{FF2B5EF4-FFF2-40B4-BE49-F238E27FC236}">
                <a16:creationId xmlns:a16="http://schemas.microsoft.com/office/drawing/2014/main" id="{E5237678-DE26-5517-0C53-A7E151831EB8}"/>
              </a:ext>
            </a:extLst>
          </p:cNvPr>
          <p:cNvCxnSpPr>
            <a:cxnSpLocks/>
            <a:stCxn id="25" idx="1"/>
          </p:cNvCxnSpPr>
          <p:nvPr/>
        </p:nvCxnSpPr>
        <p:spPr>
          <a:xfrm rot="10800000" flipV="1">
            <a:off x="2479193" y="4471191"/>
            <a:ext cx="110166" cy="754256"/>
          </a:xfrm>
          <a:prstGeom prst="curvedConnector2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: Curvo 49">
            <a:extLst>
              <a:ext uri="{FF2B5EF4-FFF2-40B4-BE49-F238E27FC236}">
                <a16:creationId xmlns:a16="http://schemas.microsoft.com/office/drawing/2014/main" id="{7C09B93F-8AEB-ABCD-F224-3B79F3B8B67D}"/>
              </a:ext>
            </a:extLst>
          </p:cNvPr>
          <p:cNvCxnSpPr>
            <a:cxnSpLocks/>
          </p:cNvCxnSpPr>
          <p:nvPr/>
        </p:nvCxnSpPr>
        <p:spPr>
          <a:xfrm rot="16200000" flipV="1">
            <a:off x="2824183" y="4743360"/>
            <a:ext cx="815209" cy="148980"/>
          </a:xfrm>
          <a:prstGeom prst="curvedConnector3">
            <a:avLst>
              <a:gd name="adj1" fmla="val 99760"/>
            </a:avLst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>
            <a:extLst>
              <a:ext uri="{FF2B5EF4-FFF2-40B4-BE49-F238E27FC236}">
                <a16:creationId xmlns:a16="http://schemas.microsoft.com/office/drawing/2014/main" id="{AA18B1AE-6CAE-28C7-6884-7C8EE029C462}"/>
              </a:ext>
            </a:extLst>
          </p:cNvPr>
          <p:cNvCxnSpPr>
            <a:cxnSpLocks/>
          </p:cNvCxnSpPr>
          <p:nvPr/>
        </p:nvCxnSpPr>
        <p:spPr>
          <a:xfrm>
            <a:off x="3247795" y="5312379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AD3F5CC8-94DF-8C98-B36D-D029694E3317}"/>
              </a:ext>
            </a:extLst>
          </p:cNvPr>
          <p:cNvSpPr txBox="1"/>
          <p:nvPr/>
        </p:nvSpPr>
        <p:spPr>
          <a:xfrm>
            <a:off x="4218183" y="5128211"/>
            <a:ext cx="682516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700" dirty="0"/>
              <a:t>Triagem</a:t>
            </a:r>
          </a:p>
          <a:p>
            <a:pPr algn="ctr"/>
            <a:endParaRPr lang="pt-BR" sz="700" dirty="0"/>
          </a:p>
        </p:txBody>
      </p:sp>
      <p:grpSp>
        <p:nvGrpSpPr>
          <p:cNvPr id="71" name="Agrupar 70">
            <a:extLst>
              <a:ext uri="{FF2B5EF4-FFF2-40B4-BE49-F238E27FC236}">
                <a16:creationId xmlns:a16="http://schemas.microsoft.com/office/drawing/2014/main" id="{4AF130A4-F863-E9E1-6E9C-4A01AEAC4B25}"/>
              </a:ext>
            </a:extLst>
          </p:cNvPr>
          <p:cNvGrpSpPr/>
          <p:nvPr/>
        </p:nvGrpSpPr>
        <p:grpSpPr>
          <a:xfrm>
            <a:off x="4297445" y="4309719"/>
            <a:ext cx="573593" cy="502229"/>
            <a:chOff x="4449493" y="2967335"/>
            <a:chExt cx="1253198" cy="1097280"/>
          </a:xfrm>
        </p:grpSpPr>
        <p:sp>
          <p:nvSpPr>
            <p:cNvPr id="72" name="Elipse 71">
              <a:extLst>
                <a:ext uri="{FF2B5EF4-FFF2-40B4-BE49-F238E27FC236}">
                  <a16:creationId xmlns:a16="http://schemas.microsoft.com/office/drawing/2014/main" id="{66E00FEF-D2CB-207A-E847-8A81BFB5E1B5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73" name="CaixaDeTexto 72">
              <a:extLst>
                <a:ext uri="{FF2B5EF4-FFF2-40B4-BE49-F238E27FC236}">
                  <a16:creationId xmlns:a16="http://schemas.microsoft.com/office/drawing/2014/main" id="{386F979E-D74B-AB7C-F8C8-105B475AE5B1}"/>
                </a:ext>
              </a:extLst>
            </p:cNvPr>
            <p:cNvSpPr txBox="1"/>
            <p:nvPr/>
          </p:nvSpPr>
          <p:spPr>
            <a:xfrm>
              <a:off x="4449493" y="3254366"/>
              <a:ext cx="1253198" cy="7060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chemeClr val="accent2"/>
                  </a:solidFill>
                </a:rPr>
                <a:t>Enfermeiro</a:t>
              </a:r>
            </a:p>
            <a:p>
              <a:pPr algn="ctr"/>
              <a:r>
                <a:rPr lang="pt-BR" sz="500" dirty="0">
                  <a:solidFill>
                    <a:schemeClr val="accent2"/>
                  </a:solidFill>
                </a:rPr>
                <a:t>Triagem</a:t>
              </a:r>
            </a:p>
            <a:p>
              <a:pPr algn="ctr"/>
              <a:r>
                <a:rPr lang="pt-BR" sz="500" dirty="0">
                  <a:solidFill>
                    <a:schemeClr val="accent2"/>
                  </a:solidFill>
                </a:rPr>
                <a:t>Livre</a:t>
              </a:r>
            </a:p>
          </p:txBody>
        </p:sp>
      </p:grpSp>
      <p:cxnSp>
        <p:nvCxnSpPr>
          <p:cNvPr id="74" name="Conector: Curvo 73">
            <a:extLst>
              <a:ext uri="{FF2B5EF4-FFF2-40B4-BE49-F238E27FC236}">
                <a16:creationId xmlns:a16="http://schemas.microsoft.com/office/drawing/2014/main" id="{A0D97863-7EFF-EE0E-0921-52C70775EE48}"/>
              </a:ext>
            </a:extLst>
          </p:cNvPr>
          <p:cNvCxnSpPr>
            <a:cxnSpLocks/>
            <a:stCxn id="73" idx="1"/>
          </p:cNvCxnSpPr>
          <p:nvPr/>
        </p:nvCxnSpPr>
        <p:spPr>
          <a:xfrm rot="10800000" flipV="1">
            <a:off x="4165383" y="4602677"/>
            <a:ext cx="132062" cy="614988"/>
          </a:xfrm>
          <a:prstGeom prst="curvedConnector2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: Curvo 74">
            <a:extLst>
              <a:ext uri="{FF2B5EF4-FFF2-40B4-BE49-F238E27FC236}">
                <a16:creationId xmlns:a16="http://schemas.microsoft.com/office/drawing/2014/main" id="{4B1A5A67-D0A7-30B8-C10C-9FDC84814599}"/>
              </a:ext>
            </a:extLst>
          </p:cNvPr>
          <p:cNvCxnSpPr>
            <a:cxnSpLocks/>
            <a:endCxn id="73" idx="3"/>
          </p:cNvCxnSpPr>
          <p:nvPr/>
        </p:nvCxnSpPr>
        <p:spPr>
          <a:xfrm rot="16200000" flipV="1">
            <a:off x="4588974" y="4884742"/>
            <a:ext cx="666239" cy="102110"/>
          </a:xfrm>
          <a:prstGeom prst="curvedConnector2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>
            <a:extLst>
              <a:ext uri="{FF2B5EF4-FFF2-40B4-BE49-F238E27FC236}">
                <a16:creationId xmlns:a16="http://schemas.microsoft.com/office/drawing/2014/main" id="{094FCC4D-1BC0-F20D-DC80-62FE574782B4}"/>
              </a:ext>
            </a:extLst>
          </p:cNvPr>
          <p:cNvCxnSpPr>
            <a:cxnSpLocks/>
          </p:cNvCxnSpPr>
          <p:nvPr/>
        </p:nvCxnSpPr>
        <p:spPr>
          <a:xfrm flipV="1">
            <a:off x="4900699" y="5312379"/>
            <a:ext cx="422277" cy="37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Agrupar 84">
            <a:extLst>
              <a:ext uri="{FF2B5EF4-FFF2-40B4-BE49-F238E27FC236}">
                <a16:creationId xmlns:a16="http://schemas.microsoft.com/office/drawing/2014/main" id="{5B046189-090E-3F64-4ACE-B95CA2911199}"/>
              </a:ext>
            </a:extLst>
          </p:cNvPr>
          <p:cNvGrpSpPr/>
          <p:nvPr/>
        </p:nvGrpSpPr>
        <p:grpSpPr>
          <a:xfrm>
            <a:off x="5292058" y="5061264"/>
            <a:ext cx="573593" cy="502229"/>
            <a:chOff x="4449493" y="2967335"/>
            <a:chExt cx="1253198" cy="1097280"/>
          </a:xfrm>
        </p:grpSpPr>
        <p:sp>
          <p:nvSpPr>
            <p:cNvPr id="86" name="Elipse 85">
              <a:extLst>
                <a:ext uri="{FF2B5EF4-FFF2-40B4-BE49-F238E27FC236}">
                  <a16:creationId xmlns:a16="http://schemas.microsoft.com/office/drawing/2014/main" id="{9784D8AC-9D95-9E14-C113-868E6CA40E4C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87" name="CaixaDeTexto 86">
              <a:extLst>
                <a:ext uri="{FF2B5EF4-FFF2-40B4-BE49-F238E27FC236}">
                  <a16:creationId xmlns:a16="http://schemas.microsoft.com/office/drawing/2014/main" id="{02223F5A-F8F1-1440-543F-F3E0152562FC}"/>
                </a:ext>
              </a:extLst>
            </p:cNvPr>
            <p:cNvSpPr txBox="1"/>
            <p:nvPr/>
          </p:nvSpPr>
          <p:spPr>
            <a:xfrm>
              <a:off x="4449493" y="3178677"/>
              <a:ext cx="1253198" cy="672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Médico</a:t>
              </a:r>
            </a:p>
          </p:txBody>
        </p:sp>
      </p:grpSp>
      <p:sp>
        <p:nvSpPr>
          <p:cNvPr id="88" name="Elipse 87">
            <a:extLst>
              <a:ext uri="{FF2B5EF4-FFF2-40B4-BE49-F238E27FC236}">
                <a16:creationId xmlns:a16="http://schemas.microsoft.com/office/drawing/2014/main" id="{898B7375-911A-3C96-87FB-1BB07C473A2F}"/>
              </a:ext>
            </a:extLst>
          </p:cNvPr>
          <p:cNvSpPr/>
          <p:nvPr/>
        </p:nvSpPr>
        <p:spPr>
          <a:xfrm>
            <a:off x="5076929" y="5278844"/>
            <a:ext cx="74582" cy="745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700"/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97C12BC1-9182-820D-D2AB-842AA977E78B}"/>
              </a:ext>
            </a:extLst>
          </p:cNvPr>
          <p:cNvSpPr txBox="1"/>
          <p:nvPr/>
        </p:nvSpPr>
        <p:spPr>
          <a:xfrm>
            <a:off x="5044453" y="5329572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1</a:t>
            </a:r>
          </a:p>
        </p:txBody>
      </p:sp>
      <p:cxnSp>
        <p:nvCxnSpPr>
          <p:cNvPr id="91" name="Conector de Seta Reta 90">
            <a:extLst>
              <a:ext uri="{FF2B5EF4-FFF2-40B4-BE49-F238E27FC236}">
                <a16:creationId xmlns:a16="http://schemas.microsoft.com/office/drawing/2014/main" id="{B08A37C1-9D18-8AC7-5BEA-4D17AB83C9F9}"/>
              </a:ext>
            </a:extLst>
          </p:cNvPr>
          <p:cNvCxnSpPr>
            <a:cxnSpLocks/>
          </p:cNvCxnSpPr>
          <p:nvPr/>
        </p:nvCxnSpPr>
        <p:spPr>
          <a:xfrm>
            <a:off x="5829969" y="5303710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Agrupar 91">
            <a:extLst>
              <a:ext uri="{FF2B5EF4-FFF2-40B4-BE49-F238E27FC236}">
                <a16:creationId xmlns:a16="http://schemas.microsoft.com/office/drawing/2014/main" id="{E2E4D042-D20F-F1A7-E1F4-F0B430BC6A26}"/>
              </a:ext>
            </a:extLst>
          </p:cNvPr>
          <p:cNvGrpSpPr/>
          <p:nvPr/>
        </p:nvGrpSpPr>
        <p:grpSpPr>
          <a:xfrm>
            <a:off x="6170690" y="5970796"/>
            <a:ext cx="573593" cy="502229"/>
            <a:chOff x="4449493" y="2967335"/>
            <a:chExt cx="1253198" cy="1097280"/>
          </a:xfrm>
        </p:grpSpPr>
        <p:sp>
          <p:nvSpPr>
            <p:cNvPr id="93" name="Elipse 92">
              <a:extLst>
                <a:ext uri="{FF2B5EF4-FFF2-40B4-BE49-F238E27FC236}">
                  <a16:creationId xmlns:a16="http://schemas.microsoft.com/office/drawing/2014/main" id="{6FDFFF59-4EC1-BE94-6B53-26BC2A062F02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94" name="CaixaDeTexto 93">
              <a:extLst>
                <a:ext uri="{FF2B5EF4-FFF2-40B4-BE49-F238E27FC236}">
                  <a16:creationId xmlns:a16="http://schemas.microsoft.com/office/drawing/2014/main" id="{28FC2F13-151A-7533-43BB-2B0F3F4220D0}"/>
                </a:ext>
              </a:extLst>
            </p:cNvPr>
            <p:cNvSpPr txBox="1"/>
            <p:nvPr/>
          </p:nvSpPr>
          <p:spPr>
            <a:xfrm>
              <a:off x="4449493" y="3254366"/>
              <a:ext cx="1253198" cy="7060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chemeClr val="accent6"/>
                  </a:solidFill>
                </a:rPr>
                <a:t>Médico</a:t>
              </a:r>
            </a:p>
            <a:p>
              <a:pPr algn="ctr"/>
              <a:r>
                <a:rPr lang="pt-BR" sz="500" dirty="0">
                  <a:solidFill>
                    <a:schemeClr val="accent6"/>
                  </a:solidFill>
                </a:rPr>
                <a:t>Obstetra</a:t>
              </a:r>
            </a:p>
            <a:p>
              <a:pPr algn="ctr"/>
              <a:r>
                <a:rPr lang="pt-BR" sz="500" dirty="0">
                  <a:solidFill>
                    <a:schemeClr val="accent6"/>
                  </a:solidFill>
                </a:rPr>
                <a:t>Livre</a:t>
              </a:r>
            </a:p>
          </p:txBody>
        </p:sp>
      </p:grp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4BBD7351-4C6E-C238-AB2F-4401671ABFAC}"/>
              </a:ext>
            </a:extLst>
          </p:cNvPr>
          <p:cNvSpPr txBox="1"/>
          <p:nvPr/>
        </p:nvSpPr>
        <p:spPr>
          <a:xfrm>
            <a:off x="6061767" y="5253400"/>
            <a:ext cx="682516" cy="2000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pt-BR" sz="700" dirty="0"/>
              <a:t>Consulta</a:t>
            </a:r>
            <a:endParaRPr lang="pt-BR" sz="900" dirty="0"/>
          </a:p>
        </p:txBody>
      </p:sp>
      <p:cxnSp>
        <p:nvCxnSpPr>
          <p:cNvPr id="115" name="Conector: Curvo 114">
            <a:extLst>
              <a:ext uri="{FF2B5EF4-FFF2-40B4-BE49-F238E27FC236}">
                <a16:creationId xmlns:a16="http://schemas.microsoft.com/office/drawing/2014/main" id="{D804C228-7D01-F06C-EFF7-FA7ED5AFF634}"/>
              </a:ext>
            </a:extLst>
          </p:cNvPr>
          <p:cNvCxnSpPr>
            <a:cxnSpLocks/>
          </p:cNvCxnSpPr>
          <p:nvPr/>
        </p:nvCxnSpPr>
        <p:spPr>
          <a:xfrm>
            <a:off x="6769343" y="5472131"/>
            <a:ext cx="54462" cy="749780"/>
          </a:xfrm>
          <a:prstGeom prst="curvedConnector3">
            <a:avLst>
              <a:gd name="adj1" fmla="val 519742"/>
            </a:avLst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: Curvo 122">
            <a:extLst>
              <a:ext uri="{FF2B5EF4-FFF2-40B4-BE49-F238E27FC236}">
                <a16:creationId xmlns:a16="http://schemas.microsoft.com/office/drawing/2014/main" id="{E2F7B31B-DE69-33FC-624D-EBF8CE52FA29}"/>
              </a:ext>
            </a:extLst>
          </p:cNvPr>
          <p:cNvCxnSpPr>
            <a:cxnSpLocks/>
          </p:cNvCxnSpPr>
          <p:nvPr/>
        </p:nvCxnSpPr>
        <p:spPr>
          <a:xfrm flipH="1" flipV="1">
            <a:off x="6027878" y="5520126"/>
            <a:ext cx="54462" cy="749780"/>
          </a:xfrm>
          <a:prstGeom prst="curvedConnector3">
            <a:avLst>
              <a:gd name="adj1" fmla="val 519742"/>
            </a:avLst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reto 127">
            <a:extLst>
              <a:ext uri="{FF2B5EF4-FFF2-40B4-BE49-F238E27FC236}">
                <a16:creationId xmlns:a16="http://schemas.microsoft.com/office/drawing/2014/main" id="{366849F4-2D00-06B9-C147-54948CF2D916}"/>
              </a:ext>
            </a:extLst>
          </p:cNvPr>
          <p:cNvCxnSpPr>
            <a:cxnSpLocks/>
            <a:stCxn id="106" idx="3"/>
          </p:cNvCxnSpPr>
          <p:nvPr/>
        </p:nvCxnSpPr>
        <p:spPr>
          <a:xfrm flipV="1">
            <a:off x="6744283" y="5353426"/>
            <a:ext cx="392761" cy="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CaixaDeTexto 134">
            <a:extLst>
              <a:ext uri="{FF2B5EF4-FFF2-40B4-BE49-F238E27FC236}">
                <a16:creationId xmlns:a16="http://schemas.microsoft.com/office/drawing/2014/main" id="{0A7A034B-FB8C-015A-BBD9-F31F935C6556}"/>
              </a:ext>
            </a:extLst>
          </p:cNvPr>
          <p:cNvSpPr txBox="1"/>
          <p:nvPr/>
        </p:nvSpPr>
        <p:spPr>
          <a:xfrm>
            <a:off x="6496620" y="4536037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A</a:t>
            </a:r>
          </a:p>
        </p:txBody>
      </p:sp>
      <p:cxnSp>
        <p:nvCxnSpPr>
          <p:cNvPr id="147" name="Conector: Curvo 146">
            <a:extLst>
              <a:ext uri="{FF2B5EF4-FFF2-40B4-BE49-F238E27FC236}">
                <a16:creationId xmlns:a16="http://schemas.microsoft.com/office/drawing/2014/main" id="{8D5C0314-506A-D3DE-E0A5-57A574E37E0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927734" y="4823050"/>
            <a:ext cx="733651" cy="330270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CaixaDeTexto 151">
            <a:extLst>
              <a:ext uri="{FF2B5EF4-FFF2-40B4-BE49-F238E27FC236}">
                <a16:creationId xmlns:a16="http://schemas.microsoft.com/office/drawing/2014/main" id="{3A316C2D-53DC-7468-7723-640E062934F9}"/>
              </a:ext>
            </a:extLst>
          </p:cNvPr>
          <p:cNvSpPr txBox="1"/>
          <p:nvPr/>
        </p:nvSpPr>
        <p:spPr>
          <a:xfrm>
            <a:off x="5479398" y="1405517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K</a:t>
            </a:r>
          </a:p>
        </p:txBody>
      </p:sp>
      <p:grpSp>
        <p:nvGrpSpPr>
          <p:cNvPr id="158" name="Agrupar 157">
            <a:extLst>
              <a:ext uri="{FF2B5EF4-FFF2-40B4-BE49-F238E27FC236}">
                <a16:creationId xmlns:a16="http://schemas.microsoft.com/office/drawing/2014/main" id="{22CB7AC6-4758-1842-5A2D-151D910BC14F}"/>
              </a:ext>
            </a:extLst>
          </p:cNvPr>
          <p:cNvGrpSpPr/>
          <p:nvPr/>
        </p:nvGrpSpPr>
        <p:grpSpPr>
          <a:xfrm>
            <a:off x="3434441" y="5082029"/>
            <a:ext cx="573593" cy="502229"/>
            <a:chOff x="4449493" y="2967335"/>
            <a:chExt cx="1253198" cy="1097280"/>
          </a:xfrm>
        </p:grpSpPr>
        <p:sp>
          <p:nvSpPr>
            <p:cNvPr id="159" name="Elipse 158">
              <a:extLst>
                <a:ext uri="{FF2B5EF4-FFF2-40B4-BE49-F238E27FC236}">
                  <a16:creationId xmlns:a16="http://schemas.microsoft.com/office/drawing/2014/main" id="{C8A80B4C-7DE8-4101-7813-DB4B858D90C2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160" name="CaixaDeTexto 159">
              <a:extLst>
                <a:ext uri="{FF2B5EF4-FFF2-40B4-BE49-F238E27FC236}">
                  <a16:creationId xmlns:a16="http://schemas.microsoft.com/office/drawing/2014/main" id="{8FB46C15-3DA8-1370-D3DA-EE90ED390ACE}"/>
                </a:ext>
              </a:extLst>
            </p:cNvPr>
            <p:cNvSpPr txBox="1"/>
            <p:nvPr/>
          </p:nvSpPr>
          <p:spPr>
            <a:xfrm>
              <a:off x="4449493" y="3178677"/>
              <a:ext cx="1253198" cy="672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Triagem</a:t>
              </a:r>
            </a:p>
          </p:txBody>
        </p:sp>
      </p:grpSp>
      <p:cxnSp>
        <p:nvCxnSpPr>
          <p:cNvPr id="161" name="Conector de Seta Reta 160">
            <a:extLst>
              <a:ext uri="{FF2B5EF4-FFF2-40B4-BE49-F238E27FC236}">
                <a16:creationId xmlns:a16="http://schemas.microsoft.com/office/drawing/2014/main" id="{EEC5F7DD-47D0-3BAA-A65D-807D428DE9FA}"/>
              </a:ext>
            </a:extLst>
          </p:cNvPr>
          <p:cNvCxnSpPr>
            <a:cxnSpLocks/>
          </p:cNvCxnSpPr>
          <p:nvPr/>
        </p:nvCxnSpPr>
        <p:spPr>
          <a:xfrm>
            <a:off x="3972352" y="5332058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ector: Curvo 162">
            <a:extLst>
              <a:ext uri="{FF2B5EF4-FFF2-40B4-BE49-F238E27FC236}">
                <a16:creationId xmlns:a16="http://schemas.microsoft.com/office/drawing/2014/main" id="{2BE79914-4F95-967D-5AC9-C94D16158C74}"/>
              </a:ext>
            </a:extLst>
          </p:cNvPr>
          <p:cNvCxnSpPr>
            <a:endCxn id="4" idx="0"/>
          </p:cNvCxnSpPr>
          <p:nvPr/>
        </p:nvCxnSpPr>
        <p:spPr>
          <a:xfrm rot="10800000">
            <a:off x="415178" y="5061265"/>
            <a:ext cx="6721866" cy="292161"/>
          </a:xfrm>
          <a:prstGeom prst="curvedConnector4">
            <a:avLst>
              <a:gd name="adj1" fmla="val 5905"/>
              <a:gd name="adj2" fmla="val 42341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6" name="Agrupar 165">
            <a:extLst>
              <a:ext uri="{FF2B5EF4-FFF2-40B4-BE49-F238E27FC236}">
                <a16:creationId xmlns:a16="http://schemas.microsoft.com/office/drawing/2014/main" id="{430DFE90-00A5-7425-126D-4F57E5889DD4}"/>
              </a:ext>
            </a:extLst>
          </p:cNvPr>
          <p:cNvGrpSpPr/>
          <p:nvPr/>
        </p:nvGrpSpPr>
        <p:grpSpPr>
          <a:xfrm>
            <a:off x="7442465" y="5071067"/>
            <a:ext cx="639729" cy="502229"/>
            <a:chOff x="4379847" y="2967335"/>
            <a:chExt cx="1397693" cy="1097280"/>
          </a:xfrm>
        </p:grpSpPr>
        <p:sp>
          <p:nvSpPr>
            <p:cNvPr id="167" name="Elipse 166">
              <a:extLst>
                <a:ext uri="{FF2B5EF4-FFF2-40B4-BE49-F238E27FC236}">
                  <a16:creationId xmlns:a16="http://schemas.microsoft.com/office/drawing/2014/main" id="{1C02B4AA-C8A1-C0FB-165C-6A338E4D7F69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168" name="CaixaDeTexto 167">
              <a:extLst>
                <a:ext uri="{FF2B5EF4-FFF2-40B4-BE49-F238E27FC236}">
                  <a16:creationId xmlns:a16="http://schemas.microsoft.com/office/drawing/2014/main" id="{AB121A05-9249-3484-BB05-F74E5E4316FC}"/>
                </a:ext>
              </a:extLst>
            </p:cNvPr>
            <p:cNvSpPr txBox="1"/>
            <p:nvPr/>
          </p:nvSpPr>
          <p:spPr>
            <a:xfrm>
              <a:off x="4379847" y="3146069"/>
              <a:ext cx="1397693" cy="672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Observação</a:t>
              </a:r>
            </a:p>
          </p:txBody>
        </p:sp>
      </p:grpSp>
      <p:cxnSp>
        <p:nvCxnSpPr>
          <p:cNvPr id="169" name="Conector de Seta Reta 168">
            <a:extLst>
              <a:ext uri="{FF2B5EF4-FFF2-40B4-BE49-F238E27FC236}">
                <a16:creationId xmlns:a16="http://schemas.microsoft.com/office/drawing/2014/main" id="{142FB61C-7FD1-42A1-F1CB-E2496B0F9FC0}"/>
              </a:ext>
            </a:extLst>
          </p:cNvPr>
          <p:cNvCxnSpPr>
            <a:cxnSpLocks/>
          </p:cNvCxnSpPr>
          <p:nvPr/>
        </p:nvCxnSpPr>
        <p:spPr>
          <a:xfrm>
            <a:off x="8020719" y="5328989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CaixaDeTexto 169">
            <a:extLst>
              <a:ext uri="{FF2B5EF4-FFF2-40B4-BE49-F238E27FC236}">
                <a16:creationId xmlns:a16="http://schemas.microsoft.com/office/drawing/2014/main" id="{28786725-BDD3-5E93-3E97-E03D5F560076}"/>
              </a:ext>
            </a:extLst>
          </p:cNvPr>
          <p:cNvSpPr txBox="1"/>
          <p:nvPr/>
        </p:nvSpPr>
        <p:spPr>
          <a:xfrm>
            <a:off x="8252517" y="5098157"/>
            <a:ext cx="82521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pt-BR" sz="800" dirty="0"/>
              <a:t>Exames</a:t>
            </a:r>
          </a:p>
          <a:p>
            <a:pPr algn="ctr"/>
            <a:r>
              <a:rPr lang="pt-BR" sz="800" dirty="0"/>
              <a:t>e/ou</a:t>
            </a:r>
          </a:p>
          <a:p>
            <a:pPr algn="ctr"/>
            <a:r>
              <a:rPr lang="pt-BR" sz="800" dirty="0"/>
              <a:t>Observação</a:t>
            </a:r>
            <a:endParaRPr lang="pt-BR" sz="500" dirty="0"/>
          </a:p>
        </p:txBody>
      </p:sp>
      <p:sp>
        <p:nvSpPr>
          <p:cNvPr id="178" name="CaixaDeTexto 177">
            <a:extLst>
              <a:ext uri="{FF2B5EF4-FFF2-40B4-BE49-F238E27FC236}">
                <a16:creationId xmlns:a16="http://schemas.microsoft.com/office/drawing/2014/main" id="{86626DFC-DB4C-F23D-32DA-324F650B3502}"/>
              </a:ext>
            </a:extLst>
          </p:cNvPr>
          <p:cNvSpPr txBox="1"/>
          <p:nvPr/>
        </p:nvSpPr>
        <p:spPr>
          <a:xfrm>
            <a:off x="7159425" y="4641956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D</a:t>
            </a:r>
          </a:p>
        </p:txBody>
      </p:sp>
      <p:cxnSp>
        <p:nvCxnSpPr>
          <p:cNvPr id="180" name="Conector: Curvo 179">
            <a:extLst>
              <a:ext uri="{FF2B5EF4-FFF2-40B4-BE49-F238E27FC236}">
                <a16:creationId xmlns:a16="http://schemas.microsoft.com/office/drawing/2014/main" id="{9BF6F388-0C98-F077-1980-893D2570BCF2}"/>
              </a:ext>
            </a:extLst>
          </p:cNvPr>
          <p:cNvCxnSpPr>
            <a:cxnSpLocks/>
            <a:stCxn id="170" idx="3"/>
            <a:endCxn id="87" idx="1"/>
          </p:cNvCxnSpPr>
          <p:nvPr/>
        </p:nvCxnSpPr>
        <p:spPr>
          <a:xfrm flipH="1" flipV="1">
            <a:off x="5292058" y="5311885"/>
            <a:ext cx="3785671" cy="17105"/>
          </a:xfrm>
          <a:prstGeom prst="curvedConnector5">
            <a:avLst>
              <a:gd name="adj1" fmla="val -6877"/>
              <a:gd name="adj2" fmla="val -7745788"/>
              <a:gd name="adj3" fmla="val 10323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ector de Seta Reta 197">
            <a:extLst>
              <a:ext uri="{FF2B5EF4-FFF2-40B4-BE49-F238E27FC236}">
                <a16:creationId xmlns:a16="http://schemas.microsoft.com/office/drawing/2014/main" id="{87F2E622-6620-5D3B-33DE-BA2D79492CC2}"/>
              </a:ext>
            </a:extLst>
          </p:cNvPr>
          <p:cNvCxnSpPr>
            <a:cxnSpLocks/>
          </p:cNvCxnSpPr>
          <p:nvPr/>
        </p:nvCxnSpPr>
        <p:spPr>
          <a:xfrm flipV="1">
            <a:off x="7128578" y="5328824"/>
            <a:ext cx="349013" cy="2460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ector de Seta Reta 222">
            <a:extLst>
              <a:ext uri="{FF2B5EF4-FFF2-40B4-BE49-F238E27FC236}">
                <a16:creationId xmlns:a16="http://schemas.microsoft.com/office/drawing/2014/main" id="{B1DBD524-ABBD-B975-95E0-3E2FE30F48F2}"/>
              </a:ext>
            </a:extLst>
          </p:cNvPr>
          <p:cNvCxnSpPr>
            <a:cxnSpLocks/>
            <a:stCxn id="34" idx="7"/>
          </p:cNvCxnSpPr>
          <p:nvPr/>
        </p:nvCxnSpPr>
        <p:spPr>
          <a:xfrm>
            <a:off x="3265230" y="1827984"/>
            <a:ext cx="281326" cy="967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CaixaDeTexto 225">
            <a:extLst>
              <a:ext uri="{FF2B5EF4-FFF2-40B4-BE49-F238E27FC236}">
                <a16:creationId xmlns:a16="http://schemas.microsoft.com/office/drawing/2014/main" id="{EB4CBBB5-EDF2-25EA-7A67-1F8DE27075D9}"/>
              </a:ext>
            </a:extLst>
          </p:cNvPr>
          <p:cNvSpPr txBox="1"/>
          <p:nvPr/>
        </p:nvSpPr>
        <p:spPr>
          <a:xfrm>
            <a:off x="6725229" y="4104841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C</a:t>
            </a:r>
          </a:p>
        </p:txBody>
      </p:sp>
      <p:grpSp>
        <p:nvGrpSpPr>
          <p:cNvPr id="205" name="Agrupar 204">
            <a:extLst>
              <a:ext uri="{FF2B5EF4-FFF2-40B4-BE49-F238E27FC236}">
                <a16:creationId xmlns:a16="http://schemas.microsoft.com/office/drawing/2014/main" id="{222C63DF-9B03-9687-062C-7F26E811A6AE}"/>
              </a:ext>
            </a:extLst>
          </p:cNvPr>
          <p:cNvGrpSpPr/>
          <p:nvPr/>
        </p:nvGrpSpPr>
        <p:grpSpPr>
          <a:xfrm>
            <a:off x="3479593" y="1575587"/>
            <a:ext cx="573593" cy="502229"/>
            <a:chOff x="4449493" y="2967335"/>
            <a:chExt cx="1253198" cy="1097280"/>
          </a:xfrm>
        </p:grpSpPr>
        <p:sp>
          <p:nvSpPr>
            <p:cNvPr id="206" name="Elipse 205">
              <a:extLst>
                <a:ext uri="{FF2B5EF4-FFF2-40B4-BE49-F238E27FC236}">
                  <a16:creationId xmlns:a16="http://schemas.microsoft.com/office/drawing/2014/main" id="{99C0F171-FEF0-C117-CFFF-C40FFF3B4662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07" name="CaixaDeTexto 206">
              <a:extLst>
                <a:ext uri="{FF2B5EF4-FFF2-40B4-BE49-F238E27FC236}">
                  <a16:creationId xmlns:a16="http://schemas.microsoft.com/office/drawing/2014/main" id="{D9630230-914A-F2EC-A041-C2F869CBC9B4}"/>
                </a:ext>
              </a:extLst>
            </p:cNvPr>
            <p:cNvSpPr txBox="1"/>
            <p:nvPr/>
          </p:nvSpPr>
          <p:spPr>
            <a:xfrm>
              <a:off x="4449493" y="3201371"/>
              <a:ext cx="1253198" cy="672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Parto</a:t>
              </a:r>
            </a:p>
          </p:txBody>
        </p:sp>
      </p:grpSp>
      <p:sp>
        <p:nvSpPr>
          <p:cNvPr id="208" name="CaixaDeTexto 207">
            <a:extLst>
              <a:ext uri="{FF2B5EF4-FFF2-40B4-BE49-F238E27FC236}">
                <a16:creationId xmlns:a16="http://schemas.microsoft.com/office/drawing/2014/main" id="{614255BF-572E-F82A-D55E-630AFE32B2F4}"/>
              </a:ext>
            </a:extLst>
          </p:cNvPr>
          <p:cNvSpPr txBox="1"/>
          <p:nvPr/>
        </p:nvSpPr>
        <p:spPr>
          <a:xfrm>
            <a:off x="4247156" y="1618951"/>
            <a:ext cx="682516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700" dirty="0"/>
              <a:t>Parto</a:t>
            </a:r>
          </a:p>
          <a:p>
            <a:pPr algn="ctr"/>
            <a:endParaRPr lang="pt-BR" sz="700" dirty="0"/>
          </a:p>
        </p:txBody>
      </p:sp>
      <p:cxnSp>
        <p:nvCxnSpPr>
          <p:cNvPr id="209" name="Conector de Seta Reta 208">
            <a:extLst>
              <a:ext uri="{FF2B5EF4-FFF2-40B4-BE49-F238E27FC236}">
                <a16:creationId xmlns:a16="http://schemas.microsoft.com/office/drawing/2014/main" id="{1BB590E3-9FA2-A763-0EA7-3B8A2ECE2650}"/>
              </a:ext>
            </a:extLst>
          </p:cNvPr>
          <p:cNvCxnSpPr>
            <a:cxnSpLocks/>
          </p:cNvCxnSpPr>
          <p:nvPr/>
        </p:nvCxnSpPr>
        <p:spPr>
          <a:xfrm>
            <a:off x="4017504" y="1826702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7" name="Agrupar 226">
            <a:extLst>
              <a:ext uri="{FF2B5EF4-FFF2-40B4-BE49-F238E27FC236}">
                <a16:creationId xmlns:a16="http://schemas.microsoft.com/office/drawing/2014/main" id="{5407E52D-5CA4-730F-10BB-3F6DC3FF3907}"/>
              </a:ext>
            </a:extLst>
          </p:cNvPr>
          <p:cNvGrpSpPr/>
          <p:nvPr/>
        </p:nvGrpSpPr>
        <p:grpSpPr>
          <a:xfrm>
            <a:off x="4282838" y="777356"/>
            <a:ext cx="573593" cy="502229"/>
            <a:chOff x="4439869" y="2967335"/>
            <a:chExt cx="1253198" cy="1097280"/>
          </a:xfrm>
        </p:grpSpPr>
        <p:sp>
          <p:nvSpPr>
            <p:cNvPr id="228" name="Elipse 227">
              <a:extLst>
                <a:ext uri="{FF2B5EF4-FFF2-40B4-BE49-F238E27FC236}">
                  <a16:creationId xmlns:a16="http://schemas.microsoft.com/office/drawing/2014/main" id="{E25F5EA3-542D-2DC7-2D34-9F1EF29183B2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29" name="CaixaDeTexto 228">
              <a:extLst>
                <a:ext uri="{FF2B5EF4-FFF2-40B4-BE49-F238E27FC236}">
                  <a16:creationId xmlns:a16="http://schemas.microsoft.com/office/drawing/2014/main" id="{B14DBF49-4A1C-2702-D5A7-465C44BE1767}"/>
                </a:ext>
              </a:extLst>
            </p:cNvPr>
            <p:cNvSpPr txBox="1"/>
            <p:nvPr/>
          </p:nvSpPr>
          <p:spPr>
            <a:xfrm>
              <a:off x="4439869" y="3170198"/>
              <a:ext cx="1253198" cy="7060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rgbClr val="7030A0"/>
                  </a:solidFill>
                </a:rPr>
                <a:t>Equipe BO e Neo</a:t>
              </a:r>
            </a:p>
            <a:p>
              <a:pPr algn="ctr"/>
              <a:r>
                <a:rPr lang="pt-BR" sz="500" dirty="0">
                  <a:solidFill>
                    <a:srgbClr val="7030A0"/>
                  </a:solidFill>
                </a:rPr>
                <a:t>Disponível</a:t>
              </a:r>
            </a:p>
          </p:txBody>
        </p:sp>
      </p:grpSp>
      <p:cxnSp>
        <p:nvCxnSpPr>
          <p:cNvPr id="230" name="Conector: Curvo 229">
            <a:extLst>
              <a:ext uri="{FF2B5EF4-FFF2-40B4-BE49-F238E27FC236}">
                <a16:creationId xmlns:a16="http://schemas.microsoft.com/office/drawing/2014/main" id="{8AFA7F26-1BC3-CB12-1854-61CE9441B8B0}"/>
              </a:ext>
            </a:extLst>
          </p:cNvPr>
          <p:cNvCxnSpPr>
            <a:cxnSpLocks/>
            <a:stCxn id="229" idx="1"/>
          </p:cNvCxnSpPr>
          <p:nvPr/>
        </p:nvCxnSpPr>
        <p:spPr>
          <a:xfrm rot="10800000" flipV="1">
            <a:off x="4172672" y="1031790"/>
            <a:ext cx="110166" cy="715784"/>
          </a:xfrm>
          <a:prstGeom prst="curvedConnector2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Conector: Curvo 230">
            <a:extLst>
              <a:ext uri="{FF2B5EF4-FFF2-40B4-BE49-F238E27FC236}">
                <a16:creationId xmlns:a16="http://schemas.microsoft.com/office/drawing/2014/main" id="{0A35076A-5A4B-816A-1391-BB74B12762EC}"/>
              </a:ext>
            </a:extLst>
          </p:cNvPr>
          <p:cNvCxnSpPr>
            <a:cxnSpLocks/>
          </p:cNvCxnSpPr>
          <p:nvPr/>
        </p:nvCxnSpPr>
        <p:spPr>
          <a:xfrm rot="16200000" flipV="1">
            <a:off x="4514534" y="1257630"/>
            <a:ext cx="815209" cy="148980"/>
          </a:xfrm>
          <a:prstGeom prst="curvedConnector3">
            <a:avLst>
              <a:gd name="adj1" fmla="val 99760"/>
            </a:avLst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2" name="Agrupar 231">
            <a:extLst>
              <a:ext uri="{FF2B5EF4-FFF2-40B4-BE49-F238E27FC236}">
                <a16:creationId xmlns:a16="http://schemas.microsoft.com/office/drawing/2014/main" id="{DBDBF7BD-4A59-C157-FA01-26F3A0F50C53}"/>
              </a:ext>
            </a:extLst>
          </p:cNvPr>
          <p:cNvGrpSpPr/>
          <p:nvPr/>
        </p:nvGrpSpPr>
        <p:grpSpPr>
          <a:xfrm>
            <a:off x="5409835" y="826843"/>
            <a:ext cx="573593" cy="502229"/>
            <a:chOff x="4449493" y="2967335"/>
            <a:chExt cx="1253198" cy="1097280"/>
          </a:xfrm>
        </p:grpSpPr>
        <p:sp>
          <p:nvSpPr>
            <p:cNvPr id="233" name="Elipse 232">
              <a:extLst>
                <a:ext uri="{FF2B5EF4-FFF2-40B4-BE49-F238E27FC236}">
                  <a16:creationId xmlns:a16="http://schemas.microsoft.com/office/drawing/2014/main" id="{787C6382-48A0-3076-2127-80C2B3157941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34" name="CaixaDeTexto 233">
              <a:extLst>
                <a:ext uri="{FF2B5EF4-FFF2-40B4-BE49-F238E27FC236}">
                  <a16:creationId xmlns:a16="http://schemas.microsoft.com/office/drawing/2014/main" id="{DEB9EFA2-2EDD-A550-9740-A1DCFDF084DC}"/>
                </a:ext>
              </a:extLst>
            </p:cNvPr>
            <p:cNvSpPr txBox="1"/>
            <p:nvPr/>
          </p:nvSpPr>
          <p:spPr>
            <a:xfrm>
              <a:off x="4449493" y="3187633"/>
              <a:ext cx="1253198" cy="7060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/>
                <a:t>Aguarda</a:t>
              </a:r>
            </a:p>
            <a:p>
              <a:pPr algn="ctr"/>
              <a:r>
                <a:rPr lang="pt-BR" sz="500" dirty="0"/>
                <a:t>Procedimento</a:t>
              </a:r>
            </a:p>
            <a:p>
              <a:pPr algn="ctr"/>
              <a:r>
                <a:rPr lang="pt-BR" sz="500" dirty="0"/>
                <a:t>Especial</a:t>
              </a:r>
            </a:p>
          </p:txBody>
        </p:sp>
      </p:grpSp>
      <p:sp>
        <p:nvSpPr>
          <p:cNvPr id="235" name="CaixaDeTexto 234">
            <a:extLst>
              <a:ext uri="{FF2B5EF4-FFF2-40B4-BE49-F238E27FC236}">
                <a16:creationId xmlns:a16="http://schemas.microsoft.com/office/drawing/2014/main" id="{07CBC50B-81C8-C43F-CCF2-B8D13BAEAE8E}"/>
              </a:ext>
            </a:extLst>
          </p:cNvPr>
          <p:cNvSpPr txBox="1"/>
          <p:nvPr/>
        </p:nvSpPr>
        <p:spPr>
          <a:xfrm>
            <a:off x="6179779" y="924068"/>
            <a:ext cx="76177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pt-BR" sz="700" dirty="0"/>
              <a:t>Procedimento Especial</a:t>
            </a:r>
          </a:p>
        </p:txBody>
      </p:sp>
      <p:cxnSp>
        <p:nvCxnSpPr>
          <p:cNvPr id="236" name="Conector de Seta Reta 235">
            <a:extLst>
              <a:ext uri="{FF2B5EF4-FFF2-40B4-BE49-F238E27FC236}">
                <a16:creationId xmlns:a16="http://schemas.microsoft.com/office/drawing/2014/main" id="{686DC14F-04B9-9A6B-D833-77D1DB02BD34}"/>
              </a:ext>
            </a:extLst>
          </p:cNvPr>
          <p:cNvCxnSpPr>
            <a:cxnSpLocks/>
          </p:cNvCxnSpPr>
          <p:nvPr/>
        </p:nvCxnSpPr>
        <p:spPr>
          <a:xfrm>
            <a:off x="5947746" y="1077959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onector: Curvo 239">
            <a:extLst>
              <a:ext uri="{FF2B5EF4-FFF2-40B4-BE49-F238E27FC236}">
                <a16:creationId xmlns:a16="http://schemas.microsoft.com/office/drawing/2014/main" id="{29AB38EC-0F90-D031-0254-4359AF4B081B}"/>
              </a:ext>
            </a:extLst>
          </p:cNvPr>
          <p:cNvCxnSpPr>
            <a:stCxn id="208" idx="3"/>
            <a:endCxn id="234" idx="1"/>
          </p:cNvCxnSpPr>
          <p:nvPr/>
        </p:nvCxnSpPr>
        <p:spPr>
          <a:xfrm flipV="1">
            <a:off x="4929672" y="1089257"/>
            <a:ext cx="480163" cy="737443"/>
          </a:xfrm>
          <a:prstGeom prst="curved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1" name="Agrupar 240">
            <a:extLst>
              <a:ext uri="{FF2B5EF4-FFF2-40B4-BE49-F238E27FC236}">
                <a16:creationId xmlns:a16="http://schemas.microsoft.com/office/drawing/2014/main" id="{45E729C5-1A34-C885-ABBE-3E3D440B698F}"/>
              </a:ext>
            </a:extLst>
          </p:cNvPr>
          <p:cNvGrpSpPr/>
          <p:nvPr/>
        </p:nvGrpSpPr>
        <p:grpSpPr>
          <a:xfrm>
            <a:off x="7379675" y="837338"/>
            <a:ext cx="573593" cy="502229"/>
            <a:chOff x="4449493" y="2967335"/>
            <a:chExt cx="1253198" cy="1097280"/>
          </a:xfrm>
        </p:grpSpPr>
        <p:sp>
          <p:nvSpPr>
            <p:cNvPr id="242" name="Elipse 241">
              <a:extLst>
                <a:ext uri="{FF2B5EF4-FFF2-40B4-BE49-F238E27FC236}">
                  <a16:creationId xmlns:a16="http://schemas.microsoft.com/office/drawing/2014/main" id="{0E197DD7-77AE-FE9C-C3E2-847055DE67E2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43" name="CaixaDeTexto 242">
              <a:extLst>
                <a:ext uri="{FF2B5EF4-FFF2-40B4-BE49-F238E27FC236}">
                  <a16:creationId xmlns:a16="http://schemas.microsoft.com/office/drawing/2014/main" id="{BDFC6DBF-82B4-FD43-DFF8-068F4263FAB1}"/>
                </a:ext>
              </a:extLst>
            </p:cNvPr>
            <p:cNvSpPr txBox="1"/>
            <p:nvPr/>
          </p:nvSpPr>
          <p:spPr>
            <a:xfrm>
              <a:off x="4449493" y="3187633"/>
              <a:ext cx="1253198" cy="605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600" dirty="0"/>
                <a:t>Aguarda</a:t>
              </a:r>
            </a:p>
            <a:p>
              <a:pPr algn="ctr"/>
              <a:r>
                <a:rPr lang="pt-BR" sz="600" dirty="0"/>
                <a:t>Alojamento</a:t>
              </a:r>
            </a:p>
          </p:txBody>
        </p:sp>
      </p:grpSp>
      <p:sp>
        <p:nvSpPr>
          <p:cNvPr id="247" name="CaixaDeTexto 246">
            <a:extLst>
              <a:ext uri="{FF2B5EF4-FFF2-40B4-BE49-F238E27FC236}">
                <a16:creationId xmlns:a16="http://schemas.microsoft.com/office/drawing/2014/main" id="{45CC8E40-C85E-5E56-E739-5C9A2CF5A6ED}"/>
              </a:ext>
            </a:extLst>
          </p:cNvPr>
          <p:cNvSpPr txBox="1"/>
          <p:nvPr/>
        </p:nvSpPr>
        <p:spPr>
          <a:xfrm>
            <a:off x="5131887" y="1031790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F</a:t>
            </a:r>
          </a:p>
        </p:txBody>
      </p:sp>
      <p:sp>
        <p:nvSpPr>
          <p:cNvPr id="248" name="CaixaDeTexto 247">
            <a:extLst>
              <a:ext uri="{FF2B5EF4-FFF2-40B4-BE49-F238E27FC236}">
                <a16:creationId xmlns:a16="http://schemas.microsoft.com/office/drawing/2014/main" id="{A573FC1A-334C-9F89-26F9-783703A5ED0D}"/>
              </a:ext>
            </a:extLst>
          </p:cNvPr>
          <p:cNvSpPr txBox="1"/>
          <p:nvPr/>
        </p:nvSpPr>
        <p:spPr>
          <a:xfrm>
            <a:off x="5317145" y="1671524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G</a:t>
            </a:r>
          </a:p>
        </p:txBody>
      </p:sp>
      <p:grpSp>
        <p:nvGrpSpPr>
          <p:cNvPr id="249" name="Agrupar 248">
            <a:extLst>
              <a:ext uri="{FF2B5EF4-FFF2-40B4-BE49-F238E27FC236}">
                <a16:creationId xmlns:a16="http://schemas.microsoft.com/office/drawing/2014/main" id="{6FEA6C1C-5B33-43B4-D0A7-7C0B58755D3E}"/>
              </a:ext>
            </a:extLst>
          </p:cNvPr>
          <p:cNvGrpSpPr/>
          <p:nvPr/>
        </p:nvGrpSpPr>
        <p:grpSpPr>
          <a:xfrm>
            <a:off x="6272287" y="65536"/>
            <a:ext cx="573593" cy="502229"/>
            <a:chOff x="4449493" y="2967335"/>
            <a:chExt cx="1253198" cy="1097280"/>
          </a:xfrm>
        </p:grpSpPr>
        <p:sp>
          <p:nvSpPr>
            <p:cNvPr id="250" name="Elipse 249">
              <a:extLst>
                <a:ext uri="{FF2B5EF4-FFF2-40B4-BE49-F238E27FC236}">
                  <a16:creationId xmlns:a16="http://schemas.microsoft.com/office/drawing/2014/main" id="{A9D3C3BF-9F92-C1F9-54F3-3F0A18BF5804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51" name="CaixaDeTexto 250">
              <a:extLst>
                <a:ext uri="{FF2B5EF4-FFF2-40B4-BE49-F238E27FC236}">
                  <a16:creationId xmlns:a16="http://schemas.microsoft.com/office/drawing/2014/main" id="{BD4E5D8E-EC75-28EC-B68C-A09D07E28C2F}"/>
                </a:ext>
              </a:extLst>
            </p:cNvPr>
            <p:cNvSpPr txBox="1"/>
            <p:nvPr/>
          </p:nvSpPr>
          <p:spPr>
            <a:xfrm>
              <a:off x="4449493" y="3254366"/>
              <a:ext cx="1253198" cy="537949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rgbClr val="7030A0"/>
                  </a:solidFill>
                </a:rPr>
                <a:t>Técnicos BO</a:t>
              </a:r>
            </a:p>
            <a:p>
              <a:pPr algn="ctr"/>
              <a:r>
                <a:rPr lang="pt-BR" sz="500" dirty="0">
                  <a:solidFill>
                    <a:srgbClr val="7030A0"/>
                  </a:solidFill>
                </a:rPr>
                <a:t>Disponível</a:t>
              </a:r>
            </a:p>
          </p:txBody>
        </p:sp>
      </p:grpSp>
      <p:cxnSp>
        <p:nvCxnSpPr>
          <p:cNvPr id="252" name="Conector: Curvo 251">
            <a:extLst>
              <a:ext uri="{FF2B5EF4-FFF2-40B4-BE49-F238E27FC236}">
                <a16:creationId xmlns:a16="http://schemas.microsoft.com/office/drawing/2014/main" id="{4A4D8ADE-DB8C-6186-6BA4-930F012E80F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22121" y="317075"/>
            <a:ext cx="132062" cy="653460"/>
          </a:xfrm>
          <a:prstGeom prst="curvedConnector2">
            <a:avLst/>
          </a:prstGeom>
          <a:ln w="19050">
            <a:solidFill>
              <a:srgbClr val="7030A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onector: Curvo 252">
            <a:extLst>
              <a:ext uri="{FF2B5EF4-FFF2-40B4-BE49-F238E27FC236}">
                <a16:creationId xmlns:a16="http://schemas.microsoft.com/office/drawing/2014/main" id="{FB59CA07-078B-CC56-AD74-B14CC99ED384}"/>
              </a:ext>
            </a:extLst>
          </p:cNvPr>
          <p:cNvCxnSpPr>
            <a:cxnSpLocks/>
            <a:endCxn id="251" idx="3"/>
          </p:cNvCxnSpPr>
          <p:nvPr/>
        </p:nvCxnSpPr>
        <p:spPr>
          <a:xfrm rot="16200000" flipV="1">
            <a:off x="6585020" y="580883"/>
            <a:ext cx="687891" cy="166169"/>
          </a:xfrm>
          <a:prstGeom prst="curvedConnector2">
            <a:avLst/>
          </a:prstGeom>
          <a:ln w="19050">
            <a:solidFill>
              <a:srgbClr val="7030A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Conector de Seta Reta 260">
            <a:extLst>
              <a:ext uri="{FF2B5EF4-FFF2-40B4-BE49-F238E27FC236}">
                <a16:creationId xmlns:a16="http://schemas.microsoft.com/office/drawing/2014/main" id="{D8C773A4-0F11-8A03-4D0E-3EB6DCEF8FB6}"/>
              </a:ext>
            </a:extLst>
          </p:cNvPr>
          <p:cNvCxnSpPr>
            <a:cxnSpLocks/>
            <a:stCxn id="235" idx="3"/>
            <a:endCxn id="243" idx="1"/>
          </p:cNvCxnSpPr>
          <p:nvPr/>
        </p:nvCxnSpPr>
        <p:spPr>
          <a:xfrm flipV="1">
            <a:off x="6941557" y="1076669"/>
            <a:ext cx="438118" cy="12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ector: Curvo 263">
            <a:extLst>
              <a:ext uri="{FF2B5EF4-FFF2-40B4-BE49-F238E27FC236}">
                <a16:creationId xmlns:a16="http://schemas.microsoft.com/office/drawing/2014/main" id="{8369AA57-CBBF-A3F1-ABA6-6EC2E0F2F2E5}"/>
              </a:ext>
            </a:extLst>
          </p:cNvPr>
          <p:cNvCxnSpPr>
            <a:stCxn id="208" idx="3"/>
            <a:endCxn id="243" idx="1"/>
          </p:cNvCxnSpPr>
          <p:nvPr/>
        </p:nvCxnSpPr>
        <p:spPr>
          <a:xfrm flipV="1">
            <a:off x="4929672" y="1076669"/>
            <a:ext cx="2450003" cy="750031"/>
          </a:xfrm>
          <a:prstGeom prst="curvedConnector3">
            <a:avLst>
              <a:gd name="adj1" fmla="val 9924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6" name="Agrupar 265">
            <a:extLst>
              <a:ext uri="{FF2B5EF4-FFF2-40B4-BE49-F238E27FC236}">
                <a16:creationId xmlns:a16="http://schemas.microsoft.com/office/drawing/2014/main" id="{FF6B8395-651A-DD65-6F47-F331540CE5BE}"/>
              </a:ext>
            </a:extLst>
          </p:cNvPr>
          <p:cNvGrpSpPr/>
          <p:nvPr/>
        </p:nvGrpSpPr>
        <p:grpSpPr>
          <a:xfrm>
            <a:off x="5068173" y="2060372"/>
            <a:ext cx="573593" cy="502229"/>
            <a:chOff x="4448610" y="2967335"/>
            <a:chExt cx="1253198" cy="1097280"/>
          </a:xfrm>
        </p:grpSpPr>
        <p:sp>
          <p:nvSpPr>
            <p:cNvPr id="267" name="Elipse 266">
              <a:extLst>
                <a:ext uri="{FF2B5EF4-FFF2-40B4-BE49-F238E27FC236}">
                  <a16:creationId xmlns:a16="http://schemas.microsoft.com/office/drawing/2014/main" id="{45887B76-CA80-74A0-BEE2-3C8F03B4C694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68" name="CaixaDeTexto 267">
              <a:extLst>
                <a:ext uri="{FF2B5EF4-FFF2-40B4-BE49-F238E27FC236}">
                  <a16:creationId xmlns:a16="http://schemas.microsoft.com/office/drawing/2014/main" id="{30ABB679-63E2-0644-843C-41176DA9E8EA}"/>
                </a:ext>
              </a:extLst>
            </p:cNvPr>
            <p:cNvSpPr txBox="1"/>
            <p:nvPr/>
          </p:nvSpPr>
          <p:spPr>
            <a:xfrm>
              <a:off x="4448610" y="3088894"/>
              <a:ext cx="1253198" cy="907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Cuidados</a:t>
              </a:r>
            </a:p>
            <a:p>
              <a:pPr algn="ctr"/>
              <a:r>
                <a:rPr lang="pt-BR" sz="700" dirty="0"/>
                <a:t> ao RN</a:t>
              </a:r>
            </a:p>
          </p:txBody>
        </p:sp>
      </p:grpSp>
      <p:sp>
        <p:nvSpPr>
          <p:cNvPr id="269" name="CaixaDeTexto 268">
            <a:extLst>
              <a:ext uri="{FF2B5EF4-FFF2-40B4-BE49-F238E27FC236}">
                <a16:creationId xmlns:a16="http://schemas.microsoft.com/office/drawing/2014/main" id="{4CFEA0BE-C083-6AE8-E366-B2B2A6A13851}"/>
              </a:ext>
            </a:extLst>
          </p:cNvPr>
          <p:cNvSpPr txBox="1"/>
          <p:nvPr/>
        </p:nvSpPr>
        <p:spPr>
          <a:xfrm>
            <a:off x="5836140" y="2049875"/>
            <a:ext cx="68251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700" dirty="0"/>
              <a:t>Cuidados ao RN</a:t>
            </a:r>
          </a:p>
          <a:p>
            <a:pPr algn="ctr"/>
            <a:endParaRPr lang="pt-BR" sz="700" dirty="0"/>
          </a:p>
        </p:txBody>
      </p:sp>
      <p:cxnSp>
        <p:nvCxnSpPr>
          <p:cNvPr id="270" name="Conector de Seta Reta 269">
            <a:extLst>
              <a:ext uri="{FF2B5EF4-FFF2-40B4-BE49-F238E27FC236}">
                <a16:creationId xmlns:a16="http://schemas.microsoft.com/office/drawing/2014/main" id="{D7C31665-4CCA-DD24-75B7-1BE698BB06A5}"/>
              </a:ext>
            </a:extLst>
          </p:cNvPr>
          <p:cNvCxnSpPr>
            <a:cxnSpLocks/>
          </p:cNvCxnSpPr>
          <p:nvPr/>
        </p:nvCxnSpPr>
        <p:spPr>
          <a:xfrm>
            <a:off x="5606488" y="2311487"/>
            <a:ext cx="231798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ector de Seta Reta 271">
            <a:extLst>
              <a:ext uri="{FF2B5EF4-FFF2-40B4-BE49-F238E27FC236}">
                <a16:creationId xmlns:a16="http://schemas.microsoft.com/office/drawing/2014/main" id="{2EDCF862-102E-2B4E-E2C9-D31FCD276ED5}"/>
              </a:ext>
            </a:extLst>
          </p:cNvPr>
          <p:cNvCxnSpPr>
            <a:cxnSpLocks/>
            <a:stCxn id="208" idx="2"/>
            <a:endCxn id="268" idx="1"/>
          </p:cNvCxnSpPr>
          <p:nvPr/>
        </p:nvCxnSpPr>
        <p:spPr>
          <a:xfrm>
            <a:off x="4588414" y="2034449"/>
            <a:ext cx="479759" cy="28931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4" name="Agrupar 273">
            <a:extLst>
              <a:ext uri="{FF2B5EF4-FFF2-40B4-BE49-F238E27FC236}">
                <a16:creationId xmlns:a16="http://schemas.microsoft.com/office/drawing/2014/main" id="{71113C42-C29C-ADFA-9270-CE5C5162BFB7}"/>
              </a:ext>
            </a:extLst>
          </p:cNvPr>
          <p:cNvGrpSpPr/>
          <p:nvPr/>
        </p:nvGrpSpPr>
        <p:grpSpPr>
          <a:xfrm>
            <a:off x="4348545" y="2749856"/>
            <a:ext cx="573593" cy="502229"/>
            <a:chOff x="4448610" y="2967335"/>
            <a:chExt cx="1253198" cy="1097280"/>
          </a:xfrm>
        </p:grpSpPr>
        <p:sp>
          <p:nvSpPr>
            <p:cNvPr id="275" name="Elipse 274">
              <a:extLst>
                <a:ext uri="{FF2B5EF4-FFF2-40B4-BE49-F238E27FC236}">
                  <a16:creationId xmlns:a16="http://schemas.microsoft.com/office/drawing/2014/main" id="{F4360C8F-AE76-6B61-5195-1964BEA1F653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76" name="CaixaDeTexto 275">
              <a:extLst>
                <a:ext uri="{FF2B5EF4-FFF2-40B4-BE49-F238E27FC236}">
                  <a16:creationId xmlns:a16="http://schemas.microsoft.com/office/drawing/2014/main" id="{2EE436BE-A43A-F73C-8443-2A4C952D6B0C}"/>
                </a:ext>
              </a:extLst>
            </p:cNvPr>
            <p:cNvSpPr txBox="1"/>
            <p:nvPr/>
          </p:nvSpPr>
          <p:spPr>
            <a:xfrm>
              <a:off x="4448610" y="3088896"/>
              <a:ext cx="1253198" cy="672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UCP</a:t>
              </a:r>
            </a:p>
          </p:txBody>
        </p:sp>
      </p:grpSp>
      <p:sp>
        <p:nvSpPr>
          <p:cNvPr id="277" name="CaixaDeTexto 276">
            <a:extLst>
              <a:ext uri="{FF2B5EF4-FFF2-40B4-BE49-F238E27FC236}">
                <a16:creationId xmlns:a16="http://schemas.microsoft.com/office/drawing/2014/main" id="{6EDBC879-9D2D-48BE-CE17-D35EBAD2EE8E}"/>
              </a:ext>
            </a:extLst>
          </p:cNvPr>
          <p:cNvSpPr txBox="1"/>
          <p:nvPr/>
        </p:nvSpPr>
        <p:spPr>
          <a:xfrm>
            <a:off x="5116512" y="2793220"/>
            <a:ext cx="682516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700" dirty="0"/>
              <a:t>UCP</a:t>
            </a:r>
          </a:p>
          <a:p>
            <a:pPr algn="ctr"/>
            <a:endParaRPr lang="pt-BR" sz="700" dirty="0"/>
          </a:p>
        </p:txBody>
      </p:sp>
      <p:cxnSp>
        <p:nvCxnSpPr>
          <p:cNvPr id="278" name="Conector de Seta Reta 277">
            <a:extLst>
              <a:ext uri="{FF2B5EF4-FFF2-40B4-BE49-F238E27FC236}">
                <a16:creationId xmlns:a16="http://schemas.microsoft.com/office/drawing/2014/main" id="{C1A98261-4664-303C-F9F6-98BCD8498E4E}"/>
              </a:ext>
            </a:extLst>
          </p:cNvPr>
          <p:cNvCxnSpPr>
            <a:cxnSpLocks/>
          </p:cNvCxnSpPr>
          <p:nvPr/>
        </p:nvCxnSpPr>
        <p:spPr>
          <a:xfrm>
            <a:off x="4886860" y="3000971"/>
            <a:ext cx="231798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Conector: Curvo 279">
            <a:extLst>
              <a:ext uri="{FF2B5EF4-FFF2-40B4-BE49-F238E27FC236}">
                <a16:creationId xmlns:a16="http://schemas.microsoft.com/office/drawing/2014/main" id="{40D14603-4702-9544-B011-5DF0BDF41BE9}"/>
              </a:ext>
            </a:extLst>
          </p:cNvPr>
          <p:cNvCxnSpPr>
            <a:stCxn id="208" idx="2"/>
            <a:endCxn id="276" idx="1"/>
          </p:cNvCxnSpPr>
          <p:nvPr/>
        </p:nvCxnSpPr>
        <p:spPr>
          <a:xfrm rot="5400000">
            <a:off x="4006013" y="2376982"/>
            <a:ext cx="924935" cy="239869"/>
          </a:xfrm>
          <a:prstGeom prst="curvedConnector4">
            <a:avLst>
              <a:gd name="adj1" fmla="val 41681"/>
              <a:gd name="adj2" fmla="val 195302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CaixaDeTexto 284">
            <a:extLst>
              <a:ext uri="{FF2B5EF4-FFF2-40B4-BE49-F238E27FC236}">
                <a16:creationId xmlns:a16="http://schemas.microsoft.com/office/drawing/2014/main" id="{EAF2FE0C-EB58-6BB2-54AE-952A4D4B20D3}"/>
              </a:ext>
            </a:extLst>
          </p:cNvPr>
          <p:cNvSpPr txBox="1"/>
          <p:nvPr/>
        </p:nvSpPr>
        <p:spPr>
          <a:xfrm>
            <a:off x="4701617" y="2115761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H</a:t>
            </a:r>
          </a:p>
        </p:txBody>
      </p:sp>
      <p:sp>
        <p:nvSpPr>
          <p:cNvPr id="286" name="CaixaDeTexto 285">
            <a:extLst>
              <a:ext uri="{FF2B5EF4-FFF2-40B4-BE49-F238E27FC236}">
                <a16:creationId xmlns:a16="http://schemas.microsoft.com/office/drawing/2014/main" id="{15B98126-0DD8-84D9-83A4-109DB22CCAF7}"/>
              </a:ext>
            </a:extLst>
          </p:cNvPr>
          <p:cNvSpPr txBox="1"/>
          <p:nvPr/>
        </p:nvSpPr>
        <p:spPr>
          <a:xfrm>
            <a:off x="3946159" y="2506779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I</a:t>
            </a:r>
          </a:p>
        </p:txBody>
      </p:sp>
      <p:grpSp>
        <p:nvGrpSpPr>
          <p:cNvPr id="287" name="Agrupar 286">
            <a:extLst>
              <a:ext uri="{FF2B5EF4-FFF2-40B4-BE49-F238E27FC236}">
                <a16:creationId xmlns:a16="http://schemas.microsoft.com/office/drawing/2014/main" id="{3CA50E5C-41C2-7ED0-9622-7869B0273288}"/>
              </a:ext>
            </a:extLst>
          </p:cNvPr>
          <p:cNvGrpSpPr/>
          <p:nvPr/>
        </p:nvGrpSpPr>
        <p:grpSpPr>
          <a:xfrm>
            <a:off x="7360196" y="1713559"/>
            <a:ext cx="573593" cy="502229"/>
            <a:chOff x="4449493" y="2967335"/>
            <a:chExt cx="1253198" cy="1097280"/>
          </a:xfrm>
        </p:grpSpPr>
        <p:sp>
          <p:nvSpPr>
            <p:cNvPr id="288" name="Elipse 287">
              <a:extLst>
                <a:ext uri="{FF2B5EF4-FFF2-40B4-BE49-F238E27FC236}">
                  <a16:creationId xmlns:a16="http://schemas.microsoft.com/office/drawing/2014/main" id="{689A9B25-E159-519C-ABAF-F9E4649FE4E8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89" name="CaixaDeTexto 288">
              <a:extLst>
                <a:ext uri="{FF2B5EF4-FFF2-40B4-BE49-F238E27FC236}">
                  <a16:creationId xmlns:a16="http://schemas.microsoft.com/office/drawing/2014/main" id="{9ECC5E93-8701-1010-4BA7-B709FD6B4779}"/>
                </a:ext>
              </a:extLst>
            </p:cNvPr>
            <p:cNvSpPr txBox="1"/>
            <p:nvPr/>
          </p:nvSpPr>
          <p:spPr>
            <a:xfrm>
              <a:off x="4449493" y="3187633"/>
              <a:ext cx="1253198" cy="605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600" dirty="0"/>
                <a:t>Aguarda</a:t>
              </a:r>
            </a:p>
            <a:p>
              <a:pPr algn="ctr"/>
              <a:r>
                <a:rPr lang="pt-BR" sz="600" dirty="0"/>
                <a:t>Alojamento</a:t>
              </a:r>
            </a:p>
          </p:txBody>
        </p:sp>
      </p:grpSp>
      <p:cxnSp>
        <p:nvCxnSpPr>
          <p:cNvPr id="291" name="Conector: Curvo 290">
            <a:extLst>
              <a:ext uri="{FF2B5EF4-FFF2-40B4-BE49-F238E27FC236}">
                <a16:creationId xmlns:a16="http://schemas.microsoft.com/office/drawing/2014/main" id="{291BA616-9D0A-FDFF-CC1B-5011538265B3}"/>
              </a:ext>
            </a:extLst>
          </p:cNvPr>
          <p:cNvCxnSpPr>
            <a:stCxn id="269" idx="3"/>
            <a:endCxn id="289" idx="1"/>
          </p:cNvCxnSpPr>
          <p:nvPr/>
        </p:nvCxnSpPr>
        <p:spPr>
          <a:xfrm flipV="1">
            <a:off x="6518656" y="1952890"/>
            <a:ext cx="841540" cy="358595"/>
          </a:xfrm>
          <a:prstGeom prst="curvedConnector3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Conector: Curvo 292">
            <a:extLst>
              <a:ext uri="{FF2B5EF4-FFF2-40B4-BE49-F238E27FC236}">
                <a16:creationId xmlns:a16="http://schemas.microsoft.com/office/drawing/2014/main" id="{8180058C-4602-2182-AD90-A49BAAD0BB5D}"/>
              </a:ext>
            </a:extLst>
          </p:cNvPr>
          <p:cNvCxnSpPr>
            <a:stCxn id="277" idx="3"/>
            <a:endCxn id="289" idx="1"/>
          </p:cNvCxnSpPr>
          <p:nvPr/>
        </p:nvCxnSpPr>
        <p:spPr>
          <a:xfrm flipV="1">
            <a:off x="5799028" y="1952890"/>
            <a:ext cx="1561168" cy="1048079"/>
          </a:xfrm>
          <a:prstGeom prst="curvedConnector3">
            <a:avLst>
              <a:gd name="adj1" fmla="val 95556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5" name="Agrupar 294">
            <a:extLst>
              <a:ext uri="{FF2B5EF4-FFF2-40B4-BE49-F238E27FC236}">
                <a16:creationId xmlns:a16="http://schemas.microsoft.com/office/drawing/2014/main" id="{015A7B05-28F2-23B7-57BC-B450D4DE6281}"/>
              </a:ext>
            </a:extLst>
          </p:cNvPr>
          <p:cNvGrpSpPr/>
          <p:nvPr/>
        </p:nvGrpSpPr>
        <p:grpSpPr>
          <a:xfrm>
            <a:off x="5194952" y="3477297"/>
            <a:ext cx="573593" cy="502229"/>
            <a:chOff x="4452032" y="2967335"/>
            <a:chExt cx="1253198" cy="1097280"/>
          </a:xfrm>
        </p:grpSpPr>
        <p:sp>
          <p:nvSpPr>
            <p:cNvPr id="296" name="Elipse 295">
              <a:extLst>
                <a:ext uri="{FF2B5EF4-FFF2-40B4-BE49-F238E27FC236}">
                  <a16:creationId xmlns:a16="http://schemas.microsoft.com/office/drawing/2014/main" id="{75727C0B-9E2C-CF72-00F4-2EE6FB38E7D5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97" name="CaixaDeTexto 296">
              <a:extLst>
                <a:ext uri="{FF2B5EF4-FFF2-40B4-BE49-F238E27FC236}">
                  <a16:creationId xmlns:a16="http://schemas.microsoft.com/office/drawing/2014/main" id="{3B9EEA34-11C2-CAB1-F1D4-ABFA5CEBD42A}"/>
                </a:ext>
              </a:extLst>
            </p:cNvPr>
            <p:cNvSpPr txBox="1"/>
            <p:nvPr/>
          </p:nvSpPr>
          <p:spPr>
            <a:xfrm>
              <a:off x="4452032" y="3173943"/>
              <a:ext cx="1253198" cy="7060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rgbClr val="C00000"/>
                  </a:solidFill>
                </a:rPr>
                <a:t>Leito/Equipe Neo</a:t>
              </a:r>
            </a:p>
            <a:p>
              <a:pPr algn="ctr"/>
              <a:r>
                <a:rPr lang="pt-BR" sz="500" dirty="0">
                  <a:solidFill>
                    <a:srgbClr val="C00000"/>
                  </a:solidFill>
                </a:rPr>
                <a:t>Disponível</a:t>
              </a:r>
            </a:p>
          </p:txBody>
        </p:sp>
      </p:grpSp>
      <p:cxnSp>
        <p:nvCxnSpPr>
          <p:cNvPr id="298" name="Conector: Curvo 297">
            <a:extLst>
              <a:ext uri="{FF2B5EF4-FFF2-40B4-BE49-F238E27FC236}">
                <a16:creationId xmlns:a16="http://schemas.microsoft.com/office/drawing/2014/main" id="{1BB8E84E-15CB-8A73-82D1-9EFFC58DA824}"/>
              </a:ext>
            </a:extLst>
          </p:cNvPr>
          <p:cNvCxnSpPr>
            <a:cxnSpLocks/>
          </p:cNvCxnSpPr>
          <p:nvPr/>
        </p:nvCxnSpPr>
        <p:spPr>
          <a:xfrm>
            <a:off x="5810404" y="3055370"/>
            <a:ext cx="54462" cy="749780"/>
          </a:xfrm>
          <a:prstGeom prst="curvedConnector3">
            <a:avLst>
              <a:gd name="adj1" fmla="val 519742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Conector: Curvo 298">
            <a:extLst>
              <a:ext uri="{FF2B5EF4-FFF2-40B4-BE49-F238E27FC236}">
                <a16:creationId xmlns:a16="http://schemas.microsoft.com/office/drawing/2014/main" id="{9CC891EB-B9EF-A1F9-A61A-16EEE7AC6F23}"/>
              </a:ext>
            </a:extLst>
          </p:cNvPr>
          <p:cNvCxnSpPr>
            <a:cxnSpLocks/>
          </p:cNvCxnSpPr>
          <p:nvPr/>
        </p:nvCxnSpPr>
        <p:spPr>
          <a:xfrm flipH="1" flipV="1">
            <a:off x="5082623" y="3102822"/>
            <a:ext cx="54462" cy="749780"/>
          </a:xfrm>
          <a:prstGeom prst="curvedConnector3">
            <a:avLst>
              <a:gd name="adj1" fmla="val 519742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CaixaDeTexto 299">
            <a:extLst>
              <a:ext uri="{FF2B5EF4-FFF2-40B4-BE49-F238E27FC236}">
                <a16:creationId xmlns:a16="http://schemas.microsoft.com/office/drawing/2014/main" id="{443E1D5A-FE00-9C01-3A94-AAAC6B103327}"/>
              </a:ext>
            </a:extLst>
          </p:cNvPr>
          <p:cNvSpPr txBox="1"/>
          <p:nvPr/>
        </p:nvSpPr>
        <p:spPr>
          <a:xfrm>
            <a:off x="8315951" y="924068"/>
            <a:ext cx="76177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pt-BR" sz="700" dirty="0"/>
              <a:t>Alojamento</a:t>
            </a:r>
          </a:p>
          <a:p>
            <a:pPr algn="ctr"/>
            <a:r>
              <a:rPr lang="pt-BR" sz="700" dirty="0"/>
              <a:t>Conjunto</a:t>
            </a:r>
          </a:p>
        </p:txBody>
      </p:sp>
      <p:cxnSp>
        <p:nvCxnSpPr>
          <p:cNvPr id="302" name="Conector de Seta Reta 301">
            <a:extLst>
              <a:ext uri="{FF2B5EF4-FFF2-40B4-BE49-F238E27FC236}">
                <a16:creationId xmlns:a16="http://schemas.microsoft.com/office/drawing/2014/main" id="{97CC7A71-BB83-813C-9CE7-1B5A72537263}"/>
              </a:ext>
            </a:extLst>
          </p:cNvPr>
          <p:cNvCxnSpPr>
            <a:cxnSpLocks/>
          </p:cNvCxnSpPr>
          <p:nvPr/>
        </p:nvCxnSpPr>
        <p:spPr>
          <a:xfrm>
            <a:off x="7924748" y="1076669"/>
            <a:ext cx="362683" cy="12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Conector: Curvo 303">
            <a:extLst>
              <a:ext uri="{FF2B5EF4-FFF2-40B4-BE49-F238E27FC236}">
                <a16:creationId xmlns:a16="http://schemas.microsoft.com/office/drawing/2014/main" id="{6D627452-2633-3720-D976-AE9D9ABC268A}"/>
              </a:ext>
            </a:extLst>
          </p:cNvPr>
          <p:cNvCxnSpPr>
            <a:stCxn id="289" idx="3"/>
            <a:endCxn id="300" idx="1"/>
          </p:cNvCxnSpPr>
          <p:nvPr/>
        </p:nvCxnSpPr>
        <p:spPr>
          <a:xfrm flipV="1">
            <a:off x="7933789" y="1077957"/>
            <a:ext cx="382162" cy="874933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6" name="Agrupar 305">
            <a:extLst>
              <a:ext uri="{FF2B5EF4-FFF2-40B4-BE49-F238E27FC236}">
                <a16:creationId xmlns:a16="http://schemas.microsoft.com/office/drawing/2014/main" id="{F281A9C7-BC34-90C8-FC8B-3A19FC5E8227}"/>
              </a:ext>
            </a:extLst>
          </p:cNvPr>
          <p:cNvGrpSpPr/>
          <p:nvPr/>
        </p:nvGrpSpPr>
        <p:grpSpPr>
          <a:xfrm>
            <a:off x="6708888" y="3189670"/>
            <a:ext cx="606323" cy="502229"/>
            <a:chOff x="616635" y="2771335"/>
            <a:chExt cx="1324707" cy="1097280"/>
          </a:xfrm>
        </p:grpSpPr>
        <p:sp>
          <p:nvSpPr>
            <p:cNvPr id="307" name="Elipse 306">
              <a:extLst>
                <a:ext uri="{FF2B5EF4-FFF2-40B4-BE49-F238E27FC236}">
                  <a16:creationId xmlns:a16="http://schemas.microsoft.com/office/drawing/2014/main" id="{113538FE-52F9-0A66-BD50-F50F2AAC63E6}"/>
                </a:ext>
              </a:extLst>
            </p:cNvPr>
            <p:cNvSpPr/>
            <p:nvPr/>
          </p:nvSpPr>
          <p:spPr>
            <a:xfrm>
              <a:off x="616635" y="2771335"/>
              <a:ext cx="1097280" cy="10972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/>
            </a:p>
          </p:txBody>
        </p:sp>
        <p:sp>
          <p:nvSpPr>
            <p:cNvPr id="308" name="Elipse 307">
              <a:extLst>
                <a:ext uri="{FF2B5EF4-FFF2-40B4-BE49-F238E27FC236}">
                  <a16:creationId xmlns:a16="http://schemas.microsoft.com/office/drawing/2014/main" id="{BA11FD0D-EDBA-40E1-BB16-0862C9C763D5}"/>
                </a:ext>
              </a:extLst>
            </p:cNvPr>
            <p:cNvSpPr/>
            <p:nvPr/>
          </p:nvSpPr>
          <p:spPr>
            <a:xfrm>
              <a:off x="844062" y="2771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09" name="CaixaDeTexto 308">
              <a:extLst>
                <a:ext uri="{FF2B5EF4-FFF2-40B4-BE49-F238E27FC236}">
                  <a16:creationId xmlns:a16="http://schemas.microsoft.com/office/drawing/2014/main" id="{B36AF4D8-4300-4118-5711-FB9B0433B4AD}"/>
                </a:ext>
              </a:extLst>
            </p:cNvPr>
            <p:cNvSpPr txBox="1"/>
            <p:nvPr/>
          </p:nvSpPr>
          <p:spPr>
            <a:xfrm>
              <a:off x="886945" y="3098296"/>
              <a:ext cx="1011513" cy="4370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Óbito</a:t>
              </a:r>
            </a:p>
          </p:txBody>
        </p:sp>
      </p:grpSp>
      <p:cxnSp>
        <p:nvCxnSpPr>
          <p:cNvPr id="311" name="Conector: Curvo 310">
            <a:extLst>
              <a:ext uri="{FF2B5EF4-FFF2-40B4-BE49-F238E27FC236}">
                <a16:creationId xmlns:a16="http://schemas.microsoft.com/office/drawing/2014/main" id="{96CF7FAC-6792-4ADB-BF1C-A21EDF308241}"/>
              </a:ext>
            </a:extLst>
          </p:cNvPr>
          <p:cNvCxnSpPr>
            <a:stCxn id="277" idx="3"/>
            <a:endCxn id="307" idx="2"/>
          </p:cNvCxnSpPr>
          <p:nvPr/>
        </p:nvCxnSpPr>
        <p:spPr>
          <a:xfrm>
            <a:off x="5799028" y="3000969"/>
            <a:ext cx="909860" cy="439816"/>
          </a:xfrm>
          <a:prstGeom prst="curvedConnector3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2" name="CaixaDeTexto 311">
            <a:extLst>
              <a:ext uri="{FF2B5EF4-FFF2-40B4-BE49-F238E27FC236}">
                <a16:creationId xmlns:a16="http://schemas.microsoft.com/office/drawing/2014/main" id="{2DADDC2F-C8CD-2B89-C9F7-EC3C87FE35D3}"/>
              </a:ext>
            </a:extLst>
          </p:cNvPr>
          <p:cNvSpPr txBox="1"/>
          <p:nvPr/>
        </p:nvSpPr>
        <p:spPr>
          <a:xfrm>
            <a:off x="6294944" y="2791012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I</a:t>
            </a:r>
          </a:p>
        </p:txBody>
      </p:sp>
      <p:sp>
        <p:nvSpPr>
          <p:cNvPr id="313" name="CaixaDeTexto 312">
            <a:extLst>
              <a:ext uri="{FF2B5EF4-FFF2-40B4-BE49-F238E27FC236}">
                <a16:creationId xmlns:a16="http://schemas.microsoft.com/office/drawing/2014/main" id="{7387DB32-5D17-6701-B00A-A3F517F08DF7}"/>
              </a:ext>
            </a:extLst>
          </p:cNvPr>
          <p:cNvSpPr txBox="1"/>
          <p:nvPr/>
        </p:nvSpPr>
        <p:spPr>
          <a:xfrm>
            <a:off x="6227188" y="3062521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J</a:t>
            </a:r>
          </a:p>
        </p:txBody>
      </p:sp>
      <p:grpSp>
        <p:nvGrpSpPr>
          <p:cNvPr id="314" name="Agrupar 313">
            <a:extLst>
              <a:ext uri="{FF2B5EF4-FFF2-40B4-BE49-F238E27FC236}">
                <a16:creationId xmlns:a16="http://schemas.microsoft.com/office/drawing/2014/main" id="{9CBBB9D2-3D47-808E-A428-318D0D94DCFC}"/>
              </a:ext>
            </a:extLst>
          </p:cNvPr>
          <p:cNvGrpSpPr/>
          <p:nvPr/>
        </p:nvGrpSpPr>
        <p:grpSpPr>
          <a:xfrm>
            <a:off x="8396927" y="83766"/>
            <a:ext cx="573593" cy="502229"/>
            <a:chOff x="4449493" y="2967335"/>
            <a:chExt cx="1253198" cy="1097280"/>
          </a:xfrm>
        </p:grpSpPr>
        <p:sp>
          <p:nvSpPr>
            <p:cNvPr id="315" name="Elipse 314">
              <a:extLst>
                <a:ext uri="{FF2B5EF4-FFF2-40B4-BE49-F238E27FC236}">
                  <a16:creationId xmlns:a16="http://schemas.microsoft.com/office/drawing/2014/main" id="{94DA2590-7641-49C4-0704-481449B2FD20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16" name="CaixaDeTexto 315">
              <a:extLst>
                <a:ext uri="{FF2B5EF4-FFF2-40B4-BE49-F238E27FC236}">
                  <a16:creationId xmlns:a16="http://schemas.microsoft.com/office/drawing/2014/main" id="{BE4C5880-BACE-2597-323B-43DC22AEF485}"/>
                </a:ext>
              </a:extLst>
            </p:cNvPr>
            <p:cNvSpPr txBox="1"/>
            <p:nvPr/>
          </p:nvSpPr>
          <p:spPr>
            <a:xfrm>
              <a:off x="4449493" y="3254366"/>
              <a:ext cx="1253198" cy="537949"/>
            </a:xfrm>
            <a:prstGeom prst="rect">
              <a:avLst/>
            </a:prstGeom>
            <a:noFill/>
            <a:ln>
              <a:noFill/>
              <a:prstDash val="sysDot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chemeClr val="bg1">
                      <a:lumMod val="65000"/>
                    </a:schemeClr>
                  </a:solidFill>
                </a:rPr>
                <a:t>Alojamento</a:t>
              </a:r>
            </a:p>
            <a:p>
              <a:pPr algn="ctr"/>
              <a:r>
                <a:rPr lang="pt-BR" sz="500" dirty="0">
                  <a:solidFill>
                    <a:schemeClr val="bg1">
                      <a:lumMod val="65000"/>
                    </a:schemeClr>
                  </a:solidFill>
                </a:rPr>
                <a:t>Disponível</a:t>
              </a:r>
            </a:p>
          </p:txBody>
        </p:sp>
      </p:grpSp>
      <p:cxnSp>
        <p:nvCxnSpPr>
          <p:cNvPr id="317" name="Conector: Curvo 316">
            <a:extLst>
              <a:ext uri="{FF2B5EF4-FFF2-40B4-BE49-F238E27FC236}">
                <a16:creationId xmlns:a16="http://schemas.microsoft.com/office/drawing/2014/main" id="{FA57AEB0-D38F-D83E-5BB5-A08FD85AB25D}"/>
              </a:ext>
            </a:extLst>
          </p:cNvPr>
          <p:cNvCxnSpPr>
            <a:cxnSpLocks/>
          </p:cNvCxnSpPr>
          <p:nvPr/>
        </p:nvCxnSpPr>
        <p:spPr>
          <a:xfrm rot="10800000" flipV="1">
            <a:off x="8246761" y="335305"/>
            <a:ext cx="132062" cy="653460"/>
          </a:xfrm>
          <a:prstGeom prst="curvedConnector2">
            <a:avLst/>
          </a:prstGeom>
          <a:ln w="19050">
            <a:solidFill>
              <a:schemeClr val="bg1">
                <a:lumMod val="6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Conector: Curvo 317">
            <a:extLst>
              <a:ext uri="{FF2B5EF4-FFF2-40B4-BE49-F238E27FC236}">
                <a16:creationId xmlns:a16="http://schemas.microsoft.com/office/drawing/2014/main" id="{D2181DB7-F9A5-1790-1076-772AB0B267A4}"/>
              </a:ext>
            </a:extLst>
          </p:cNvPr>
          <p:cNvCxnSpPr>
            <a:cxnSpLocks/>
            <a:endCxn id="316" idx="3"/>
          </p:cNvCxnSpPr>
          <p:nvPr/>
        </p:nvCxnSpPr>
        <p:spPr>
          <a:xfrm rot="16200000" flipV="1">
            <a:off x="8709660" y="599113"/>
            <a:ext cx="687891" cy="166169"/>
          </a:xfrm>
          <a:prstGeom prst="curvedConnector2">
            <a:avLst/>
          </a:prstGeom>
          <a:ln w="19050">
            <a:solidFill>
              <a:schemeClr val="bg1">
                <a:lumMod val="6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9" name="Agrupar 318">
            <a:extLst>
              <a:ext uri="{FF2B5EF4-FFF2-40B4-BE49-F238E27FC236}">
                <a16:creationId xmlns:a16="http://schemas.microsoft.com/office/drawing/2014/main" id="{DCA190E2-8CD2-C39B-6EB7-864586397631}"/>
              </a:ext>
            </a:extLst>
          </p:cNvPr>
          <p:cNvGrpSpPr/>
          <p:nvPr/>
        </p:nvGrpSpPr>
        <p:grpSpPr>
          <a:xfrm>
            <a:off x="7935531" y="2435115"/>
            <a:ext cx="573593" cy="502229"/>
            <a:chOff x="4448608" y="2967335"/>
            <a:chExt cx="1253197" cy="1097280"/>
          </a:xfrm>
        </p:grpSpPr>
        <p:sp>
          <p:nvSpPr>
            <p:cNvPr id="320" name="Elipse 319">
              <a:extLst>
                <a:ext uri="{FF2B5EF4-FFF2-40B4-BE49-F238E27FC236}">
                  <a16:creationId xmlns:a16="http://schemas.microsoft.com/office/drawing/2014/main" id="{59E9ADED-428D-9169-9B3C-AA178CEB43F8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21" name="CaixaDeTexto 320">
              <a:extLst>
                <a:ext uri="{FF2B5EF4-FFF2-40B4-BE49-F238E27FC236}">
                  <a16:creationId xmlns:a16="http://schemas.microsoft.com/office/drawing/2014/main" id="{A7EA3EE4-B8BC-01C4-6097-9CB6B1AE5D3C}"/>
                </a:ext>
              </a:extLst>
            </p:cNvPr>
            <p:cNvSpPr txBox="1"/>
            <p:nvPr/>
          </p:nvSpPr>
          <p:spPr>
            <a:xfrm>
              <a:off x="4448608" y="3088896"/>
              <a:ext cx="1253197" cy="907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Testes</a:t>
              </a:r>
            </a:p>
            <a:p>
              <a:pPr algn="ctr"/>
              <a:r>
                <a:rPr lang="pt-BR" sz="700" dirty="0"/>
                <a:t>Neonatais</a:t>
              </a:r>
            </a:p>
          </p:txBody>
        </p:sp>
      </p:grpSp>
      <p:sp>
        <p:nvSpPr>
          <p:cNvPr id="322" name="CaixaDeTexto 321">
            <a:extLst>
              <a:ext uri="{FF2B5EF4-FFF2-40B4-BE49-F238E27FC236}">
                <a16:creationId xmlns:a16="http://schemas.microsoft.com/office/drawing/2014/main" id="{CD9A9A04-B886-1E48-5C0D-8E68C9E28AD5}"/>
              </a:ext>
            </a:extLst>
          </p:cNvPr>
          <p:cNvSpPr txBox="1"/>
          <p:nvPr/>
        </p:nvSpPr>
        <p:spPr>
          <a:xfrm>
            <a:off x="8703498" y="2424618"/>
            <a:ext cx="68251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700" dirty="0"/>
              <a:t>Testes Neonatais</a:t>
            </a:r>
          </a:p>
          <a:p>
            <a:pPr algn="ctr"/>
            <a:endParaRPr lang="pt-BR" sz="700" dirty="0"/>
          </a:p>
        </p:txBody>
      </p:sp>
      <p:cxnSp>
        <p:nvCxnSpPr>
          <p:cNvPr id="323" name="Conector de Seta Reta 322">
            <a:extLst>
              <a:ext uri="{FF2B5EF4-FFF2-40B4-BE49-F238E27FC236}">
                <a16:creationId xmlns:a16="http://schemas.microsoft.com/office/drawing/2014/main" id="{50DD9CF4-09DC-B8BE-E91E-7C15DFA86A0D}"/>
              </a:ext>
            </a:extLst>
          </p:cNvPr>
          <p:cNvCxnSpPr>
            <a:cxnSpLocks/>
          </p:cNvCxnSpPr>
          <p:nvPr/>
        </p:nvCxnSpPr>
        <p:spPr>
          <a:xfrm>
            <a:off x="8473846" y="2686230"/>
            <a:ext cx="231798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4" name="Agrupar 323">
            <a:extLst>
              <a:ext uri="{FF2B5EF4-FFF2-40B4-BE49-F238E27FC236}">
                <a16:creationId xmlns:a16="http://schemas.microsoft.com/office/drawing/2014/main" id="{BBCBFA75-D90E-ACDD-6D1D-AD15849148C5}"/>
              </a:ext>
            </a:extLst>
          </p:cNvPr>
          <p:cNvGrpSpPr/>
          <p:nvPr/>
        </p:nvGrpSpPr>
        <p:grpSpPr>
          <a:xfrm>
            <a:off x="9352047" y="853405"/>
            <a:ext cx="573593" cy="502229"/>
            <a:chOff x="4449493" y="2967335"/>
            <a:chExt cx="1253198" cy="1097280"/>
          </a:xfrm>
        </p:grpSpPr>
        <p:sp>
          <p:nvSpPr>
            <p:cNvPr id="325" name="Elipse 324">
              <a:extLst>
                <a:ext uri="{FF2B5EF4-FFF2-40B4-BE49-F238E27FC236}">
                  <a16:creationId xmlns:a16="http://schemas.microsoft.com/office/drawing/2014/main" id="{54BD4826-9F3C-7716-0DF0-15633E459BEA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26" name="CaixaDeTexto 325">
              <a:extLst>
                <a:ext uri="{FF2B5EF4-FFF2-40B4-BE49-F238E27FC236}">
                  <a16:creationId xmlns:a16="http://schemas.microsoft.com/office/drawing/2014/main" id="{15EFF839-0D83-4C76-039D-6A513460F8E5}"/>
                </a:ext>
              </a:extLst>
            </p:cNvPr>
            <p:cNvSpPr txBox="1"/>
            <p:nvPr/>
          </p:nvSpPr>
          <p:spPr>
            <a:xfrm>
              <a:off x="4449493" y="3187633"/>
              <a:ext cx="1253198" cy="605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600" dirty="0"/>
                <a:t>Aguarda</a:t>
              </a:r>
            </a:p>
            <a:p>
              <a:pPr algn="ctr"/>
              <a:r>
                <a:rPr lang="pt-BR" sz="600" dirty="0"/>
                <a:t>Alta</a:t>
              </a:r>
            </a:p>
          </p:txBody>
        </p:sp>
      </p:grpSp>
      <p:grpSp>
        <p:nvGrpSpPr>
          <p:cNvPr id="327" name="Agrupar 326">
            <a:extLst>
              <a:ext uri="{FF2B5EF4-FFF2-40B4-BE49-F238E27FC236}">
                <a16:creationId xmlns:a16="http://schemas.microsoft.com/office/drawing/2014/main" id="{CD93B47D-E62F-2EA7-4C7D-92F87C9A82A0}"/>
              </a:ext>
            </a:extLst>
          </p:cNvPr>
          <p:cNvGrpSpPr/>
          <p:nvPr/>
        </p:nvGrpSpPr>
        <p:grpSpPr>
          <a:xfrm>
            <a:off x="9356760" y="1644708"/>
            <a:ext cx="573593" cy="502229"/>
            <a:chOff x="4449493" y="2967335"/>
            <a:chExt cx="1253198" cy="1097280"/>
          </a:xfrm>
        </p:grpSpPr>
        <p:sp>
          <p:nvSpPr>
            <p:cNvPr id="328" name="Elipse 327">
              <a:extLst>
                <a:ext uri="{FF2B5EF4-FFF2-40B4-BE49-F238E27FC236}">
                  <a16:creationId xmlns:a16="http://schemas.microsoft.com/office/drawing/2014/main" id="{90DFC96B-4ADE-8ABB-F2C1-0C12FD6D251D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29" name="CaixaDeTexto 328">
              <a:extLst>
                <a:ext uri="{FF2B5EF4-FFF2-40B4-BE49-F238E27FC236}">
                  <a16:creationId xmlns:a16="http://schemas.microsoft.com/office/drawing/2014/main" id="{FE67A868-3277-1E24-2C85-8C25CEA56C00}"/>
                </a:ext>
              </a:extLst>
            </p:cNvPr>
            <p:cNvSpPr txBox="1"/>
            <p:nvPr/>
          </p:nvSpPr>
          <p:spPr>
            <a:xfrm>
              <a:off x="4449493" y="3187633"/>
              <a:ext cx="1253198" cy="605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600" dirty="0"/>
                <a:t>Aguarda</a:t>
              </a:r>
            </a:p>
            <a:p>
              <a:pPr algn="ctr"/>
              <a:r>
                <a:rPr lang="pt-BR" sz="600" dirty="0"/>
                <a:t>Alta</a:t>
              </a:r>
            </a:p>
          </p:txBody>
        </p:sp>
      </p:grpSp>
      <p:cxnSp>
        <p:nvCxnSpPr>
          <p:cNvPr id="331" name="Conector: Curvo 330">
            <a:extLst>
              <a:ext uri="{FF2B5EF4-FFF2-40B4-BE49-F238E27FC236}">
                <a16:creationId xmlns:a16="http://schemas.microsoft.com/office/drawing/2014/main" id="{7198609D-C073-CFE2-B385-C7FDB78728BF}"/>
              </a:ext>
            </a:extLst>
          </p:cNvPr>
          <p:cNvCxnSpPr>
            <a:stCxn id="300" idx="2"/>
            <a:endCxn id="321" idx="1"/>
          </p:cNvCxnSpPr>
          <p:nvPr/>
        </p:nvCxnSpPr>
        <p:spPr>
          <a:xfrm rot="5400000">
            <a:off x="7582857" y="1584520"/>
            <a:ext cx="1466658" cy="761309"/>
          </a:xfrm>
          <a:prstGeom prst="curvedConnector4">
            <a:avLst>
              <a:gd name="adj1" fmla="val 42918"/>
              <a:gd name="adj2" fmla="val 130027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Conector: Curvo 335">
            <a:extLst>
              <a:ext uri="{FF2B5EF4-FFF2-40B4-BE49-F238E27FC236}">
                <a16:creationId xmlns:a16="http://schemas.microsoft.com/office/drawing/2014/main" id="{081FD3B3-39DE-FA89-9638-3AB9B386B140}"/>
              </a:ext>
            </a:extLst>
          </p:cNvPr>
          <p:cNvCxnSpPr>
            <a:stCxn id="322" idx="3"/>
            <a:endCxn id="328" idx="4"/>
          </p:cNvCxnSpPr>
          <p:nvPr/>
        </p:nvCxnSpPr>
        <p:spPr>
          <a:xfrm flipV="1">
            <a:off x="9386014" y="2146937"/>
            <a:ext cx="257543" cy="539291"/>
          </a:xfrm>
          <a:prstGeom prst="curvedConnector2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Conector: Curvo 337">
            <a:extLst>
              <a:ext uri="{FF2B5EF4-FFF2-40B4-BE49-F238E27FC236}">
                <a16:creationId xmlns:a16="http://schemas.microsoft.com/office/drawing/2014/main" id="{42C93675-B0ED-92A1-4B28-3A7C7262B4B9}"/>
              </a:ext>
            </a:extLst>
          </p:cNvPr>
          <p:cNvCxnSpPr>
            <a:cxnSpLocks/>
          </p:cNvCxnSpPr>
          <p:nvPr/>
        </p:nvCxnSpPr>
        <p:spPr>
          <a:xfrm>
            <a:off x="9085349" y="1077957"/>
            <a:ext cx="274318" cy="14779"/>
          </a:xfrm>
          <a:prstGeom prst="curvedConnector3">
            <a:avLst>
              <a:gd name="adj1" fmla="val 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CaixaDeTexto 339">
            <a:extLst>
              <a:ext uri="{FF2B5EF4-FFF2-40B4-BE49-F238E27FC236}">
                <a16:creationId xmlns:a16="http://schemas.microsoft.com/office/drawing/2014/main" id="{C912050D-E5E0-AEB6-4004-D82030CB3DA8}"/>
              </a:ext>
            </a:extLst>
          </p:cNvPr>
          <p:cNvSpPr txBox="1"/>
          <p:nvPr/>
        </p:nvSpPr>
        <p:spPr>
          <a:xfrm>
            <a:off x="10379719" y="1351656"/>
            <a:ext cx="761778" cy="2000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pt-BR" sz="700" dirty="0"/>
              <a:t>Alta Médica</a:t>
            </a:r>
          </a:p>
        </p:txBody>
      </p:sp>
      <p:cxnSp>
        <p:nvCxnSpPr>
          <p:cNvPr id="342" name="Conector: Curvo 341">
            <a:extLst>
              <a:ext uri="{FF2B5EF4-FFF2-40B4-BE49-F238E27FC236}">
                <a16:creationId xmlns:a16="http://schemas.microsoft.com/office/drawing/2014/main" id="{25B55845-CDD4-7B83-2737-8BD2B604C032}"/>
              </a:ext>
            </a:extLst>
          </p:cNvPr>
          <p:cNvCxnSpPr>
            <a:stCxn id="329" idx="3"/>
          </p:cNvCxnSpPr>
          <p:nvPr/>
        </p:nvCxnSpPr>
        <p:spPr>
          <a:xfrm flipV="1">
            <a:off x="9930353" y="1515423"/>
            <a:ext cx="406587" cy="368616"/>
          </a:xfrm>
          <a:prstGeom prst="curvedConnector3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Conector: Curvo 343">
            <a:extLst>
              <a:ext uri="{FF2B5EF4-FFF2-40B4-BE49-F238E27FC236}">
                <a16:creationId xmlns:a16="http://schemas.microsoft.com/office/drawing/2014/main" id="{89B6550A-61A0-5406-424E-70AB48AEDFB7}"/>
              </a:ext>
            </a:extLst>
          </p:cNvPr>
          <p:cNvCxnSpPr>
            <a:stCxn id="326" idx="3"/>
            <a:endCxn id="340" idx="1"/>
          </p:cNvCxnSpPr>
          <p:nvPr/>
        </p:nvCxnSpPr>
        <p:spPr>
          <a:xfrm>
            <a:off x="9925640" y="1092736"/>
            <a:ext cx="454079" cy="358948"/>
          </a:xfrm>
          <a:prstGeom prst="curved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5" name="Agrupar 344">
            <a:extLst>
              <a:ext uri="{FF2B5EF4-FFF2-40B4-BE49-F238E27FC236}">
                <a16:creationId xmlns:a16="http://schemas.microsoft.com/office/drawing/2014/main" id="{89D41010-6852-EE1C-309F-8C8586E01CF7}"/>
              </a:ext>
            </a:extLst>
          </p:cNvPr>
          <p:cNvGrpSpPr/>
          <p:nvPr/>
        </p:nvGrpSpPr>
        <p:grpSpPr>
          <a:xfrm>
            <a:off x="11525708" y="1200569"/>
            <a:ext cx="606323" cy="502229"/>
            <a:chOff x="616635" y="2771335"/>
            <a:chExt cx="1324707" cy="1097280"/>
          </a:xfrm>
        </p:grpSpPr>
        <p:sp>
          <p:nvSpPr>
            <p:cNvPr id="346" name="Elipse 345">
              <a:extLst>
                <a:ext uri="{FF2B5EF4-FFF2-40B4-BE49-F238E27FC236}">
                  <a16:creationId xmlns:a16="http://schemas.microsoft.com/office/drawing/2014/main" id="{83CB2F18-3DC1-1A23-205B-0A725A64EAC7}"/>
                </a:ext>
              </a:extLst>
            </p:cNvPr>
            <p:cNvSpPr/>
            <p:nvPr/>
          </p:nvSpPr>
          <p:spPr>
            <a:xfrm>
              <a:off x="616635" y="2771335"/>
              <a:ext cx="1097280" cy="10972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/>
            </a:p>
          </p:txBody>
        </p:sp>
        <p:sp>
          <p:nvSpPr>
            <p:cNvPr id="347" name="Elipse 346">
              <a:extLst>
                <a:ext uri="{FF2B5EF4-FFF2-40B4-BE49-F238E27FC236}">
                  <a16:creationId xmlns:a16="http://schemas.microsoft.com/office/drawing/2014/main" id="{697C0F39-46C5-69AA-C676-6ACF6C800AB7}"/>
                </a:ext>
              </a:extLst>
            </p:cNvPr>
            <p:cNvSpPr/>
            <p:nvPr/>
          </p:nvSpPr>
          <p:spPr>
            <a:xfrm>
              <a:off x="844062" y="2771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48" name="CaixaDeTexto 347">
              <a:extLst>
                <a:ext uri="{FF2B5EF4-FFF2-40B4-BE49-F238E27FC236}">
                  <a16:creationId xmlns:a16="http://schemas.microsoft.com/office/drawing/2014/main" id="{006C0468-82C1-B0C6-6B99-9CC218C35DD1}"/>
                </a:ext>
              </a:extLst>
            </p:cNvPr>
            <p:cNvSpPr txBox="1"/>
            <p:nvPr/>
          </p:nvSpPr>
          <p:spPr>
            <a:xfrm>
              <a:off x="886945" y="3098296"/>
              <a:ext cx="1011513" cy="4370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Rua</a:t>
              </a:r>
            </a:p>
          </p:txBody>
        </p:sp>
      </p:grpSp>
      <p:cxnSp>
        <p:nvCxnSpPr>
          <p:cNvPr id="350" name="Conector de Seta Reta 349">
            <a:extLst>
              <a:ext uri="{FF2B5EF4-FFF2-40B4-BE49-F238E27FC236}">
                <a16:creationId xmlns:a16="http://schemas.microsoft.com/office/drawing/2014/main" id="{656463FA-5EE0-ADE2-55CC-B88548606FF5}"/>
              </a:ext>
            </a:extLst>
          </p:cNvPr>
          <p:cNvCxnSpPr>
            <a:stCxn id="340" idx="3"/>
            <a:endCxn id="346" idx="2"/>
          </p:cNvCxnSpPr>
          <p:nvPr/>
        </p:nvCxnSpPr>
        <p:spPr>
          <a:xfrm>
            <a:off x="11141497" y="1451684"/>
            <a:ext cx="3842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Conector: Curvo 354">
            <a:extLst>
              <a:ext uri="{FF2B5EF4-FFF2-40B4-BE49-F238E27FC236}">
                <a16:creationId xmlns:a16="http://schemas.microsoft.com/office/drawing/2014/main" id="{E9F55F2F-D047-B85E-B241-713406538117}"/>
              </a:ext>
            </a:extLst>
          </p:cNvPr>
          <p:cNvCxnSpPr>
            <a:cxnSpLocks/>
            <a:stCxn id="340" idx="3"/>
            <a:endCxn id="346" idx="3"/>
          </p:cNvCxnSpPr>
          <p:nvPr/>
        </p:nvCxnSpPr>
        <p:spPr>
          <a:xfrm>
            <a:off x="11141497" y="1451684"/>
            <a:ext cx="457761" cy="177564"/>
          </a:xfrm>
          <a:prstGeom prst="curvedConnector4">
            <a:avLst>
              <a:gd name="adj1" fmla="val 41966"/>
              <a:gd name="adj2" fmla="val 228742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1" name="Agrupar 360">
            <a:extLst>
              <a:ext uri="{FF2B5EF4-FFF2-40B4-BE49-F238E27FC236}">
                <a16:creationId xmlns:a16="http://schemas.microsoft.com/office/drawing/2014/main" id="{DF26C0DF-6B27-075E-D782-DE7B1308B5EF}"/>
              </a:ext>
            </a:extLst>
          </p:cNvPr>
          <p:cNvGrpSpPr/>
          <p:nvPr/>
        </p:nvGrpSpPr>
        <p:grpSpPr>
          <a:xfrm>
            <a:off x="7479403" y="4368981"/>
            <a:ext cx="606323" cy="502229"/>
            <a:chOff x="616635" y="2771335"/>
            <a:chExt cx="1324707" cy="1097280"/>
          </a:xfrm>
        </p:grpSpPr>
        <p:sp>
          <p:nvSpPr>
            <p:cNvPr id="362" name="Elipse 361">
              <a:extLst>
                <a:ext uri="{FF2B5EF4-FFF2-40B4-BE49-F238E27FC236}">
                  <a16:creationId xmlns:a16="http://schemas.microsoft.com/office/drawing/2014/main" id="{C0E2082B-9350-A67C-8499-C6AD993A6A20}"/>
                </a:ext>
              </a:extLst>
            </p:cNvPr>
            <p:cNvSpPr/>
            <p:nvPr/>
          </p:nvSpPr>
          <p:spPr>
            <a:xfrm>
              <a:off x="616635" y="2771335"/>
              <a:ext cx="1097280" cy="10972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/>
            </a:p>
          </p:txBody>
        </p:sp>
        <p:sp>
          <p:nvSpPr>
            <p:cNvPr id="363" name="Elipse 362">
              <a:extLst>
                <a:ext uri="{FF2B5EF4-FFF2-40B4-BE49-F238E27FC236}">
                  <a16:creationId xmlns:a16="http://schemas.microsoft.com/office/drawing/2014/main" id="{6F2B1C63-D34E-6FAB-FA96-FFF533930B0E}"/>
                </a:ext>
              </a:extLst>
            </p:cNvPr>
            <p:cNvSpPr/>
            <p:nvPr/>
          </p:nvSpPr>
          <p:spPr>
            <a:xfrm>
              <a:off x="844062" y="2771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64" name="CaixaDeTexto 363">
              <a:extLst>
                <a:ext uri="{FF2B5EF4-FFF2-40B4-BE49-F238E27FC236}">
                  <a16:creationId xmlns:a16="http://schemas.microsoft.com/office/drawing/2014/main" id="{CFE767CD-3E85-317B-1C20-DF73F659A56C}"/>
                </a:ext>
              </a:extLst>
            </p:cNvPr>
            <p:cNvSpPr txBox="1"/>
            <p:nvPr/>
          </p:nvSpPr>
          <p:spPr>
            <a:xfrm>
              <a:off x="886945" y="3098296"/>
              <a:ext cx="1011513" cy="4370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pt-BR" sz="700" dirty="0"/>
            </a:p>
          </p:txBody>
        </p:sp>
      </p:grpSp>
      <p:grpSp>
        <p:nvGrpSpPr>
          <p:cNvPr id="371" name="Agrupar 370">
            <a:extLst>
              <a:ext uri="{FF2B5EF4-FFF2-40B4-BE49-F238E27FC236}">
                <a16:creationId xmlns:a16="http://schemas.microsoft.com/office/drawing/2014/main" id="{5C3212C8-9A7C-983E-2082-F016622A175E}"/>
              </a:ext>
            </a:extLst>
          </p:cNvPr>
          <p:cNvGrpSpPr/>
          <p:nvPr/>
        </p:nvGrpSpPr>
        <p:grpSpPr>
          <a:xfrm>
            <a:off x="95103" y="362376"/>
            <a:ext cx="2119098" cy="923330"/>
            <a:chOff x="415177" y="362376"/>
            <a:chExt cx="2119098" cy="923330"/>
          </a:xfrm>
        </p:grpSpPr>
        <p:sp>
          <p:nvSpPr>
            <p:cNvPr id="367" name="CaixaDeTexto 366">
              <a:extLst>
                <a:ext uri="{FF2B5EF4-FFF2-40B4-BE49-F238E27FC236}">
                  <a16:creationId xmlns:a16="http://schemas.microsoft.com/office/drawing/2014/main" id="{7CAED163-39D4-1BDA-D5A5-4EFB0E433306}"/>
                </a:ext>
              </a:extLst>
            </p:cNvPr>
            <p:cNvSpPr txBox="1"/>
            <p:nvPr/>
          </p:nvSpPr>
          <p:spPr>
            <a:xfrm>
              <a:off x="415177" y="362376"/>
              <a:ext cx="163638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/>
                <a:t>Entidades:</a:t>
              </a:r>
            </a:p>
            <a:p>
              <a:r>
                <a:rPr lang="pt-BR" dirty="0"/>
                <a:t>Gestante</a:t>
              </a:r>
            </a:p>
            <a:p>
              <a:r>
                <a:rPr lang="pt-BR" dirty="0"/>
                <a:t>Recém-nascido</a:t>
              </a:r>
            </a:p>
          </p:txBody>
        </p:sp>
        <p:cxnSp>
          <p:nvCxnSpPr>
            <p:cNvPr id="369" name="Conector reto 368">
              <a:extLst>
                <a:ext uri="{FF2B5EF4-FFF2-40B4-BE49-F238E27FC236}">
                  <a16:creationId xmlns:a16="http://schemas.microsoft.com/office/drawing/2014/main" id="{44080968-6483-73C4-41EF-55CC5520C282}"/>
                </a:ext>
              </a:extLst>
            </p:cNvPr>
            <p:cNvCxnSpPr/>
            <p:nvPr/>
          </p:nvCxnSpPr>
          <p:spPr>
            <a:xfrm>
              <a:off x="1458271" y="870208"/>
              <a:ext cx="51832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Conector reto 369">
              <a:extLst>
                <a:ext uri="{FF2B5EF4-FFF2-40B4-BE49-F238E27FC236}">
                  <a16:creationId xmlns:a16="http://schemas.microsoft.com/office/drawing/2014/main" id="{2DD4A8D2-8D30-5EBF-AF15-711AE6B15187}"/>
                </a:ext>
              </a:extLst>
            </p:cNvPr>
            <p:cNvCxnSpPr/>
            <p:nvPr/>
          </p:nvCxnSpPr>
          <p:spPr>
            <a:xfrm>
              <a:off x="2015954" y="1116538"/>
              <a:ext cx="518321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3" name="CaixaDeTexto 372">
            <a:extLst>
              <a:ext uri="{FF2B5EF4-FFF2-40B4-BE49-F238E27FC236}">
                <a16:creationId xmlns:a16="http://schemas.microsoft.com/office/drawing/2014/main" id="{DD41B517-A1E7-1CD3-591A-2AAFF133E9CB}"/>
              </a:ext>
            </a:extLst>
          </p:cNvPr>
          <p:cNvSpPr txBox="1"/>
          <p:nvPr/>
        </p:nvSpPr>
        <p:spPr>
          <a:xfrm>
            <a:off x="95102" y="1501288"/>
            <a:ext cx="28647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Pontos de Atribuição:</a:t>
            </a:r>
          </a:p>
          <a:p>
            <a:pPr marL="342900" indent="-342900">
              <a:buAutoNum type="arabicParenR"/>
            </a:pPr>
            <a:r>
              <a:rPr lang="pt-BR" dirty="0"/>
              <a:t>Classificação Risco</a:t>
            </a:r>
          </a:p>
          <a:p>
            <a:pPr marL="342900" indent="-342900">
              <a:buAutoNum type="arabicParenR"/>
            </a:pPr>
            <a:r>
              <a:rPr lang="pt-BR" dirty="0"/>
              <a:t>Contador de óbitos</a:t>
            </a:r>
          </a:p>
        </p:txBody>
      </p:sp>
      <p:sp>
        <p:nvSpPr>
          <p:cNvPr id="376" name="Elipse 375">
            <a:extLst>
              <a:ext uri="{FF2B5EF4-FFF2-40B4-BE49-F238E27FC236}">
                <a16:creationId xmlns:a16="http://schemas.microsoft.com/office/drawing/2014/main" id="{6B0F3410-67FB-87D8-3F2A-2142FA59A180}"/>
              </a:ext>
            </a:extLst>
          </p:cNvPr>
          <p:cNvSpPr/>
          <p:nvPr/>
        </p:nvSpPr>
        <p:spPr>
          <a:xfrm>
            <a:off x="6452227" y="3374312"/>
            <a:ext cx="74582" cy="745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700"/>
          </a:p>
        </p:txBody>
      </p:sp>
      <p:sp>
        <p:nvSpPr>
          <p:cNvPr id="377" name="CaixaDeTexto 376">
            <a:extLst>
              <a:ext uri="{FF2B5EF4-FFF2-40B4-BE49-F238E27FC236}">
                <a16:creationId xmlns:a16="http://schemas.microsoft.com/office/drawing/2014/main" id="{F9899539-742C-14D4-6F1D-143DCB588256}"/>
              </a:ext>
            </a:extLst>
          </p:cNvPr>
          <p:cNvSpPr txBox="1"/>
          <p:nvPr/>
        </p:nvSpPr>
        <p:spPr>
          <a:xfrm>
            <a:off x="6407495" y="3443703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2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2B8C90C-DCD2-DD57-C05A-C9D0A21158E6}"/>
              </a:ext>
            </a:extLst>
          </p:cNvPr>
          <p:cNvSpPr txBox="1"/>
          <p:nvPr/>
        </p:nvSpPr>
        <p:spPr>
          <a:xfrm>
            <a:off x="7526457" y="4522855"/>
            <a:ext cx="60458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/>
              <a:t>Internação</a:t>
            </a:r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69B1EFB9-A159-8D52-E1AF-C4C719639CEE}"/>
              </a:ext>
            </a:extLst>
          </p:cNvPr>
          <p:cNvSpPr/>
          <p:nvPr/>
        </p:nvSpPr>
        <p:spPr>
          <a:xfrm>
            <a:off x="3095570" y="1827984"/>
            <a:ext cx="4008235" cy="3505200"/>
          </a:xfrm>
          <a:custGeom>
            <a:avLst/>
            <a:gdLst>
              <a:gd name="connsiteX0" fmla="*/ 4008235 w 4008235"/>
              <a:gd name="connsiteY0" fmla="*/ 3505200 h 3505200"/>
              <a:gd name="connsiteX1" fmla="*/ 3903460 w 4008235"/>
              <a:gd name="connsiteY1" fmla="*/ 2705100 h 3505200"/>
              <a:gd name="connsiteX2" fmla="*/ 3493885 w 4008235"/>
              <a:gd name="connsiteY2" fmla="*/ 2333625 h 3505200"/>
              <a:gd name="connsiteX3" fmla="*/ 2503285 w 4008235"/>
              <a:gd name="connsiteY3" fmla="*/ 2276475 h 3505200"/>
              <a:gd name="connsiteX4" fmla="*/ 1665085 w 4008235"/>
              <a:gd name="connsiteY4" fmla="*/ 2162175 h 3505200"/>
              <a:gd name="connsiteX5" fmla="*/ 388735 w 4008235"/>
              <a:gd name="connsiteY5" fmla="*/ 1885950 h 3505200"/>
              <a:gd name="connsiteX6" fmla="*/ 7735 w 4008235"/>
              <a:gd name="connsiteY6" fmla="*/ 1362075 h 3505200"/>
              <a:gd name="connsiteX7" fmla="*/ 169660 w 4008235"/>
              <a:gd name="connsiteY7" fmla="*/ 0 h 350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08235" h="3505200">
                <a:moveTo>
                  <a:pt x="4008235" y="3505200"/>
                </a:moveTo>
                <a:cubicBezTo>
                  <a:pt x="3998710" y="3202781"/>
                  <a:pt x="3989185" y="2900362"/>
                  <a:pt x="3903460" y="2705100"/>
                </a:cubicBezTo>
                <a:cubicBezTo>
                  <a:pt x="3817735" y="2509838"/>
                  <a:pt x="3727247" y="2405062"/>
                  <a:pt x="3493885" y="2333625"/>
                </a:cubicBezTo>
                <a:cubicBezTo>
                  <a:pt x="3260523" y="2262188"/>
                  <a:pt x="2808085" y="2305050"/>
                  <a:pt x="2503285" y="2276475"/>
                </a:cubicBezTo>
                <a:cubicBezTo>
                  <a:pt x="2198485" y="2247900"/>
                  <a:pt x="2017510" y="2227262"/>
                  <a:pt x="1665085" y="2162175"/>
                </a:cubicBezTo>
                <a:cubicBezTo>
                  <a:pt x="1312660" y="2097087"/>
                  <a:pt x="664960" y="2019300"/>
                  <a:pt x="388735" y="1885950"/>
                </a:cubicBezTo>
                <a:cubicBezTo>
                  <a:pt x="112510" y="1752600"/>
                  <a:pt x="44247" y="1676400"/>
                  <a:pt x="7735" y="1362075"/>
                </a:cubicBezTo>
                <a:cubicBezTo>
                  <a:pt x="-28778" y="1047750"/>
                  <a:pt x="70441" y="523875"/>
                  <a:pt x="169660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5B8EBFFC-76BB-122C-A0B8-5435B6F6BD04}"/>
              </a:ext>
            </a:extLst>
          </p:cNvPr>
          <p:cNvSpPr txBox="1"/>
          <p:nvPr/>
        </p:nvSpPr>
        <p:spPr>
          <a:xfrm>
            <a:off x="7247191" y="5178816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E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CC77BC1F-094B-B272-1F7C-A8DBCE40F8BF}"/>
              </a:ext>
            </a:extLst>
          </p:cNvPr>
          <p:cNvSpPr txBox="1"/>
          <p:nvPr/>
        </p:nvSpPr>
        <p:spPr>
          <a:xfrm>
            <a:off x="9801639" y="3937880"/>
            <a:ext cx="286472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Desvios:</a:t>
            </a:r>
          </a:p>
          <a:p>
            <a:pPr marL="342900" indent="-342900">
              <a:buAutoNum type="alphaUcParenR"/>
            </a:pPr>
            <a:r>
              <a:rPr lang="pt-BR" sz="1400" dirty="0"/>
              <a:t>Atendimento concluído</a:t>
            </a:r>
          </a:p>
          <a:p>
            <a:pPr marL="342900" indent="-342900">
              <a:buAutoNum type="alphaUcParenR"/>
            </a:pPr>
            <a:r>
              <a:rPr lang="pt-BR" sz="1400" dirty="0"/>
              <a:t>Procedimento especial</a:t>
            </a:r>
          </a:p>
          <a:p>
            <a:pPr marL="342900" indent="-342900">
              <a:buAutoNum type="alphaUcParenR"/>
            </a:pPr>
            <a:r>
              <a:rPr lang="pt-BR" sz="1400" dirty="0"/>
              <a:t>Trabalho de parto</a:t>
            </a:r>
          </a:p>
          <a:p>
            <a:pPr marL="342900" indent="-342900">
              <a:buAutoNum type="alphaUcParenR"/>
            </a:pPr>
            <a:r>
              <a:rPr lang="pt-BR" sz="1400" dirty="0"/>
              <a:t>Internação externa</a:t>
            </a:r>
          </a:p>
          <a:p>
            <a:pPr marL="342900" indent="-342900">
              <a:buAutoNum type="alphaUcParenR"/>
            </a:pPr>
            <a:r>
              <a:rPr lang="pt-BR" sz="1400" dirty="0"/>
              <a:t>Exames e Observação</a:t>
            </a:r>
          </a:p>
          <a:p>
            <a:pPr marL="342900" indent="-342900">
              <a:buAutoNum type="alphaUcParenR"/>
            </a:pPr>
            <a:r>
              <a:rPr lang="pt-BR" sz="1400" dirty="0"/>
              <a:t>Procedimento Especial</a:t>
            </a:r>
          </a:p>
          <a:p>
            <a:pPr marL="342900" indent="-342900">
              <a:buAutoNum type="alphaUcParenR"/>
            </a:pPr>
            <a:r>
              <a:rPr lang="pt-BR" sz="1400" dirty="0"/>
              <a:t>Alojamento</a:t>
            </a:r>
          </a:p>
          <a:p>
            <a:pPr marL="342900" indent="-342900">
              <a:buAutoNum type="alphaUcParenR"/>
            </a:pPr>
            <a:r>
              <a:rPr lang="pt-BR" sz="1400" dirty="0"/>
              <a:t>Primeiros Cuidados RN</a:t>
            </a:r>
          </a:p>
          <a:p>
            <a:pPr marL="342900" indent="-342900">
              <a:buAutoNum type="alphaUcParenR"/>
            </a:pPr>
            <a:r>
              <a:rPr lang="pt-BR" sz="1400" dirty="0"/>
              <a:t>Cuidados Progressivos</a:t>
            </a:r>
          </a:p>
        </p:txBody>
      </p:sp>
      <p:sp>
        <p:nvSpPr>
          <p:cNvPr id="43" name="Forma Livre: Forma 42">
            <a:extLst>
              <a:ext uri="{FF2B5EF4-FFF2-40B4-BE49-F238E27FC236}">
                <a16:creationId xmlns:a16="http://schemas.microsoft.com/office/drawing/2014/main" id="{2B80AD3D-E880-D514-28AE-8306B7C7065D}"/>
              </a:ext>
            </a:extLst>
          </p:cNvPr>
          <p:cNvSpPr/>
          <p:nvPr/>
        </p:nvSpPr>
        <p:spPr>
          <a:xfrm>
            <a:off x="2837932" y="475643"/>
            <a:ext cx="4243352" cy="4872534"/>
          </a:xfrm>
          <a:custGeom>
            <a:avLst/>
            <a:gdLst>
              <a:gd name="connsiteX0" fmla="*/ 4243352 w 4243352"/>
              <a:gd name="connsiteY0" fmla="*/ 4872534 h 4872534"/>
              <a:gd name="connsiteX1" fmla="*/ 4094496 w 4243352"/>
              <a:gd name="connsiteY1" fmla="*/ 4511027 h 4872534"/>
              <a:gd name="connsiteX2" fmla="*/ 3977538 w 4243352"/>
              <a:gd name="connsiteY2" fmla="*/ 4043194 h 4872534"/>
              <a:gd name="connsiteX3" fmla="*/ 3499073 w 4243352"/>
              <a:gd name="connsiteY3" fmla="*/ 3862441 h 4872534"/>
              <a:gd name="connsiteX4" fmla="*/ 2605938 w 4243352"/>
              <a:gd name="connsiteY4" fmla="*/ 3692320 h 4872534"/>
              <a:gd name="connsiteX5" fmla="*/ 1500152 w 4243352"/>
              <a:gd name="connsiteY5" fmla="*/ 3554097 h 4872534"/>
              <a:gd name="connsiteX6" fmla="*/ 723975 w 4243352"/>
              <a:gd name="connsiteY6" fmla="*/ 3511566 h 4872534"/>
              <a:gd name="connsiteX7" fmla="*/ 181715 w 4243352"/>
              <a:gd name="connsiteY7" fmla="*/ 3245752 h 4872534"/>
              <a:gd name="connsiteX8" fmla="*/ 961 w 4243352"/>
              <a:gd name="connsiteY8" fmla="*/ 2512106 h 4872534"/>
              <a:gd name="connsiteX9" fmla="*/ 128552 w 4243352"/>
              <a:gd name="connsiteY9" fmla="*/ 1587073 h 4872534"/>
              <a:gd name="connsiteX10" fmla="*/ 500691 w 4243352"/>
              <a:gd name="connsiteY10" fmla="*/ 438757 h 4872534"/>
              <a:gd name="connsiteX11" fmla="*/ 925994 w 4243352"/>
              <a:gd name="connsiteY11" fmla="*/ 55985 h 4872534"/>
              <a:gd name="connsiteX12" fmla="*/ 1797863 w 4243352"/>
              <a:gd name="connsiteY12" fmla="*/ 24087 h 4872534"/>
              <a:gd name="connsiteX13" fmla="*/ 2276328 w 4243352"/>
              <a:gd name="connsiteY13" fmla="*/ 268636 h 4872534"/>
              <a:gd name="connsiteX14" fmla="*/ 2382654 w 4243352"/>
              <a:gd name="connsiteY14" fmla="*/ 491920 h 4872534"/>
              <a:gd name="connsiteX15" fmla="*/ 2457082 w 4243352"/>
              <a:gd name="connsiteY15" fmla="*/ 513185 h 4872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43352" h="4872534">
                <a:moveTo>
                  <a:pt x="4243352" y="4872534"/>
                </a:moveTo>
                <a:cubicBezTo>
                  <a:pt x="4191075" y="4760892"/>
                  <a:pt x="4138798" y="4649250"/>
                  <a:pt x="4094496" y="4511027"/>
                </a:cubicBezTo>
                <a:cubicBezTo>
                  <a:pt x="4050194" y="4372804"/>
                  <a:pt x="4076775" y="4151292"/>
                  <a:pt x="3977538" y="4043194"/>
                </a:cubicBezTo>
                <a:cubicBezTo>
                  <a:pt x="3878301" y="3935096"/>
                  <a:pt x="3727673" y="3920920"/>
                  <a:pt x="3499073" y="3862441"/>
                </a:cubicBezTo>
                <a:cubicBezTo>
                  <a:pt x="3270473" y="3803962"/>
                  <a:pt x="2939092" y="3743711"/>
                  <a:pt x="2605938" y="3692320"/>
                </a:cubicBezTo>
                <a:cubicBezTo>
                  <a:pt x="2272784" y="3640929"/>
                  <a:pt x="1813812" y="3584223"/>
                  <a:pt x="1500152" y="3554097"/>
                </a:cubicBezTo>
                <a:cubicBezTo>
                  <a:pt x="1186492" y="3523971"/>
                  <a:pt x="943715" y="3562957"/>
                  <a:pt x="723975" y="3511566"/>
                </a:cubicBezTo>
                <a:cubicBezTo>
                  <a:pt x="504235" y="3460175"/>
                  <a:pt x="302217" y="3412329"/>
                  <a:pt x="181715" y="3245752"/>
                </a:cubicBezTo>
                <a:cubicBezTo>
                  <a:pt x="61213" y="3079175"/>
                  <a:pt x="9821" y="2788552"/>
                  <a:pt x="961" y="2512106"/>
                </a:cubicBezTo>
                <a:cubicBezTo>
                  <a:pt x="-7899" y="2235660"/>
                  <a:pt x="45264" y="1932631"/>
                  <a:pt x="128552" y="1587073"/>
                </a:cubicBezTo>
                <a:cubicBezTo>
                  <a:pt x="211840" y="1241515"/>
                  <a:pt x="367784" y="693938"/>
                  <a:pt x="500691" y="438757"/>
                </a:cubicBezTo>
                <a:cubicBezTo>
                  <a:pt x="633598" y="183576"/>
                  <a:pt x="709799" y="125097"/>
                  <a:pt x="925994" y="55985"/>
                </a:cubicBezTo>
                <a:cubicBezTo>
                  <a:pt x="1142189" y="-13127"/>
                  <a:pt x="1572807" y="-11355"/>
                  <a:pt x="1797863" y="24087"/>
                </a:cubicBezTo>
                <a:cubicBezTo>
                  <a:pt x="2022919" y="59529"/>
                  <a:pt x="2178863" y="190664"/>
                  <a:pt x="2276328" y="268636"/>
                </a:cubicBezTo>
                <a:cubicBezTo>
                  <a:pt x="2373793" y="346608"/>
                  <a:pt x="2352528" y="451162"/>
                  <a:pt x="2382654" y="491920"/>
                </a:cubicBezTo>
                <a:cubicBezTo>
                  <a:pt x="2412780" y="532678"/>
                  <a:pt x="2434931" y="522931"/>
                  <a:pt x="2457082" y="513185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5B28A956-4C57-2ED8-8E31-89DEC14E88EE}"/>
              </a:ext>
            </a:extLst>
          </p:cNvPr>
          <p:cNvCxnSpPr/>
          <p:nvPr/>
        </p:nvCxnSpPr>
        <p:spPr>
          <a:xfrm>
            <a:off x="5292058" y="991147"/>
            <a:ext cx="9643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Agrupar 2">
            <a:extLst>
              <a:ext uri="{FF2B5EF4-FFF2-40B4-BE49-F238E27FC236}">
                <a16:creationId xmlns:a16="http://schemas.microsoft.com/office/drawing/2014/main" id="{777433D2-B1AA-3F5C-3395-8D92B1DDAAA7}"/>
              </a:ext>
            </a:extLst>
          </p:cNvPr>
          <p:cNvGrpSpPr/>
          <p:nvPr/>
        </p:nvGrpSpPr>
        <p:grpSpPr>
          <a:xfrm>
            <a:off x="5665036" y="1386634"/>
            <a:ext cx="390073" cy="323105"/>
            <a:chOff x="616635" y="2771335"/>
            <a:chExt cx="1324707" cy="1097280"/>
          </a:xfrm>
        </p:grpSpPr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05496C29-79B2-EAB3-1F28-09D05F4A5328}"/>
                </a:ext>
              </a:extLst>
            </p:cNvPr>
            <p:cNvSpPr/>
            <p:nvPr/>
          </p:nvSpPr>
          <p:spPr>
            <a:xfrm>
              <a:off x="616635" y="2771335"/>
              <a:ext cx="1097280" cy="10972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/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D5D3D2B1-A34E-B7BE-8CE1-DB72489852F6}"/>
                </a:ext>
              </a:extLst>
            </p:cNvPr>
            <p:cNvSpPr/>
            <p:nvPr/>
          </p:nvSpPr>
          <p:spPr>
            <a:xfrm>
              <a:off x="844062" y="2771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015773B3-103A-709C-D80F-FAB34C66F629}"/>
                </a:ext>
              </a:extLst>
            </p:cNvPr>
            <p:cNvSpPr txBox="1"/>
            <p:nvPr/>
          </p:nvSpPr>
          <p:spPr>
            <a:xfrm>
              <a:off x="872663" y="3005605"/>
              <a:ext cx="1025794" cy="731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400" dirty="0"/>
                <a:t>Óbito</a:t>
              </a:r>
            </a:p>
            <a:p>
              <a:pPr algn="ctr"/>
              <a:r>
                <a:rPr lang="pt-BR" sz="400" dirty="0"/>
                <a:t>Mãe</a:t>
              </a:r>
            </a:p>
          </p:txBody>
        </p:sp>
      </p:grp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1A4F53C2-C647-2EE3-07C0-39249CCE958B}"/>
              </a:ext>
            </a:extLst>
          </p:cNvPr>
          <p:cNvSpPr/>
          <p:nvPr/>
        </p:nvSpPr>
        <p:spPr>
          <a:xfrm>
            <a:off x="4945039" y="1559044"/>
            <a:ext cx="655092" cy="269756"/>
          </a:xfrm>
          <a:custGeom>
            <a:avLst/>
            <a:gdLst>
              <a:gd name="connsiteX0" fmla="*/ 0 w 655092"/>
              <a:gd name="connsiteY0" fmla="*/ 269756 h 269756"/>
              <a:gd name="connsiteX1" fmla="*/ 313898 w 655092"/>
              <a:gd name="connsiteY1" fmla="*/ 156025 h 269756"/>
              <a:gd name="connsiteX2" fmla="*/ 464024 w 655092"/>
              <a:gd name="connsiteY2" fmla="*/ 24096 h 269756"/>
              <a:gd name="connsiteX3" fmla="*/ 655092 w 655092"/>
              <a:gd name="connsiteY3" fmla="*/ 5899 h 269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5092" h="269756">
                <a:moveTo>
                  <a:pt x="0" y="269756"/>
                </a:moveTo>
                <a:cubicBezTo>
                  <a:pt x="118280" y="233362"/>
                  <a:pt x="236561" y="196968"/>
                  <a:pt x="313898" y="156025"/>
                </a:cubicBezTo>
                <a:cubicBezTo>
                  <a:pt x="391235" y="115082"/>
                  <a:pt x="407158" y="49117"/>
                  <a:pt x="464024" y="24096"/>
                </a:cubicBezTo>
                <a:cubicBezTo>
                  <a:pt x="520890" y="-925"/>
                  <a:pt x="629313" y="-5474"/>
                  <a:pt x="655092" y="5899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C45A9718-88ED-68CB-9ECD-92FCBAEA594F}"/>
              </a:ext>
            </a:extLst>
          </p:cNvPr>
          <p:cNvCxnSpPr>
            <a:cxnSpLocks/>
            <a:stCxn id="12" idx="3"/>
            <a:endCxn id="8" idx="2"/>
          </p:cNvCxnSpPr>
          <p:nvPr/>
        </p:nvCxnSpPr>
        <p:spPr>
          <a:xfrm flipV="1">
            <a:off x="5600131" y="1548187"/>
            <a:ext cx="64905" cy="16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CC40B00-D2B0-E153-D94D-C3EBAFB037F4}"/>
              </a:ext>
            </a:extLst>
          </p:cNvPr>
          <p:cNvSpPr txBox="1"/>
          <p:nvPr/>
        </p:nvSpPr>
        <p:spPr>
          <a:xfrm>
            <a:off x="905629" y="4935797"/>
            <a:ext cx="75651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Exp (1/36) min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EB30D6-91E7-71FF-0794-C3D3234DB5B5}"/>
              </a:ext>
            </a:extLst>
          </p:cNvPr>
          <p:cNvSpPr txBox="1"/>
          <p:nvPr/>
        </p:nvSpPr>
        <p:spPr>
          <a:xfrm>
            <a:off x="2533392" y="4935797"/>
            <a:ext cx="75651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T (4, 5, 10) min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6B6F78-62C6-EB04-3188-6A61E7FF3368}"/>
              </a:ext>
            </a:extLst>
          </p:cNvPr>
          <p:cNvSpPr txBox="1"/>
          <p:nvPr/>
        </p:nvSpPr>
        <p:spPr>
          <a:xfrm>
            <a:off x="4165382" y="4949737"/>
            <a:ext cx="75651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T (2, 3, 10) min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96773E-B04D-875E-0696-E339CB1CB5AB}"/>
              </a:ext>
            </a:extLst>
          </p:cNvPr>
          <p:cNvSpPr txBox="1"/>
          <p:nvPr/>
        </p:nvSpPr>
        <p:spPr>
          <a:xfrm>
            <a:off x="6003804" y="5069251"/>
            <a:ext cx="87446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T (12, 15, 20) min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7C3EA9-F5B4-A8C9-1A7C-11EF895A0A1A}"/>
              </a:ext>
            </a:extLst>
          </p:cNvPr>
          <p:cNvSpPr txBox="1"/>
          <p:nvPr/>
        </p:nvSpPr>
        <p:spPr>
          <a:xfrm>
            <a:off x="8186346" y="4904573"/>
            <a:ext cx="95755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T (120, 180, 240) min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A9EC83-35CA-B3A9-DC11-31D34AFDECB9}"/>
              </a:ext>
            </a:extLst>
          </p:cNvPr>
          <p:cNvSpPr txBox="1"/>
          <p:nvPr/>
        </p:nvSpPr>
        <p:spPr>
          <a:xfrm>
            <a:off x="8606572" y="2251238"/>
            <a:ext cx="95755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T (60, 90, 120) min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2ADB788-7375-FD72-2964-0D8EF54A163B}"/>
              </a:ext>
            </a:extLst>
          </p:cNvPr>
          <p:cNvSpPr txBox="1"/>
          <p:nvPr/>
        </p:nvSpPr>
        <p:spPr>
          <a:xfrm>
            <a:off x="4917166" y="3211189"/>
            <a:ext cx="1028702" cy="191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/>
              <a:t>T (9000, 10560, 12000) min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922E2E-5CAC-856C-BD2A-6985BA9B66FA}"/>
              </a:ext>
            </a:extLst>
          </p:cNvPr>
          <p:cNvSpPr txBox="1"/>
          <p:nvPr/>
        </p:nvSpPr>
        <p:spPr>
          <a:xfrm>
            <a:off x="5794592" y="1878488"/>
            <a:ext cx="79889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/>
              <a:t>T (60,90,120) min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59A76B-8CB3-763D-16AA-0D2565F1DE6B}"/>
              </a:ext>
            </a:extLst>
          </p:cNvPr>
          <p:cNvSpPr txBox="1"/>
          <p:nvPr/>
        </p:nvSpPr>
        <p:spPr>
          <a:xfrm>
            <a:off x="6188152" y="766521"/>
            <a:ext cx="753405" cy="186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/>
              <a:t>T (30, 40, 60) min</a:t>
            </a:r>
          </a:p>
        </p:txBody>
      </p:sp>
      <p:grpSp>
        <p:nvGrpSpPr>
          <p:cNvPr id="27" name="Agrupar 248">
            <a:extLst>
              <a:ext uri="{FF2B5EF4-FFF2-40B4-BE49-F238E27FC236}">
                <a16:creationId xmlns:a16="http://schemas.microsoft.com/office/drawing/2014/main" id="{6622CE30-97CC-5634-32C9-977F3E28A6C6}"/>
              </a:ext>
            </a:extLst>
          </p:cNvPr>
          <p:cNvGrpSpPr/>
          <p:nvPr/>
        </p:nvGrpSpPr>
        <p:grpSpPr>
          <a:xfrm>
            <a:off x="8698613" y="3061723"/>
            <a:ext cx="573593" cy="502229"/>
            <a:chOff x="4449493" y="3019458"/>
            <a:chExt cx="1253198" cy="1097280"/>
          </a:xfrm>
        </p:grpSpPr>
        <p:sp>
          <p:nvSpPr>
            <p:cNvPr id="28" name="Elipse 249">
              <a:extLst>
                <a:ext uri="{FF2B5EF4-FFF2-40B4-BE49-F238E27FC236}">
                  <a16:creationId xmlns:a16="http://schemas.microsoft.com/office/drawing/2014/main" id="{A5E4E151-106F-5337-C952-2D8AD8C868E0}"/>
                </a:ext>
              </a:extLst>
            </p:cNvPr>
            <p:cNvSpPr/>
            <p:nvPr/>
          </p:nvSpPr>
          <p:spPr>
            <a:xfrm>
              <a:off x="4537323" y="3019458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6" name="CaixaDeTexto 250">
              <a:extLst>
                <a:ext uri="{FF2B5EF4-FFF2-40B4-BE49-F238E27FC236}">
                  <a16:creationId xmlns:a16="http://schemas.microsoft.com/office/drawing/2014/main" id="{BBD3B550-F53F-48CC-3B50-9ED8DCA3E5F7}"/>
                </a:ext>
              </a:extLst>
            </p:cNvPr>
            <p:cNvSpPr txBox="1"/>
            <p:nvPr/>
          </p:nvSpPr>
          <p:spPr>
            <a:xfrm>
              <a:off x="4449493" y="3254366"/>
              <a:ext cx="1253198" cy="537949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rgbClr val="7030A0"/>
                  </a:solidFill>
                </a:rPr>
                <a:t>Técnicos BO</a:t>
              </a:r>
            </a:p>
            <a:p>
              <a:pPr algn="ctr"/>
              <a:r>
                <a:rPr lang="pt-BR" sz="500" dirty="0">
                  <a:solidFill>
                    <a:srgbClr val="7030A0"/>
                  </a:solidFill>
                </a:rPr>
                <a:t>Disponível</a:t>
              </a:r>
            </a:p>
          </p:txBody>
        </p:sp>
      </p:grpSp>
      <p:cxnSp>
        <p:nvCxnSpPr>
          <p:cNvPr id="38" name="Conector: Curvo 251">
            <a:extLst>
              <a:ext uri="{FF2B5EF4-FFF2-40B4-BE49-F238E27FC236}">
                <a16:creationId xmlns:a16="http://schemas.microsoft.com/office/drawing/2014/main" id="{2876C321-6BF2-C947-0A78-DBB58F6CF415}"/>
              </a:ext>
            </a:extLst>
          </p:cNvPr>
          <p:cNvCxnSpPr>
            <a:cxnSpLocks/>
            <a:stCxn id="322" idx="1"/>
            <a:endCxn id="36" idx="1"/>
          </p:cNvCxnSpPr>
          <p:nvPr/>
        </p:nvCxnSpPr>
        <p:spPr>
          <a:xfrm rot="10800000" flipV="1">
            <a:off x="8698614" y="2686228"/>
            <a:ext cx="4885" cy="606124"/>
          </a:xfrm>
          <a:prstGeom prst="curvedConnector3">
            <a:avLst>
              <a:gd name="adj1" fmla="val 4779632"/>
            </a:avLst>
          </a:prstGeom>
          <a:ln w="19050">
            <a:solidFill>
              <a:srgbClr val="7030A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: Curvo 252">
            <a:extLst>
              <a:ext uri="{FF2B5EF4-FFF2-40B4-BE49-F238E27FC236}">
                <a16:creationId xmlns:a16="http://schemas.microsoft.com/office/drawing/2014/main" id="{0CCE3C6F-8AAF-1150-F63A-6C73964FB27E}"/>
              </a:ext>
            </a:extLst>
          </p:cNvPr>
          <p:cNvCxnSpPr>
            <a:cxnSpLocks/>
            <a:stCxn id="36" idx="3"/>
            <a:endCxn id="322" idx="3"/>
          </p:cNvCxnSpPr>
          <p:nvPr/>
        </p:nvCxnSpPr>
        <p:spPr>
          <a:xfrm flipV="1">
            <a:off x="9272206" y="2686228"/>
            <a:ext cx="113808" cy="606124"/>
          </a:xfrm>
          <a:prstGeom prst="curvedConnector3">
            <a:avLst>
              <a:gd name="adj1" fmla="val 300865"/>
            </a:avLst>
          </a:prstGeom>
          <a:ln w="19050">
            <a:solidFill>
              <a:srgbClr val="7030A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9B784953-D8E7-C3E9-7049-BABDB752061D}"/>
              </a:ext>
            </a:extLst>
          </p:cNvPr>
          <p:cNvSpPr txBox="1"/>
          <p:nvPr/>
        </p:nvSpPr>
        <p:spPr>
          <a:xfrm>
            <a:off x="8218063" y="609583"/>
            <a:ext cx="9575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/>
              <a:t>T (1200, 1440, 1680) min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867411-DF4D-DFDF-D3D3-DD90A52F8D79}"/>
              </a:ext>
            </a:extLst>
          </p:cNvPr>
          <p:cNvSpPr txBox="1"/>
          <p:nvPr/>
        </p:nvSpPr>
        <p:spPr>
          <a:xfrm>
            <a:off x="8193845" y="738115"/>
            <a:ext cx="102930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/>
              <a:t>T (2640, 2880,  3120) min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C3FF843-6F31-7A09-D045-5A18491AAEB5}"/>
              </a:ext>
            </a:extLst>
          </p:cNvPr>
          <p:cNvSpPr txBox="1"/>
          <p:nvPr/>
        </p:nvSpPr>
        <p:spPr>
          <a:xfrm>
            <a:off x="4222840" y="1343960"/>
            <a:ext cx="9575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/>
              <a:t>T (45, 60, 75) min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219A703-850B-CCBF-1F13-C6B2080041B5}"/>
              </a:ext>
            </a:extLst>
          </p:cNvPr>
          <p:cNvSpPr txBox="1"/>
          <p:nvPr/>
        </p:nvSpPr>
        <p:spPr>
          <a:xfrm>
            <a:off x="4212927" y="1479450"/>
            <a:ext cx="9575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/>
              <a:t>T (75, 90, 105) min</a:t>
            </a:r>
          </a:p>
        </p:txBody>
      </p:sp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9F10F9F3-A5B6-2915-8374-0C9EA5CA716D}"/>
              </a:ext>
            </a:extLst>
          </p:cNvPr>
          <p:cNvSpPr/>
          <p:nvPr/>
        </p:nvSpPr>
        <p:spPr>
          <a:xfrm>
            <a:off x="6940550" y="26085"/>
            <a:ext cx="4406900" cy="1294715"/>
          </a:xfrm>
          <a:custGeom>
            <a:avLst/>
            <a:gdLst>
              <a:gd name="connsiteX0" fmla="*/ 0 w 4406900"/>
              <a:gd name="connsiteY0" fmla="*/ 1053415 h 1294715"/>
              <a:gd name="connsiteX1" fmla="*/ 361950 w 4406900"/>
              <a:gd name="connsiteY1" fmla="*/ 862915 h 1294715"/>
              <a:gd name="connsiteX2" fmla="*/ 641350 w 4406900"/>
              <a:gd name="connsiteY2" fmla="*/ 310465 h 1294715"/>
              <a:gd name="connsiteX3" fmla="*/ 1327150 w 4406900"/>
              <a:gd name="connsiteY3" fmla="*/ 100915 h 1294715"/>
              <a:gd name="connsiteX4" fmla="*/ 1835150 w 4406900"/>
              <a:gd name="connsiteY4" fmla="*/ 18365 h 1294715"/>
              <a:gd name="connsiteX5" fmla="*/ 2355850 w 4406900"/>
              <a:gd name="connsiteY5" fmla="*/ 24715 h 1294715"/>
              <a:gd name="connsiteX6" fmla="*/ 3092450 w 4406900"/>
              <a:gd name="connsiteY6" fmla="*/ 278715 h 1294715"/>
              <a:gd name="connsiteX7" fmla="*/ 4406900 w 4406900"/>
              <a:gd name="connsiteY7" fmla="*/ 1294715 h 1294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6900" h="1294715">
                <a:moveTo>
                  <a:pt x="0" y="1053415"/>
                </a:moveTo>
                <a:cubicBezTo>
                  <a:pt x="127529" y="1020077"/>
                  <a:pt x="255058" y="986740"/>
                  <a:pt x="361950" y="862915"/>
                </a:cubicBezTo>
                <a:cubicBezTo>
                  <a:pt x="468842" y="739090"/>
                  <a:pt x="480483" y="437465"/>
                  <a:pt x="641350" y="310465"/>
                </a:cubicBezTo>
                <a:cubicBezTo>
                  <a:pt x="802217" y="183465"/>
                  <a:pt x="1128183" y="149598"/>
                  <a:pt x="1327150" y="100915"/>
                </a:cubicBezTo>
                <a:cubicBezTo>
                  <a:pt x="1526117" y="52232"/>
                  <a:pt x="1663700" y="31065"/>
                  <a:pt x="1835150" y="18365"/>
                </a:cubicBezTo>
                <a:cubicBezTo>
                  <a:pt x="2006600" y="5665"/>
                  <a:pt x="2146300" y="-18677"/>
                  <a:pt x="2355850" y="24715"/>
                </a:cubicBezTo>
                <a:cubicBezTo>
                  <a:pt x="2565400" y="68107"/>
                  <a:pt x="2750608" y="67048"/>
                  <a:pt x="3092450" y="278715"/>
                </a:cubicBezTo>
                <a:cubicBezTo>
                  <a:pt x="3434292" y="490382"/>
                  <a:pt x="4201583" y="1111623"/>
                  <a:pt x="4406900" y="1294715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1AE6BCDD-8B64-CAD7-7F08-C86E50B9B34A}"/>
              </a:ext>
            </a:extLst>
          </p:cNvPr>
          <p:cNvCxnSpPr>
            <a:cxnSpLocks/>
          </p:cNvCxnSpPr>
          <p:nvPr/>
        </p:nvCxnSpPr>
        <p:spPr>
          <a:xfrm>
            <a:off x="11233150" y="1224693"/>
            <a:ext cx="248108" cy="1952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6596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FB43B2B-89B7-16F4-624F-D0E7E72A1C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352" y="1145219"/>
            <a:ext cx="9891296" cy="423912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531A47-6FDD-6247-3324-F62DD3DED73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Período de </a:t>
            </a:r>
            <a:r>
              <a:rPr lang="pt-B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warm-up</a:t>
            </a:r>
            <a:endParaRPr lang="pt-BR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031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596F75-615B-8E4D-D5B4-7075075C5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Informações Coletadas na Visita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994823-CCB6-0AF6-F429-C422CE272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 média, chegam 40 pacientes por dia na Maternidade;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São realizados cerca de 165 partos por mês (teste de Aderência);</a:t>
            </a:r>
            <a:endParaRPr lang="pt-BR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76% são parto normal e 24% são cesáreas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mãe permanece no Bloco Obstétrico por até 2h após o parto.</a:t>
            </a:r>
          </a:p>
          <a:p>
            <a:pPr marL="0" indent="0">
              <a:buNone/>
            </a:pPr>
            <a:endParaRPr lang="pt-BR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Capacidades: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 Alojamentos Conjuntos;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Salas de Parto;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Equipe BO: 1 enfermeiro assistencial, 1 enfermeiro obstétrico e 6 técnicos de enfermagem;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Equipe neonatal: 2 enfermeiros e 8 técnicos de enfermagem;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Equipe médica: 3 obstetras, 3 pediatras e 1 anestesista.</a:t>
            </a:r>
          </a:p>
          <a:p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036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D57DE-728E-1089-AE5A-A5EF6E9EB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2EED29-1913-C964-9AD6-B5F27E367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Dados 2025 – Partos e Procedimentos Especiais</a:t>
            </a: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AD9E352C-91D0-AE80-DA87-88D582D1B085}"/>
              </a:ext>
            </a:extLst>
          </p:cNvPr>
          <p:cNvGraphicFramePr>
            <a:graphicFrameLocks/>
          </p:cNvGraphicFramePr>
          <p:nvPr/>
        </p:nvGraphicFramePr>
        <p:xfrm>
          <a:off x="2104557" y="1690688"/>
          <a:ext cx="7982886" cy="47897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1943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25C7-7588-7C59-F39B-DDE45BB35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EF6C9D-E6F5-2AD3-4042-BE62D0617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 de Aderência – Número de Partos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FAB5D7F-3101-03BF-38D7-1DC8A678A4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40" y="1690688"/>
            <a:ext cx="9875520" cy="479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15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747FE-155E-4FB0-43E6-44A23DFFC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FCAF1-F555-C79A-0274-8A55D9BAE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 de Aderência – Número de Procedimentos Especiais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690648-8EA8-91DF-154B-9B52999C65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856" y="1690688"/>
            <a:ext cx="9872287" cy="47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78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0EE59-6121-68BC-2783-0777F925D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C5469F-6502-6E43-9A70-B3BC7207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 de Friedman: Simulação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7A1B259-9140-49B8-7C9D-4831EBFD7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401" y="1690688"/>
            <a:ext cx="3853092" cy="4676403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465855A8-692E-C948-0A93-309043163B3D}"/>
              </a:ext>
            </a:extLst>
          </p:cNvPr>
          <p:cNvGrpSpPr/>
          <p:nvPr/>
        </p:nvGrpSpPr>
        <p:grpSpPr>
          <a:xfrm>
            <a:off x="6249508" y="1697584"/>
            <a:ext cx="3812796" cy="1731415"/>
            <a:chOff x="6249508" y="1697584"/>
            <a:chExt cx="3812796" cy="1731415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C5C8BE46-1DD9-9E60-95B2-735132A994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9508" y="1697584"/>
              <a:ext cx="3812796" cy="1731415"/>
            </a:xfrm>
            <a:prstGeom prst="rect">
              <a:avLst/>
            </a:prstGeom>
          </p:spPr>
        </p:pic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884A729E-CF4D-D806-F12B-755FE65AF4B9}"/>
                </a:ext>
              </a:extLst>
            </p:cNvPr>
            <p:cNvSpPr/>
            <p:nvPr/>
          </p:nvSpPr>
          <p:spPr>
            <a:xfrm>
              <a:off x="8862645" y="2686929"/>
              <a:ext cx="829994" cy="46423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D10B8206-21A2-4F5F-2316-EEDA4EE1DE1B}"/>
                  </a:ext>
                </a:extLst>
              </p:cNvPr>
              <p:cNvSpPr txBox="1"/>
              <p:nvPr/>
            </p:nvSpPr>
            <p:spPr>
              <a:xfrm>
                <a:off x="6597748" y="4065563"/>
                <a:ext cx="385309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dirty="0"/>
                  <a:t>: Não há diferença estatisticamente significativa entre as amostras</a:t>
                </a:r>
              </a:p>
              <a:p>
                <a:endParaRPr lang="pt-BR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b="0" i="1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pt-BR" b="0" i="1" smtClean="0">
                        <a:latin typeface="Cambria Math" panose="02040503050406030204" pitchFamily="18" charset="0"/>
                      </a:rPr>
                      <m:t>valor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&gt;0.05</m:t>
                    </m:r>
                  </m:oMath>
                </a14:m>
                <a:r>
                  <a:rPr lang="pt-BR" dirty="0"/>
                  <a:t>: Não se rejeita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D10B8206-21A2-4F5F-2316-EEDA4EE1D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7748" y="4065563"/>
                <a:ext cx="3853092" cy="1200329"/>
              </a:xfrm>
              <a:prstGeom prst="rect">
                <a:avLst/>
              </a:prstGeom>
              <a:blipFill>
                <a:blip r:embed="rId4"/>
                <a:stretch>
                  <a:fillRect l="-1266" t="-3046" b="-71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57022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396</Words>
  <Application>Microsoft Office PowerPoint</Application>
  <PresentationFormat>Widescreen</PresentationFormat>
  <Paragraphs>138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Times New Roman</vt:lpstr>
      <vt:lpstr>Tema do Office</vt:lpstr>
      <vt:lpstr>Apresentação do PowerPoint</vt:lpstr>
      <vt:lpstr>Apresentação do PowerPoint</vt:lpstr>
      <vt:lpstr>Informações Coletadas na Visita</vt:lpstr>
      <vt:lpstr>Dados 2025 – Partos e Procedimentos Especiais</vt:lpstr>
      <vt:lpstr>Teste de Aderência – Número de Partos</vt:lpstr>
      <vt:lpstr>Teste de Aderência – Número de Procedimentos Especiais</vt:lpstr>
      <vt:lpstr>Teste de Friedman: Simulação x Real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MARCOS DE MORAIS NASCIMENTO</dc:creator>
  <cp:lastModifiedBy>GABRIEL MARCOS DE MORAIS NASCIMENTO</cp:lastModifiedBy>
  <cp:revision>69</cp:revision>
  <dcterms:created xsi:type="dcterms:W3CDTF">2025-09-10T01:20:06Z</dcterms:created>
  <dcterms:modified xsi:type="dcterms:W3CDTF">2025-11-13T02:51:29Z</dcterms:modified>
</cp:coreProperties>
</file>