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</p:sldIdLst>
  <p:sldSz cx="8279765" cy="683958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7" autoAdjust="0"/>
    <p:restoredTop sz="94061" autoAdjust="0"/>
  </p:normalViewPr>
  <p:slideViewPr>
    <p:cSldViewPr snapToGrid="0">
      <p:cViewPr varScale="1">
        <p:scale>
          <a:sx n="68" d="100"/>
          <a:sy n="68" d="100"/>
        </p:scale>
        <p:origin x="6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0B395-2DD1-4E0C-AD7F-C33E717CE14B}" type="datetimeFigureOut">
              <a:rPr lang="pt-BR" smtClean="0"/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561097" y="1143000"/>
            <a:ext cx="373580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66332-D461-43D9-A1C1-8FF0295CCEC5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35316" y="1119893"/>
            <a:ext cx="6211893" cy="2382346"/>
          </a:xfrm>
        </p:spPr>
        <p:txBody>
          <a:bodyPr anchor="b"/>
          <a:lstStyle>
            <a:lvl1pPr algn="ctr">
              <a:defRPr sz="543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35316" y="3594112"/>
            <a:ext cx="6211893" cy="1652119"/>
          </a:xfrm>
        </p:spPr>
        <p:txBody>
          <a:bodyPr/>
          <a:lstStyle>
            <a:lvl1pPr marL="0" indent="0" algn="ctr">
              <a:buNone/>
              <a:defRPr sz="2175"/>
            </a:lvl1pPr>
            <a:lvl2pPr marL="414655" indent="0" algn="ctr">
              <a:buNone/>
              <a:defRPr sz="1810"/>
            </a:lvl2pPr>
            <a:lvl3pPr marL="828040" indent="0" algn="ctr">
              <a:buNone/>
              <a:defRPr sz="1625"/>
            </a:lvl3pPr>
            <a:lvl4pPr marL="1242060" indent="0" algn="ctr">
              <a:buNone/>
              <a:defRPr sz="1450"/>
            </a:lvl4pPr>
            <a:lvl5pPr marL="1655445" indent="0" algn="ctr">
              <a:buNone/>
              <a:defRPr sz="1450"/>
            </a:lvl5pPr>
            <a:lvl6pPr marL="2070100" indent="0" algn="ctr">
              <a:buNone/>
              <a:defRPr sz="1450"/>
            </a:lvl6pPr>
            <a:lvl7pPr marL="2485390" indent="0" algn="ctr">
              <a:buNone/>
              <a:defRPr sz="1450"/>
            </a:lvl7pPr>
            <a:lvl8pPr marL="2899410" indent="0" algn="ctr">
              <a:buNone/>
              <a:defRPr sz="1450"/>
            </a:lvl8pPr>
            <a:lvl9pPr marL="3313430" indent="0" algn="ctr">
              <a:buNone/>
              <a:defRPr sz="1450"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65110" y="1705976"/>
            <a:ext cx="7143677" cy="2846460"/>
          </a:xfrm>
        </p:spPr>
        <p:txBody>
          <a:bodyPr anchor="b"/>
          <a:lstStyle>
            <a:lvl1pPr>
              <a:defRPr sz="543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65110" y="4579364"/>
            <a:ext cx="7143677" cy="1496886"/>
          </a:xfrm>
        </p:spPr>
        <p:txBody>
          <a:bodyPr/>
          <a:lstStyle>
            <a:lvl1pPr marL="0" indent="0">
              <a:buNone/>
              <a:defRPr sz="2175">
                <a:solidFill>
                  <a:schemeClr val="tx1">
                    <a:tint val="82000"/>
                  </a:schemeClr>
                </a:solidFill>
              </a:defRPr>
            </a:lvl1pPr>
            <a:lvl2pPr marL="414655" indent="0">
              <a:buNone/>
              <a:defRPr sz="1810">
                <a:solidFill>
                  <a:schemeClr val="tx1">
                    <a:tint val="82000"/>
                  </a:schemeClr>
                </a:solidFill>
              </a:defRPr>
            </a:lvl2pPr>
            <a:lvl3pPr marL="828040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3pPr>
            <a:lvl4pPr marL="1242060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4pPr>
            <a:lvl5pPr marL="1655445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5pPr>
            <a:lvl6pPr marL="2070100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6pPr>
            <a:lvl7pPr marL="2485390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7pPr>
            <a:lvl8pPr marL="2899410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8pPr>
            <a:lvl9pPr marL="3313430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69424" y="1821608"/>
            <a:ext cx="3520073" cy="43417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193028" y="1821608"/>
            <a:ext cx="3520073" cy="43417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70502" y="364322"/>
            <a:ext cx="7143677" cy="132264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70502" y="1677464"/>
            <a:ext cx="3503896" cy="822099"/>
          </a:xfrm>
        </p:spPr>
        <p:txBody>
          <a:bodyPr anchor="b"/>
          <a:lstStyle>
            <a:lvl1pPr marL="0" indent="0">
              <a:buNone/>
              <a:defRPr sz="2175" b="1"/>
            </a:lvl1pPr>
            <a:lvl2pPr marL="414655" indent="0">
              <a:buNone/>
              <a:defRPr sz="1810" b="1"/>
            </a:lvl2pPr>
            <a:lvl3pPr marL="828040" indent="0">
              <a:buNone/>
              <a:defRPr sz="1625" b="1"/>
            </a:lvl3pPr>
            <a:lvl4pPr marL="1242060" indent="0">
              <a:buNone/>
              <a:defRPr sz="1450" b="1"/>
            </a:lvl4pPr>
            <a:lvl5pPr marL="1655445" indent="0">
              <a:buNone/>
              <a:defRPr sz="1450" b="1"/>
            </a:lvl5pPr>
            <a:lvl6pPr marL="2070100" indent="0">
              <a:buNone/>
              <a:defRPr sz="1450" b="1"/>
            </a:lvl6pPr>
            <a:lvl7pPr marL="2485390" indent="0">
              <a:buNone/>
              <a:defRPr sz="1450" b="1"/>
            </a:lvl7pPr>
            <a:lvl8pPr marL="2899410" indent="0">
              <a:buNone/>
              <a:defRPr sz="1450" b="1"/>
            </a:lvl8pPr>
            <a:lvl9pPr marL="3313430" indent="0">
              <a:buNone/>
              <a:defRPr sz="145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70502" y="2499563"/>
            <a:ext cx="3503896" cy="36764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193028" y="1677464"/>
            <a:ext cx="3521152" cy="822099"/>
          </a:xfrm>
        </p:spPr>
        <p:txBody>
          <a:bodyPr anchor="b"/>
          <a:lstStyle>
            <a:lvl1pPr marL="0" indent="0">
              <a:buNone/>
              <a:defRPr sz="2175" b="1"/>
            </a:lvl1pPr>
            <a:lvl2pPr marL="414655" indent="0">
              <a:buNone/>
              <a:defRPr sz="1810" b="1"/>
            </a:lvl2pPr>
            <a:lvl3pPr marL="828040" indent="0">
              <a:buNone/>
              <a:defRPr sz="1625" b="1"/>
            </a:lvl3pPr>
            <a:lvl4pPr marL="1242060" indent="0">
              <a:buNone/>
              <a:defRPr sz="1450" b="1"/>
            </a:lvl4pPr>
            <a:lvl5pPr marL="1655445" indent="0">
              <a:buNone/>
              <a:defRPr sz="1450" b="1"/>
            </a:lvl5pPr>
            <a:lvl6pPr marL="2070100" indent="0">
              <a:buNone/>
              <a:defRPr sz="1450" b="1"/>
            </a:lvl6pPr>
            <a:lvl7pPr marL="2485390" indent="0">
              <a:buNone/>
              <a:defRPr sz="1450" b="1"/>
            </a:lvl7pPr>
            <a:lvl8pPr marL="2899410" indent="0">
              <a:buNone/>
              <a:defRPr sz="1450" b="1"/>
            </a:lvl8pPr>
            <a:lvl9pPr marL="3313430" indent="0">
              <a:buNone/>
              <a:defRPr sz="145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4193028" y="2499563"/>
            <a:ext cx="3521152" cy="36764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70502" y="456194"/>
            <a:ext cx="2671329" cy="1596679"/>
          </a:xfrm>
        </p:spPr>
        <p:txBody>
          <a:bodyPr anchor="b"/>
          <a:lstStyle>
            <a:lvl1pPr>
              <a:defRPr sz="29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521152" y="985252"/>
            <a:ext cx="4193028" cy="4862901"/>
          </a:xfrm>
        </p:spPr>
        <p:txBody>
          <a:bodyPr/>
          <a:lstStyle>
            <a:lvl1pPr>
              <a:defRPr sz="2900"/>
            </a:lvl1pPr>
            <a:lvl2pPr>
              <a:defRPr sz="2540"/>
            </a:lvl2pPr>
            <a:lvl3pPr>
              <a:defRPr sz="2175"/>
            </a:lvl3pPr>
            <a:lvl4pPr>
              <a:defRPr sz="1810"/>
            </a:lvl4pPr>
            <a:lvl5pPr>
              <a:defRPr sz="1810"/>
            </a:lvl5pPr>
            <a:lvl6pPr>
              <a:defRPr sz="1810"/>
            </a:lvl6pPr>
            <a:lvl7pPr>
              <a:defRPr sz="1810"/>
            </a:lvl7pPr>
            <a:lvl8pPr>
              <a:defRPr sz="1810"/>
            </a:lvl8pPr>
            <a:lvl9pPr>
              <a:defRPr sz="181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0502" y="2052873"/>
            <a:ext cx="2671329" cy="3803201"/>
          </a:xfrm>
        </p:spPr>
        <p:txBody>
          <a:bodyPr/>
          <a:lstStyle>
            <a:lvl1pPr marL="0" indent="0">
              <a:buNone/>
              <a:defRPr sz="1450"/>
            </a:lvl1pPr>
            <a:lvl2pPr marL="414655" indent="0">
              <a:buNone/>
              <a:defRPr sz="1270"/>
            </a:lvl2pPr>
            <a:lvl3pPr marL="828040" indent="0">
              <a:buNone/>
              <a:defRPr sz="1080"/>
            </a:lvl3pPr>
            <a:lvl4pPr marL="1242060" indent="0">
              <a:buNone/>
              <a:defRPr sz="905"/>
            </a:lvl4pPr>
            <a:lvl5pPr marL="1655445" indent="0">
              <a:buNone/>
              <a:defRPr sz="905"/>
            </a:lvl5pPr>
            <a:lvl6pPr marL="2070100" indent="0">
              <a:buNone/>
              <a:defRPr sz="905"/>
            </a:lvl6pPr>
            <a:lvl7pPr marL="2485390" indent="0">
              <a:buNone/>
              <a:defRPr sz="905"/>
            </a:lvl7pPr>
            <a:lvl8pPr marL="2899410" indent="0">
              <a:buNone/>
              <a:defRPr sz="905"/>
            </a:lvl8pPr>
            <a:lvl9pPr marL="3313430" indent="0">
              <a:buNone/>
              <a:defRPr sz="905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70502" y="456194"/>
            <a:ext cx="2671329" cy="1596679"/>
          </a:xfrm>
        </p:spPr>
        <p:txBody>
          <a:bodyPr anchor="b"/>
          <a:lstStyle>
            <a:lvl1pPr>
              <a:defRPr sz="29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521152" y="985252"/>
            <a:ext cx="4193028" cy="4862901"/>
          </a:xfrm>
        </p:spPr>
        <p:txBody>
          <a:bodyPr/>
          <a:lstStyle>
            <a:lvl1pPr marL="0" indent="0">
              <a:buNone/>
              <a:defRPr sz="2900"/>
            </a:lvl1pPr>
            <a:lvl2pPr marL="414655" indent="0">
              <a:buNone/>
              <a:defRPr sz="2540"/>
            </a:lvl2pPr>
            <a:lvl3pPr marL="828040" indent="0">
              <a:buNone/>
              <a:defRPr sz="2175"/>
            </a:lvl3pPr>
            <a:lvl4pPr marL="1242060" indent="0">
              <a:buNone/>
              <a:defRPr sz="1810"/>
            </a:lvl4pPr>
            <a:lvl5pPr marL="1655445" indent="0">
              <a:buNone/>
              <a:defRPr sz="1810"/>
            </a:lvl5pPr>
            <a:lvl6pPr marL="2070100" indent="0">
              <a:buNone/>
              <a:defRPr sz="1810"/>
            </a:lvl6pPr>
            <a:lvl7pPr marL="2485390" indent="0">
              <a:buNone/>
              <a:defRPr sz="1810"/>
            </a:lvl7pPr>
            <a:lvl8pPr marL="2899410" indent="0">
              <a:buNone/>
              <a:defRPr sz="1810"/>
            </a:lvl8pPr>
            <a:lvl9pPr marL="3313430" indent="0">
              <a:buNone/>
              <a:defRPr sz="181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0502" y="2052873"/>
            <a:ext cx="2671329" cy="3803201"/>
          </a:xfrm>
        </p:spPr>
        <p:txBody>
          <a:bodyPr/>
          <a:lstStyle>
            <a:lvl1pPr marL="0" indent="0">
              <a:buNone/>
              <a:defRPr sz="1450"/>
            </a:lvl1pPr>
            <a:lvl2pPr marL="414655" indent="0">
              <a:buNone/>
              <a:defRPr sz="1270"/>
            </a:lvl2pPr>
            <a:lvl3pPr marL="828040" indent="0">
              <a:buNone/>
              <a:defRPr sz="1080"/>
            </a:lvl3pPr>
            <a:lvl4pPr marL="1242060" indent="0">
              <a:buNone/>
              <a:defRPr sz="905"/>
            </a:lvl4pPr>
            <a:lvl5pPr marL="1655445" indent="0">
              <a:buNone/>
              <a:defRPr sz="905"/>
            </a:lvl5pPr>
            <a:lvl6pPr marL="2070100" indent="0">
              <a:buNone/>
              <a:defRPr sz="905"/>
            </a:lvl6pPr>
            <a:lvl7pPr marL="2485390" indent="0">
              <a:buNone/>
              <a:defRPr sz="905"/>
            </a:lvl7pPr>
            <a:lvl8pPr marL="2899410" indent="0">
              <a:buNone/>
              <a:defRPr sz="905"/>
            </a:lvl8pPr>
            <a:lvl9pPr marL="3313430" indent="0">
              <a:buNone/>
              <a:defRPr sz="905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5927182" y="364322"/>
            <a:ext cx="1785919" cy="57990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569424" y="364322"/>
            <a:ext cx="5254226" cy="57990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AA67-4B5B-46B0-AA2E-C4D4038235A3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69424" y="364322"/>
            <a:ext cx="7143677" cy="1322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69424" y="1821608"/>
            <a:ext cx="7143677" cy="434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69424" y="6342363"/>
            <a:ext cx="1863568" cy="364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83B71-6BEB-4343-930A-8F52C5F2125C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743586" y="6342363"/>
            <a:ext cx="2795352" cy="364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5849533" y="6342363"/>
            <a:ext cx="1863568" cy="364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FAA67-4B5B-46B0-AA2E-C4D4038235A3}" type="slidenum">
              <a:rPr lang="pt-BR" smtClean="0"/>
            </a:fld>
            <a:endParaRPr lang="pt-BR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43138" y="6657898"/>
            <a:ext cx="2432992" cy="736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475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Classificação da informação: Confidencial Grupo de Acesso: Destinatários deste e-mail</a:t>
            </a:r>
            <a:endParaRPr lang="pt-BR" sz="475">
              <a:solidFill>
                <a:srgbClr val="000000">
                  <a:alpha val="5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8040" rtl="0" eaLnBrk="1" latinLnBrk="0" hangingPunct="1">
        <a:lnSpc>
          <a:spcPct val="90000"/>
        </a:lnSpc>
        <a:spcBef>
          <a:spcPct val="0"/>
        </a:spcBef>
        <a:buNone/>
        <a:defRPr sz="39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6375" indent="-206375" algn="l" defTabSz="828040" rtl="0" eaLnBrk="1" latinLnBrk="0" hangingPunct="1">
        <a:lnSpc>
          <a:spcPct val="90000"/>
        </a:lnSpc>
        <a:spcBef>
          <a:spcPts val="905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035685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3pPr>
      <a:lvl4pPr marL="1449070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863090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277745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692400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3105785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519805" indent="-206375" algn="l" defTabSz="828040" rtl="0" eaLnBrk="1" latinLnBrk="0" hangingPunct="1">
        <a:lnSpc>
          <a:spcPct val="90000"/>
        </a:lnSpc>
        <a:spcBef>
          <a:spcPct val="91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82804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4206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55445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7010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8539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89941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313430" algn="l" defTabSz="82804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120249" y="815627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CHEGADA PACIENTE BLOCO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9" name="Elipse 8"/>
          <p:cNvSpPr/>
          <p:nvPr/>
        </p:nvSpPr>
        <p:spPr>
          <a:xfrm>
            <a:off x="2022722" y="797953"/>
            <a:ext cx="739590" cy="6088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Aguardando preparação sala cirurgica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186624" y="1219074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Preparação sala cirurgica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4196976" y="1114109"/>
            <a:ext cx="739590" cy="6088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Aguardando procedimento sala bloco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5195434" y="4748183"/>
            <a:ext cx="878258" cy="586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Aguardando conferência material cirurgico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726427" y="4532286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Realização procedimento cirurgico eletivo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3231515" y="23495"/>
            <a:ext cx="530860" cy="43815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1"/>
                </a:solidFill>
              </a:rPr>
              <a:t>Sala bloco</a:t>
            </a:r>
            <a:endParaRPr lang="pt-BR" sz="590" dirty="0">
              <a:solidFill>
                <a:schemeClr val="accent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3166451" y="564601"/>
            <a:ext cx="592394" cy="438498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rgbClr val="FFC000"/>
                </a:solidFill>
              </a:rPr>
              <a:t>Téc.  Enf.  Eletivo</a:t>
            </a:r>
            <a:endParaRPr lang="pt-BR" sz="590" dirty="0">
              <a:solidFill>
                <a:srgbClr val="FFC000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6508750" y="1722755"/>
            <a:ext cx="852805" cy="278765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bg2">
                    <a:lumMod val="75000"/>
                  </a:schemeClr>
                </a:solidFill>
              </a:rPr>
              <a:t>Sala emergente</a:t>
            </a:r>
            <a:endParaRPr lang="pt-BR" sz="59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2393950" y="4660265"/>
            <a:ext cx="882015" cy="608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Aguardando pós operatório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6522787" y="461664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Realização procedimento cirurgico urgente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6579870" y="3776980"/>
            <a:ext cx="894715" cy="2686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1"/>
                </a:solidFill>
              </a:rPr>
              <a:t>Sala bloco</a:t>
            </a:r>
            <a:endParaRPr lang="pt-BR" sz="590" dirty="0">
              <a:solidFill>
                <a:schemeClr val="accent1"/>
              </a:solidFill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1627152" y="2028313"/>
            <a:ext cx="859207" cy="495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Aguardando Poli 9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6610225" y="2922068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Realização procedimentocirurgico emergente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3759005" y="4747923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  <a:sym typeface="+mn-ea"/>
              </a:rPr>
              <a:t>conferência material cirurgico</a:t>
            </a:r>
            <a:endParaRPr lang="pt-BR" sz="590" dirty="0">
              <a:solidFill>
                <a:schemeClr val="tx1"/>
              </a:solidFill>
            </a:endParaRPr>
          </a:p>
          <a:p>
            <a:pPr algn="ctr"/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25" name="Elipse 24"/>
          <p:cNvSpPr/>
          <p:nvPr/>
        </p:nvSpPr>
        <p:spPr>
          <a:xfrm>
            <a:off x="6599555" y="1305560"/>
            <a:ext cx="690880" cy="288925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Eq. médica emergente</a:t>
            </a:r>
            <a:endParaRPr lang="pt-BR" sz="59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1304319" y="4781654"/>
            <a:ext cx="649844" cy="3414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Pós operatório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28" name="Elipse 27"/>
          <p:cNvSpPr/>
          <p:nvPr/>
        </p:nvSpPr>
        <p:spPr>
          <a:xfrm>
            <a:off x="6607175" y="914400"/>
            <a:ext cx="683260" cy="27686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Tec. enf. emergente</a:t>
            </a:r>
            <a:endParaRPr lang="pt-BR" sz="59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3653097" y="2392064"/>
            <a:ext cx="541712" cy="309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Atendimento sala Poli 9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6445885" y="3409950"/>
            <a:ext cx="1176655" cy="255905"/>
          </a:xfrm>
          <a:prstGeom prst="ellipse">
            <a:avLst/>
          </a:prstGeom>
          <a:noFill/>
          <a:ln w="15875" cmpd="thinThick"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rgbClr val="FF0000"/>
                </a:solidFill>
              </a:rPr>
              <a:t>Instrumentador</a:t>
            </a:r>
            <a:endParaRPr lang="pt-BR" sz="590" dirty="0">
              <a:solidFill>
                <a:srgbClr val="FF0000"/>
              </a:solidFill>
            </a:endParaRPr>
          </a:p>
        </p:txBody>
      </p:sp>
      <p:sp>
        <p:nvSpPr>
          <p:cNvPr id="34" name="Elipse 33"/>
          <p:cNvSpPr/>
          <p:nvPr/>
        </p:nvSpPr>
        <p:spPr>
          <a:xfrm>
            <a:off x="1426806" y="2807212"/>
            <a:ext cx="792755" cy="5534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Aguardando procedimento sala emergente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35" name="Elipse 34"/>
          <p:cNvSpPr/>
          <p:nvPr/>
        </p:nvSpPr>
        <p:spPr>
          <a:xfrm>
            <a:off x="6784936" y="4964097"/>
            <a:ext cx="647739" cy="438812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5"/>
                </a:solidFill>
              </a:rPr>
              <a:t>Eq. médica eletivo</a:t>
            </a:r>
            <a:endParaRPr lang="pt-BR" sz="590" dirty="0">
              <a:solidFill>
                <a:schemeClr val="accent5"/>
              </a:solidFill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3782823" y="3762978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  <a:sym typeface="+mn-ea"/>
              </a:rPr>
              <a:t>conferência material cirurgico</a:t>
            </a:r>
            <a:endParaRPr lang="pt-BR" sz="590" dirty="0">
              <a:solidFill>
                <a:schemeClr val="tx1"/>
              </a:solidFill>
            </a:endParaRPr>
          </a:p>
          <a:p>
            <a:pPr algn="ctr"/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3758700" y="5710820"/>
            <a:ext cx="649844" cy="375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tx1"/>
                </a:solidFill>
              </a:rPr>
              <a:t>conferência material cirurgico</a:t>
            </a:r>
            <a:endParaRPr lang="pt-BR" sz="590" dirty="0">
              <a:solidFill>
                <a:schemeClr val="tx1"/>
              </a:solidFill>
            </a:endParaRPr>
          </a:p>
        </p:txBody>
      </p:sp>
      <p:sp>
        <p:nvSpPr>
          <p:cNvPr id="39" name="Elipse 38"/>
          <p:cNvSpPr/>
          <p:nvPr/>
        </p:nvSpPr>
        <p:spPr>
          <a:xfrm>
            <a:off x="6508750" y="2131060"/>
            <a:ext cx="861695" cy="26098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2"/>
                </a:solidFill>
              </a:rPr>
              <a:t> Enfermeiro</a:t>
            </a:r>
            <a:endParaRPr lang="pt-BR" sz="590" dirty="0">
              <a:solidFill>
                <a:schemeClr val="accent2"/>
              </a:solidFill>
            </a:endParaRPr>
          </a:p>
        </p:txBody>
      </p:sp>
      <p:cxnSp>
        <p:nvCxnSpPr>
          <p:cNvPr id="41" name="Conector: Curvo 40"/>
          <p:cNvCxnSpPr>
            <a:stCxn id="6" idx="6"/>
            <a:endCxn id="7" idx="1"/>
          </p:cNvCxnSpPr>
          <p:nvPr/>
        </p:nvCxnSpPr>
        <p:spPr>
          <a:xfrm>
            <a:off x="956945" y="883920"/>
            <a:ext cx="163195" cy="119380"/>
          </a:xfrm>
          <a:prstGeom prst="curvedConnector3">
            <a:avLst>
              <a:gd name="adj1" fmla="val 501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: Curvo 42"/>
          <p:cNvCxnSpPr>
            <a:stCxn id="7" idx="3"/>
            <a:endCxn id="9" idx="2"/>
          </p:cNvCxnSpPr>
          <p:nvPr/>
        </p:nvCxnSpPr>
        <p:spPr>
          <a:xfrm>
            <a:off x="1770036" y="1003361"/>
            <a:ext cx="252745" cy="9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Curvo 43"/>
          <p:cNvCxnSpPr>
            <a:stCxn id="9" idx="6"/>
            <a:endCxn id="10" idx="1"/>
          </p:cNvCxnSpPr>
          <p:nvPr/>
        </p:nvCxnSpPr>
        <p:spPr>
          <a:xfrm>
            <a:off x="2762601" y="1103062"/>
            <a:ext cx="424206" cy="30418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o 53"/>
          <p:cNvCxnSpPr>
            <a:stCxn id="10" idx="3"/>
            <a:endCxn id="11" idx="2"/>
          </p:cNvCxnSpPr>
          <p:nvPr/>
        </p:nvCxnSpPr>
        <p:spPr>
          <a:xfrm>
            <a:off x="3836452" y="1407245"/>
            <a:ext cx="360702" cy="1143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Curvo 57"/>
          <p:cNvCxnSpPr>
            <a:stCxn id="14" idx="1"/>
            <a:endCxn id="13" idx="6"/>
          </p:cNvCxnSpPr>
          <p:nvPr/>
        </p:nvCxnSpPr>
        <p:spPr>
          <a:xfrm rot="10800000" flipV="1">
            <a:off x="6073692" y="4720242"/>
            <a:ext cx="652820" cy="3213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Curvo 61"/>
          <p:cNvCxnSpPr>
            <a:stCxn id="30" idx="3"/>
            <a:endCxn id="9" idx="4"/>
          </p:cNvCxnSpPr>
          <p:nvPr/>
        </p:nvCxnSpPr>
        <p:spPr>
          <a:xfrm flipH="1" flipV="1">
            <a:off x="2392374" y="1407245"/>
            <a:ext cx="1802239" cy="1139259"/>
          </a:xfrm>
          <a:prstGeom prst="curvedConnector4">
            <a:avLst>
              <a:gd name="adj1" fmla="val -31712"/>
              <a:gd name="adj2" fmla="val 776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: Curvo 63"/>
          <p:cNvCxnSpPr>
            <a:stCxn id="18" idx="2"/>
            <a:endCxn id="27" idx="3"/>
          </p:cNvCxnSpPr>
          <p:nvPr/>
        </p:nvCxnSpPr>
        <p:spPr>
          <a:xfrm rot="10800000">
            <a:off x="1953895" y="4952365"/>
            <a:ext cx="440055" cy="12700"/>
          </a:xfrm>
          <a:prstGeom prst="curvedConnector3">
            <a:avLst>
              <a:gd name="adj1" fmla="val 4992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Curvo 65"/>
          <p:cNvCxnSpPr>
            <a:stCxn id="24" idx="1"/>
            <a:endCxn id="18" idx="6"/>
          </p:cNvCxnSpPr>
          <p:nvPr/>
        </p:nvCxnSpPr>
        <p:spPr>
          <a:xfrm rot="10800000" flipV="1">
            <a:off x="3275965" y="4935855"/>
            <a:ext cx="483235" cy="29210"/>
          </a:xfrm>
          <a:prstGeom prst="curvedConnector3">
            <a:avLst>
              <a:gd name="adj1" fmla="val 499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: Curvo 68"/>
          <p:cNvCxnSpPr>
            <a:stCxn id="7" idx="3"/>
            <a:endCxn id="21" idx="0"/>
          </p:cNvCxnSpPr>
          <p:nvPr/>
        </p:nvCxnSpPr>
        <p:spPr>
          <a:xfrm>
            <a:off x="1770036" y="1003361"/>
            <a:ext cx="287037" cy="102495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Curvo 70"/>
          <p:cNvCxnSpPr>
            <a:stCxn id="21" idx="6"/>
            <a:endCxn id="30" idx="1"/>
          </p:cNvCxnSpPr>
          <p:nvPr/>
        </p:nvCxnSpPr>
        <p:spPr>
          <a:xfrm>
            <a:off x="2486360" y="2276613"/>
            <a:ext cx="1166566" cy="269891"/>
          </a:xfrm>
          <a:prstGeom prst="curvedConnector3">
            <a:avLst>
              <a:gd name="adj1" fmla="val 353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: Curvo 76"/>
          <p:cNvCxnSpPr>
            <a:stCxn id="13" idx="2"/>
            <a:endCxn id="24" idx="3"/>
          </p:cNvCxnSpPr>
          <p:nvPr/>
        </p:nvCxnSpPr>
        <p:spPr>
          <a:xfrm rot="10800000">
            <a:off x="4408621" y="4936155"/>
            <a:ext cx="786813" cy="105416"/>
          </a:xfrm>
          <a:prstGeom prst="curvedConnector3">
            <a:avLst>
              <a:gd name="adj1" fmla="val 499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o 78"/>
          <p:cNvCxnSpPr>
            <a:stCxn id="11" idx="6"/>
            <a:endCxn id="19" idx="1"/>
          </p:cNvCxnSpPr>
          <p:nvPr/>
        </p:nvCxnSpPr>
        <p:spPr>
          <a:xfrm flipV="1">
            <a:off x="4936973" y="649009"/>
            <a:ext cx="1585691" cy="769667"/>
          </a:xfrm>
          <a:prstGeom prst="curvedConnector3">
            <a:avLst>
              <a:gd name="adj1" fmla="val 500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Curvo 82"/>
          <p:cNvCxnSpPr>
            <a:stCxn id="27" idx="1"/>
            <a:endCxn id="207" idx="1"/>
          </p:cNvCxnSpPr>
          <p:nvPr/>
        </p:nvCxnSpPr>
        <p:spPr>
          <a:xfrm rot="10800000">
            <a:off x="735330" y="1075055"/>
            <a:ext cx="568960" cy="3877310"/>
          </a:xfrm>
          <a:prstGeom prst="curvedConnector3">
            <a:avLst>
              <a:gd name="adj1" fmla="val 1579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Curvo 92"/>
          <p:cNvCxnSpPr>
            <a:stCxn id="13" idx="2"/>
            <a:endCxn id="36" idx="3"/>
          </p:cNvCxnSpPr>
          <p:nvPr/>
        </p:nvCxnSpPr>
        <p:spPr>
          <a:xfrm rot="10800000">
            <a:off x="4432753" y="3951210"/>
            <a:ext cx="762681" cy="1090361"/>
          </a:xfrm>
          <a:prstGeom prst="curvedConnector3">
            <a:avLst>
              <a:gd name="adj1" fmla="val 499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: Curvo 97"/>
          <p:cNvCxnSpPr>
            <a:stCxn id="34" idx="6"/>
            <a:endCxn id="22" idx="1"/>
          </p:cNvCxnSpPr>
          <p:nvPr/>
        </p:nvCxnSpPr>
        <p:spPr>
          <a:xfrm>
            <a:off x="2219643" y="3084382"/>
            <a:ext cx="4390657" cy="25402"/>
          </a:xfrm>
          <a:prstGeom prst="curvedConnector3">
            <a:avLst>
              <a:gd name="adj1" fmla="val 504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Curvo 101"/>
          <p:cNvCxnSpPr>
            <a:stCxn id="15" idx="2"/>
            <a:endCxn id="10" idx="1"/>
          </p:cNvCxnSpPr>
          <p:nvPr/>
        </p:nvCxnSpPr>
        <p:spPr>
          <a:xfrm rot="10800000" flipV="1">
            <a:off x="3186430" y="242570"/>
            <a:ext cx="45085" cy="1164590"/>
          </a:xfrm>
          <a:prstGeom prst="curvedConnector3">
            <a:avLst>
              <a:gd name="adj1" fmla="val 6281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: Curvo 103"/>
          <p:cNvCxnSpPr>
            <a:stCxn id="10" idx="3"/>
            <a:endCxn id="15" idx="6"/>
          </p:cNvCxnSpPr>
          <p:nvPr/>
        </p:nvCxnSpPr>
        <p:spPr>
          <a:xfrm flipH="1" flipV="1">
            <a:off x="3762375" y="242570"/>
            <a:ext cx="73660" cy="1164590"/>
          </a:xfrm>
          <a:prstGeom prst="curvedConnector3">
            <a:avLst>
              <a:gd name="adj1" fmla="val -3232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Curvo 105"/>
          <p:cNvCxnSpPr>
            <a:stCxn id="16" idx="2"/>
            <a:endCxn id="10" idx="1"/>
          </p:cNvCxnSpPr>
          <p:nvPr/>
        </p:nvCxnSpPr>
        <p:spPr>
          <a:xfrm rot="10800000" flipH="1" flipV="1">
            <a:off x="3166486" y="784273"/>
            <a:ext cx="20321" cy="622973"/>
          </a:xfrm>
          <a:prstGeom prst="curvedConnector3">
            <a:avLst>
              <a:gd name="adj1" fmla="val -117187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: Curvo 108"/>
          <p:cNvCxnSpPr>
            <a:stCxn id="10" idx="3"/>
            <a:endCxn id="16" idx="6"/>
          </p:cNvCxnSpPr>
          <p:nvPr/>
        </p:nvCxnSpPr>
        <p:spPr>
          <a:xfrm flipH="1" flipV="1">
            <a:off x="3758977" y="784273"/>
            <a:ext cx="77475" cy="622973"/>
          </a:xfrm>
          <a:prstGeom prst="curvedConnector3">
            <a:avLst>
              <a:gd name="adj1" fmla="val -30737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: Curvo 116"/>
          <p:cNvCxnSpPr>
            <a:stCxn id="17" idx="2"/>
            <a:endCxn id="22" idx="1"/>
          </p:cNvCxnSpPr>
          <p:nvPr/>
        </p:nvCxnSpPr>
        <p:spPr>
          <a:xfrm rot="10800000" flipH="1" flipV="1">
            <a:off x="6508750" y="1862455"/>
            <a:ext cx="101600" cy="1247775"/>
          </a:xfrm>
          <a:prstGeom prst="curvedConnector3">
            <a:avLst>
              <a:gd name="adj1" fmla="val -23437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: Curvo 118"/>
          <p:cNvCxnSpPr>
            <a:stCxn id="22" idx="3"/>
            <a:endCxn id="17" idx="6"/>
          </p:cNvCxnSpPr>
          <p:nvPr/>
        </p:nvCxnSpPr>
        <p:spPr>
          <a:xfrm flipV="1">
            <a:off x="7259955" y="1862455"/>
            <a:ext cx="101600" cy="1247775"/>
          </a:xfrm>
          <a:prstGeom prst="curvedConnector3">
            <a:avLst>
              <a:gd name="adj1" fmla="val 33437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: Curvo 120"/>
          <p:cNvCxnSpPr>
            <a:stCxn id="20" idx="2"/>
            <a:endCxn id="14" idx="1"/>
          </p:cNvCxnSpPr>
          <p:nvPr/>
        </p:nvCxnSpPr>
        <p:spPr>
          <a:xfrm rot="10800000" flipH="1" flipV="1">
            <a:off x="6579870" y="3911600"/>
            <a:ext cx="146685" cy="808355"/>
          </a:xfrm>
          <a:prstGeom prst="curvedConnector3">
            <a:avLst>
              <a:gd name="adj1" fmla="val -162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/>
          <p:cNvCxnSpPr>
            <a:stCxn id="14" idx="3"/>
            <a:endCxn id="20" idx="6"/>
          </p:cNvCxnSpPr>
          <p:nvPr/>
        </p:nvCxnSpPr>
        <p:spPr>
          <a:xfrm flipV="1">
            <a:off x="7376160" y="3911600"/>
            <a:ext cx="98425" cy="808355"/>
          </a:xfrm>
          <a:prstGeom prst="curvedConnector3">
            <a:avLst>
              <a:gd name="adj1" fmla="val 3419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: Curvo 124"/>
          <p:cNvCxnSpPr>
            <a:stCxn id="22" idx="3"/>
            <a:endCxn id="25" idx="6"/>
          </p:cNvCxnSpPr>
          <p:nvPr/>
        </p:nvCxnSpPr>
        <p:spPr>
          <a:xfrm flipV="1">
            <a:off x="7259955" y="1450340"/>
            <a:ext cx="30480" cy="1659890"/>
          </a:xfrm>
          <a:prstGeom prst="curvedConnector3">
            <a:avLst>
              <a:gd name="adj1" fmla="val 88125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: Curvo 127"/>
          <p:cNvCxnSpPr>
            <a:stCxn id="25" idx="2"/>
            <a:endCxn id="22" idx="1"/>
          </p:cNvCxnSpPr>
          <p:nvPr/>
        </p:nvCxnSpPr>
        <p:spPr>
          <a:xfrm rot="10800000" flipH="1" flipV="1">
            <a:off x="6599555" y="1450340"/>
            <a:ext cx="10795" cy="1659890"/>
          </a:xfrm>
          <a:prstGeom prst="curvedConnector3">
            <a:avLst>
              <a:gd name="adj1" fmla="val -2205882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: Curvo 130"/>
          <p:cNvCxnSpPr>
            <a:stCxn id="22" idx="3"/>
            <a:endCxn id="28" idx="6"/>
          </p:cNvCxnSpPr>
          <p:nvPr/>
        </p:nvCxnSpPr>
        <p:spPr>
          <a:xfrm flipV="1">
            <a:off x="7259955" y="1052830"/>
            <a:ext cx="30480" cy="2057400"/>
          </a:xfrm>
          <a:prstGeom prst="curvedConnector3">
            <a:avLst>
              <a:gd name="adj1" fmla="val 881250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: Curvo 133"/>
          <p:cNvCxnSpPr>
            <a:stCxn id="28" idx="2"/>
            <a:endCxn id="22" idx="1"/>
          </p:cNvCxnSpPr>
          <p:nvPr/>
        </p:nvCxnSpPr>
        <p:spPr>
          <a:xfrm rot="10800000" flipH="1" flipV="1">
            <a:off x="6607175" y="1052830"/>
            <a:ext cx="3175" cy="2057400"/>
          </a:xfrm>
          <a:prstGeom prst="curvedConnector3">
            <a:avLst>
              <a:gd name="adj1" fmla="val -7500000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: Curvo 138"/>
          <p:cNvCxnSpPr>
            <a:stCxn id="14" idx="3"/>
            <a:endCxn id="31" idx="6"/>
          </p:cNvCxnSpPr>
          <p:nvPr/>
        </p:nvCxnSpPr>
        <p:spPr>
          <a:xfrm flipV="1">
            <a:off x="7376160" y="3538220"/>
            <a:ext cx="246380" cy="1181735"/>
          </a:xfrm>
          <a:prstGeom prst="curvedConnector3">
            <a:avLst>
              <a:gd name="adj1" fmla="val 196649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: Curvo 141"/>
          <p:cNvCxnSpPr>
            <a:stCxn id="31" idx="2"/>
            <a:endCxn id="14" idx="1"/>
          </p:cNvCxnSpPr>
          <p:nvPr/>
        </p:nvCxnSpPr>
        <p:spPr>
          <a:xfrm rot="10800000" flipH="1" flipV="1">
            <a:off x="6445885" y="3538220"/>
            <a:ext cx="280670" cy="1181735"/>
          </a:xfrm>
          <a:prstGeom prst="curvedConnector3">
            <a:avLst>
              <a:gd name="adj1" fmla="val -84842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: Curvo 152"/>
          <p:cNvCxnSpPr>
            <a:stCxn id="35" idx="2"/>
            <a:endCxn id="14" idx="1"/>
          </p:cNvCxnSpPr>
          <p:nvPr/>
        </p:nvCxnSpPr>
        <p:spPr>
          <a:xfrm rot="10800000">
            <a:off x="6726512" y="4720242"/>
            <a:ext cx="58424" cy="463578"/>
          </a:xfrm>
          <a:prstGeom prst="curvedConnector3">
            <a:avLst>
              <a:gd name="adj1" fmla="val 507609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: Curvo 154"/>
          <p:cNvCxnSpPr>
            <a:stCxn id="14" idx="3"/>
            <a:endCxn id="35" idx="6"/>
          </p:cNvCxnSpPr>
          <p:nvPr/>
        </p:nvCxnSpPr>
        <p:spPr>
          <a:xfrm>
            <a:off x="7376157" y="4720242"/>
            <a:ext cx="56518" cy="463578"/>
          </a:xfrm>
          <a:prstGeom prst="curvedConnector3">
            <a:avLst>
              <a:gd name="adj1" fmla="val 52134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: Curvo 158"/>
          <p:cNvCxnSpPr>
            <a:stCxn id="39" idx="2"/>
            <a:endCxn id="22" idx="1"/>
          </p:cNvCxnSpPr>
          <p:nvPr/>
        </p:nvCxnSpPr>
        <p:spPr>
          <a:xfrm rot="10800000" flipH="1" flipV="1">
            <a:off x="6508750" y="2261870"/>
            <a:ext cx="101600" cy="848360"/>
          </a:xfrm>
          <a:prstGeom prst="curvedConnector3">
            <a:avLst>
              <a:gd name="adj1" fmla="val -234375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: Curvo 160"/>
          <p:cNvCxnSpPr>
            <a:stCxn id="22" idx="3"/>
            <a:endCxn id="39" idx="6"/>
          </p:cNvCxnSpPr>
          <p:nvPr/>
        </p:nvCxnSpPr>
        <p:spPr>
          <a:xfrm flipV="1">
            <a:off x="7259955" y="2261870"/>
            <a:ext cx="110490" cy="848360"/>
          </a:xfrm>
          <a:prstGeom prst="curvedConnector3">
            <a:avLst>
              <a:gd name="adj1" fmla="val 315517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CaixaDeTexto 168"/>
          <p:cNvSpPr txBox="1"/>
          <p:nvPr/>
        </p:nvSpPr>
        <p:spPr>
          <a:xfrm>
            <a:off x="7252324" y="4720242"/>
            <a:ext cx="118117" cy="1924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pt-BR" sz="800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pt-BR" sz="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2" name="CaixaDeTexto 171"/>
          <p:cNvSpPr txBox="1"/>
          <p:nvPr/>
        </p:nvSpPr>
        <p:spPr>
          <a:xfrm>
            <a:off x="3141980" y="1035050"/>
            <a:ext cx="824230" cy="156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500" dirty="0"/>
              <a:t>Tri (6, 10, 8.47) mi</a:t>
            </a:r>
            <a:r>
              <a:rPr lang="pt-BR" sz="500" b="1" dirty="0"/>
              <a:t>n </a:t>
            </a:r>
            <a:endParaRPr lang="pt-BR" sz="500" b="1" dirty="0"/>
          </a:p>
        </p:txBody>
      </p:sp>
      <p:grpSp>
        <p:nvGrpSpPr>
          <p:cNvPr id="2" name="Agrupar 1"/>
          <p:cNvGrpSpPr/>
          <p:nvPr/>
        </p:nvGrpSpPr>
        <p:grpSpPr>
          <a:xfrm>
            <a:off x="441960" y="649605"/>
            <a:ext cx="514985" cy="840105"/>
            <a:chOff x="85091" y="1286755"/>
            <a:chExt cx="605377" cy="1143835"/>
          </a:xfrm>
        </p:grpSpPr>
        <p:sp>
          <p:nvSpPr>
            <p:cNvPr id="6" name="Elipse 5"/>
            <p:cNvSpPr/>
            <p:nvPr/>
          </p:nvSpPr>
          <p:spPr>
            <a:xfrm>
              <a:off x="85091" y="1286755"/>
              <a:ext cx="605377" cy="63756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60"/>
            </a:p>
          </p:txBody>
        </p:sp>
        <p:sp>
          <p:nvSpPr>
            <p:cNvPr id="207" name="Arco 206"/>
            <p:cNvSpPr/>
            <p:nvPr/>
          </p:nvSpPr>
          <p:spPr>
            <a:xfrm>
              <a:off x="322597" y="1300301"/>
              <a:ext cx="214494" cy="113028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sz="1060"/>
            </a:p>
          </p:txBody>
        </p:sp>
      </p:grpSp>
      <p:sp>
        <p:nvSpPr>
          <p:cNvPr id="101" name="Google Shape;101;p18"/>
          <p:cNvSpPr txBox="1"/>
          <p:nvPr/>
        </p:nvSpPr>
        <p:spPr>
          <a:xfrm>
            <a:off x="968947" y="5610537"/>
            <a:ext cx="991350" cy="113874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1810" tIns="71810" rIns="71810" bIns="7181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 u="sng">
                <a:latin typeface="Times New Roman" panose="02020603050405020304" charset="0"/>
                <a:cs typeface="Times New Roman" panose="02020603050405020304" charset="0"/>
              </a:rPr>
              <a:t>Entidades:</a:t>
            </a:r>
            <a:endParaRPr sz="530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530">
                <a:latin typeface="Times New Roman" panose="02020603050405020304" charset="0"/>
                <a:cs typeface="Times New Roman" panose="02020603050405020304" charset="0"/>
              </a:rPr>
              <a:t>Pacientes (∞) </a:t>
            </a:r>
            <a:r>
              <a:rPr lang="pt-BR" sz="530" b="1">
                <a:latin typeface="Times New Roman" panose="02020603050405020304" charset="0"/>
                <a:cs typeface="Times New Roman" panose="02020603050405020304" charset="0"/>
              </a:rPr>
              <a:t>___</a:t>
            </a:r>
            <a:endParaRPr sz="53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Equipe Médica Eletivo () </a:t>
            </a:r>
            <a:r>
              <a:rPr lang="pt-BR" sz="53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___</a:t>
            </a:r>
            <a:endParaRPr lang="pt-BR"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Equipe Médica Emergente ()</a:t>
            </a:r>
            <a:r>
              <a:rPr lang="pt-BR" sz="53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___ </a:t>
            </a: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Enfermeiro Onda ()</a:t>
            </a:r>
            <a:r>
              <a:rPr lang="pt-BR" sz="53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___</a:t>
            </a:r>
            <a:endParaRPr lang="pt-BR"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Enfermeiro Eletivo ()</a:t>
            </a:r>
            <a:endParaRPr lang="pt-BR"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Técnico Enfermagem (11</a:t>
            </a:r>
            <a:r>
              <a:rPr lang="pt-BR" sz="53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r>
              <a:rPr lang="pt-BR" sz="53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___</a:t>
            </a:r>
            <a:endParaRPr lang="pt-BR"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Enfermeiro SRPA (1)</a:t>
            </a:r>
            <a:r>
              <a:rPr lang="pt-BR" sz="530" b="1">
                <a:solidFill>
                  <a:schemeClr val="bg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___</a:t>
            </a:r>
            <a:endParaRPr lang="pt-BR" sz="530" b="1">
              <a:solidFill>
                <a:schemeClr val="bg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Sala Bloco (5)</a:t>
            </a:r>
            <a:endParaRPr lang="pt-BR"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Sala Emergente (1)</a:t>
            </a:r>
            <a:endParaRPr lang="pt-BR"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530">
              <a:solidFill>
                <a:schemeClr val="dk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530" b="1">
              <a:solidFill>
                <a:schemeClr val="bg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123670" y="5609903"/>
            <a:ext cx="768390" cy="113874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1810" tIns="71810" rIns="71810" bIns="7181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Desvios: </a:t>
            </a:r>
            <a:r>
              <a:rPr lang="pt-BR" altLang="en-US" sz="53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E ou U ou O?</a:t>
            </a:r>
            <a:endParaRPr lang="pt-BR" altLang="en-US" sz="530"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altLang="en-US" sz="53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 (Eletivo): 45% </a:t>
            </a:r>
            <a:endParaRPr lang="pt-BR" altLang="en-US" sz="53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altLang="en-US" sz="530">
                <a:latin typeface="Times New Roman" panose="02020603050405020304" charset="0"/>
                <a:cs typeface="Times New Roman" panose="02020603050405020304" charset="0"/>
                <a:sym typeface="+mn-ea"/>
              </a:rPr>
              <a:t>U (Urgente): 53% </a:t>
            </a:r>
            <a:endParaRPr lang="pt-BR" altLang="en-US" sz="53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altLang="en-US" sz="530">
                <a:latin typeface="Times New Roman" panose="02020603050405020304" charset="0"/>
                <a:cs typeface="Times New Roman" panose="02020603050405020304" charset="0"/>
                <a:sym typeface="+mn-ea"/>
              </a:rPr>
              <a:t>EM (Emergente): 1%</a:t>
            </a:r>
            <a:endParaRPr lang="pt-BR" sz="53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53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6840217" y="5460315"/>
            <a:ext cx="536001" cy="43849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6"/>
                </a:solidFill>
              </a:rPr>
              <a:t>Tec. enf. eletivo</a:t>
            </a:r>
            <a:endParaRPr lang="pt-BR" sz="590" dirty="0">
              <a:solidFill>
                <a:schemeClr val="accent6"/>
              </a:solidFill>
            </a:endParaRPr>
          </a:p>
        </p:txBody>
      </p:sp>
      <p:cxnSp>
        <p:nvCxnSpPr>
          <p:cNvPr id="4" name="Conector: Curvo 158"/>
          <p:cNvCxnSpPr>
            <a:stCxn id="3" idx="2"/>
            <a:endCxn id="14" idx="1"/>
          </p:cNvCxnSpPr>
          <p:nvPr/>
        </p:nvCxnSpPr>
        <p:spPr>
          <a:xfrm rot="10800000">
            <a:off x="6726512" y="4720242"/>
            <a:ext cx="113672" cy="959543"/>
          </a:xfrm>
          <a:prstGeom prst="curvedConnector3">
            <a:avLst>
              <a:gd name="adj1" fmla="val 30949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: Curvo 160"/>
          <p:cNvCxnSpPr>
            <a:stCxn id="14" idx="3"/>
            <a:endCxn id="3" idx="6"/>
          </p:cNvCxnSpPr>
          <p:nvPr/>
        </p:nvCxnSpPr>
        <p:spPr>
          <a:xfrm>
            <a:off x="7376157" y="4720242"/>
            <a:ext cx="3175" cy="959543"/>
          </a:xfrm>
          <a:prstGeom prst="curvedConnector3">
            <a:avLst>
              <a:gd name="adj1" fmla="val 750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173"/>
          <p:cNvSpPr txBox="1"/>
          <p:nvPr/>
        </p:nvSpPr>
        <p:spPr>
          <a:xfrm>
            <a:off x="3742921" y="255036"/>
            <a:ext cx="150893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CaixaDeTexto 173"/>
          <p:cNvSpPr txBox="1"/>
          <p:nvPr/>
        </p:nvSpPr>
        <p:spPr>
          <a:xfrm>
            <a:off x="3758781" y="828798"/>
            <a:ext cx="150893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CaixaDeTexto 173"/>
          <p:cNvSpPr txBox="1"/>
          <p:nvPr/>
        </p:nvSpPr>
        <p:spPr>
          <a:xfrm>
            <a:off x="7323514" y="4963911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30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CaixaDeTexto 173"/>
          <p:cNvSpPr txBox="1"/>
          <p:nvPr/>
        </p:nvSpPr>
        <p:spPr>
          <a:xfrm>
            <a:off x="7323514" y="5403162"/>
            <a:ext cx="298305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6" name="Conector Angulado 45"/>
          <p:cNvCxnSpPr/>
          <p:nvPr/>
        </p:nvCxnSpPr>
        <p:spPr>
          <a:xfrm rot="16200000" flipH="1">
            <a:off x="4198424" y="1482180"/>
            <a:ext cx="3546055" cy="2809411"/>
          </a:xfrm>
          <a:prstGeom prst="bentConnector4">
            <a:avLst>
              <a:gd name="adj1" fmla="val -28886"/>
              <a:gd name="adj2" fmla="val 12949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173"/>
          <p:cNvSpPr txBox="1"/>
          <p:nvPr/>
        </p:nvSpPr>
        <p:spPr>
          <a:xfrm>
            <a:off x="7361584" y="3950710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CaixaDeTexto 168"/>
          <p:cNvSpPr txBox="1"/>
          <p:nvPr/>
        </p:nvSpPr>
        <p:spPr>
          <a:xfrm>
            <a:off x="7133572" y="3142171"/>
            <a:ext cx="127008" cy="156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pt-BR" sz="800" dirty="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pt-BR" sz="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CaixaDeTexto 168"/>
          <p:cNvSpPr txBox="1"/>
          <p:nvPr/>
        </p:nvSpPr>
        <p:spPr>
          <a:xfrm>
            <a:off x="7056097" y="711878"/>
            <a:ext cx="119387" cy="125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pt-BR" sz="70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CaixaDeTexto 173"/>
          <p:cNvSpPr txBox="1"/>
          <p:nvPr/>
        </p:nvSpPr>
        <p:spPr>
          <a:xfrm>
            <a:off x="7432699" y="3556349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3" name="Conector: Curvo 120"/>
          <p:cNvCxnSpPr>
            <a:stCxn id="19" idx="1"/>
            <a:endCxn id="20" idx="2"/>
          </p:cNvCxnSpPr>
          <p:nvPr/>
        </p:nvCxnSpPr>
        <p:spPr>
          <a:xfrm rot="10800000" flipH="1" flipV="1">
            <a:off x="6522720" y="649605"/>
            <a:ext cx="57150" cy="3261995"/>
          </a:xfrm>
          <a:prstGeom prst="curvedConnector3">
            <a:avLst>
              <a:gd name="adj1" fmla="val -4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Curvo 120"/>
          <p:cNvCxnSpPr>
            <a:stCxn id="20" idx="6"/>
            <a:endCxn id="19" idx="3"/>
          </p:cNvCxnSpPr>
          <p:nvPr/>
        </p:nvCxnSpPr>
        <p:spPr>
          <a:xfrm flipH="1" flipV="1">
            <a:off x="7172325" y="649605"/>
            <a:ext cx="302260" cy="3261995"/>
          </a:xfrm>
          <a:prstGeom prst="curvedConnector3">
            <a:avLst>
              <a:gd name="adj1" fmla="val -78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o 133"/>
          <p:cNvCxnSpPr>
            <a:stCxn id="19" idx="1"/>
            <a:endCxn id="28" idx="2"/>
          </p:cNvCxnSpPr>
          <p:nvPr/>
        </p:nvCxnSpPr>
        <p:spPr>
          <a:xfrm rot="10800000" flipH="1" flipV="1">
            <a:off x="6522720" y="649605"/>
            <a:ext cx="84455" cy="403225"/>
          </a:xfrm>
          <a:prstGeom prst="curvedConnector3">
            <a:avLst>
              <a:gd name="adj1" fmla="val -281955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Curvo 133"/>
          <p:cNvCxnSpPr>
            <a:stCxn id="28" idx="6"/>
            <a:endCxn id="19" idx="3"/>
          </p:cNvCxnSpPr>
          <p:nvPr/>
        </p:nvCxnSpPr>
        <p:spPr>
          <a:xfrm flipH="1" flipV="1">
            <a:off x="7172325" y="649605"/>
            <a:ext cx="118110" cy="403225"/>
          </a:xfrm>
          <a:prstGeom prst="curvedConnector3">
            <a:avLst>
              <a:gd name="adj1" fmla="val -201613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Curvo 127"/>
          <p:cNvCxnSpPr>
            <a:stCxn id="19" idx="1"/>
            <a:endCxn id="25" idx="2"/>
          </p:cNvCxnSpPr>
          <p:nvPr/>
        </p:nvCxnSpPr>
        <p:spPr>
          <a:xfrm rot="10800000" flipH="1" flipV="1">
            <a:off x="6522720" y="649605"/>
            <a:ext cx="76835" cy="800735"/>
          </a:xfrm>
          <a:prstGeom prst="curvedConnector3">
            <a:avLst>
              <a:gd name="adj1" fmla="val -30991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Curvo 127"/>
          <p:cNvCxnSpPr>
            <a:stCxn id="25" idx="6"/>
            <a:endCxn id="19" idx="3"/>
          </p:cNvCxnSpPr>
          <p:nvPr/>
        </p:nvCxnSpPr>
        <p:spPr>
          <a:xfrm flipH="1" flipV="1">
            <a:off x="7172325" y="649605"/>
            <a:ext cx="118110" cy="800735"/>
          </a:xfrm>
          <a:prstGeom prst="curvedConnector3">
            <a:avLst>
              <a:gd name="adj1" fmla="val -201613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Curvo 141"/>
          <p:cNvCxnSpPr>
            <a:stCxn id="19" idx="1"/>
            <a:endCxn id="31" idx="2"/>
          </p:cNvCxnSpPr>
          <p:nvPr/>
        </p:nvCxnSpPr>
        <p:spPr>
          <a:xfrm rot="10800000" flipV="1">
            <a:off x="6445885" y="649605"/>
            <a:ext cx="76835" cy="2888615"/>
          </a:xfrm>
          <a:prstGeom prst="curvedConnector3">
            <a:avLst>
              <a:gd name="adj1" fmla="val 409917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Curvo 141"/>
          <p:cNvCxnSpPr>
            <a:stCxn id="31" idx="6"/>
            <a:endCxn id="19" idx="3"/>
          </p:cNvCxnSpPr>
          <p:nvPr/>
        </p:nvCxnSpPr>
        <p:spPr>
          <a:xfrm flipH="1" flipV="1">
            <a:off x="7172325" y="649605"/>
            <a:ext cx="450215" cy="2888615"/>
          </a:xfrm>
          <a:prstGeom prst="curvedConnector3">
            <a:avLst>
              <a:gd name="adj1" fmla="val -52891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173"/>
          <p:cNvSpPr txBox="1"/>
          <p:nvPr/>
        </p:nvSpPr>
        <p:spPr>
          <a:xfrm>
            <a:off x="7259977" y="1862734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CaixaDeTexto 173"/>
          <p:cNvSpPr txBox="1"/>
          <p:nvPr/>
        </p:nvSpPr>
        <p:spPr>
          <a:xfrm>
            <a:off x="7290459" y="2262120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" name="CaixaDeTexto 173"/>
          <p:cNvSpPr txBox="1"/>
          <p:nvPr/>
        </p:nvSpPr>
        <p:spPr>
          <a:xfrm>
            <a:off x="7212989" y="1489933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30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CaixaDeTexto 173"/>
          <p:cNvSpPr txBox="1"/>
          <p:nvPr/>
        </p:nvSpPr>
        <p:spPr>
          <a:xfrm>
            <a:off x="7175519" y="1021905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6" name="Conector: Curvo 92"/>
          <p:cNvCxnSpPr>
            <a:stCxn id="13" idx="2"/>
            <a:endCxn id="38" idx="3"/>
          </p:cNvCxnSpPr>
          <p:nvPr/>
        </p:nvCxnSpPr>
        <p:spPr>
          <a:xfrm rot="10800000" flipV="1">
            <a:off x="4408621" y="5041571"/>
            <a:ext cx="786813" cy="857302"/>
          </a:xfrm>
          <a:prstGeom prst="curvedConnector3">
            <a:avLst>
              <a:gd name="adj1" fmla="val 499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3758942" y="6241211"/>
            <a:ext cx="592394" cy="438499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rgbClr val="FFC000"/>
                </a:solidFill>
              </a:rPr>
              <a:t>Téc.  Enf.  Eletivo</a:t>
            </a:r>
            <a:endParaRPr lang="pt-BR" sz="590" dirty="0">
              <a:solidFill>
                <a:srgbClr val="FFC000"/>
              </a:solidFill>
            </a:endParaRPr>
          </a:p>
        </p:txBody>
      </p:sp>
      <p:cxnSp>
        <p:nvCxnSpPr>
          <p:cNvPr id="80" name="Conector: Curvo 105"/>
          <p:cNvCxnSpPr>
            <a:stCxn id="38" idx="1"/>
            <a:endCxn id="78" idx="2"/>
          </p:cNvCxnSpPr>
          <p:nvPr/>
        </p:nvCxnSpPr>
        <p:spPr>
          <a:xfrm rot="10800000" flipH="1" flipV="1">
            <a:off x="3758977" y="5898238"/>
            <a:ext cx="3175" cy="562644"/>
          </a:xfrm>
          <a:prstGeom prst="curvedConnector3">
            <a:avLst>
              <a:gd name="adj1" fmla="val -750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: Curvo 105"/>
          <p:cNvCxnSpPr>
            <a:stCxn id="38" idx="3"/>
            <a:endCxn id="78" idx="6"/>
          </p:cNvCxnSpPr>
          <p:nvPr/>
        </p:nvCxnSpPr>
        <p:spPr>
          <a:xfrm flipH="1">
            <a:off x="4351468" y="5898238"/>
            <a:ext cx="57153" cy="562644"/>
          </a:xfrm>
          <a:prstGeom prst="curvedConnector3">
            <a:avLst>
              <a:gd name="adj1" fmla="val -41666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lipse 83"/>
          <p:cNvSpPr/>
          <p:nvPr/>
        </p:nvSpPr>
        <p:spPr>
          <a:xfrm>
            <a:off x="3803430" y="5222557"/>
            <a:ext cx="534067" cy="36070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1"/>
                </a:solidFill>
              </a:rPr>
              <a:t>Sala bloco</a:t>
            </a:r>
            <a:endParaRPr lang="pt-BR" sz="590" dirty="0">
              <a:solidFill>
                <a:schemeClr val="accent1"/>
              </a:solidFill>
            </a:endParaRPr>
          </a:p>
        </p:txBody>
      </p:sp>
      <p:cxnSp>
        <p:nvCxnSpPr>
          <p:cNvPr id="86" name="Conector: Curvo 120"/>
          <p:cNvCxnSpPr>
            <a:stCxn id="84" idx="2"/>
            <a:endCxn id="38" idx="1"/>
          </p:cNvCxnSpPr>
          <p:nvPr/>
        </p:nvCxnSpPr>
        <p:spPr>
          <a:xfrm rot="10800000" flipV="1">
            <a:off x="3758977" y="5402908"/>
            <a:ext cx="44453" cy="495965"/>
          </a:xfrm>
          <a:prstGeom prst="curvedConnector3">
            <a:avLst>
              <a:gd name="adj1" fmla="val 6357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: Curvo 120"/>
          <p:cNvCxnSpPr>
            <a:stCxn id="84" idx="6"/>
            <a:endCxn id="38" idx="3"/>
          </p:cNvCxnSpPr>
          <p:nvPr/>
        </p:nvCxnSpPr>
        <p:spPr>
          <a:xfrm>
            <a:off x="4337497" y="5402908"/>
            <a:ext cx="71124" cy="495965"/>
          </a:xfrm>
          <a:prstGeom prst="curvedConnector3">
            <a:avLst>
              <a:gd name="adj1" fmla="val 434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171"/>
          <p:cNvSpPr txBox="1"/>
          <p:nvPr/>
        </p:nvSpPr>
        <p:spPr>
          <a:xfrm>
            <a:off x="3742466" y="5569288"/>
            <a:ext cx="824280" cy="16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500" dirty="0">
                <a:solidFill>
                  <a:schemeClr val="tx1"/>
                </a:solidFill>
              </a:rPr>
              <a:t>Tri ( 10, 20, 15) mi</a:t>
            </a:r>
            <a:r>
              <a:rPr lang="pt-BR" sz="500" b="1" dirty="0">
                <a:solidFill>
                  <a:schemeClr val="tx1"/>
                </a:solidFill>
              </a:rPr>
              <a:t>n </a:t>
            </a:r>
            <a:endParaRPr lang="pt-BR" sz="500" b="1" dirty="0">
              <a:solidFill>
                <a:schemeClr val="tx1"/>
              </a:solidFill>
            </a:endParaRPr>
          </a:p>
        </p:txBody>
      </p:sp>
      <p:sp>
        <p:nvSpPr>
          <p:cNvPr id="92" name="CaixaDeTexto 171"/>
          <p:cNvSpPr txBox="1"/>
          <p:nvPr/>
        </p:nvSpPr>
        <p:spPr>
          <a:xfrm>
            <a:off x="3694838" y="4587519"/>
            <a:ext cx="824280" cy="16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500" dirty="0">
                <a:solidFill>
                  <a:schemeClr val="tx1"/>
                </a:solidFill>
              </a:rPr>
              <a:t>Tri ( 10, 20, 15) mi</a:t>
            </a:r>
            <a:r>
              <a:rPr lang="pt-BR" sz="500" b="1" dirty="0">
                <a:solidFill>
                  <a:schemeClr val="tx1"/>
                </a:solidFill>
              </a:rPr>
              <a:t>n </a:t>
            </a:r>
            <a:endParaRPr lang="pt-BR" sz="500" b="1" dirty="0">
              <a:solidFill>
                <a:schemeClr val="tx1"/>
              </a:solidFill>
            </a:endParaRPr>
          </a:p>
        </p:txBody>
      </p:sp>
      <p:sp>
        <p:nvSpPr>
          <p:cNvPr id="94" name="CaixaDeTexto 171"/>
          <p:cNvSpPr txBox="1"/>
          <p:nvPr/>
        </p:nvSpPr>
        <p:spPr>
          <a:xfrm>
            <a:off x="3742466" y="3616545"/>
            <a:ext cx="824280" cy="16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500" dirty="0">
                <a:solidFill>
                  <a:schemeClr val="tx1"/>
                </a:solidFill>
              </a:rPr>
              <a:t>Tri ( 10, 20, 15) mi</a:t>
            </a:r>
            <a:r>
              <a:rPr lang="pt-BR" sz="500" b="1" dirty="0">
                <a:solidFill>
                  <a:schemeClr val="tx1"/>
                </a:solidFill>
              </a:rPr>
              <a:t>n </a:t>
            </a:r>
            <a:endParaRPr lang="pt-BR" sz="500" b="1" dirty="0">
              <a:solidFill>
                <a:schemeClr val="tx1"/>
              </a:solidFill>
            </a:endParaRPr>
          </a:p>
        </p:txBody>
      </p:sp>
      <p:sp>
        <p:nvSpPr>
          <p:cNvPr id="96" name="Elipse 95"/>
          <p:cNvSpPr/>
          <p:nvPr/>
        </p:nvSpPr>
        <p:spPr>
          <a:xfrm>
            <a:off x="3783108" y="4200145"/>
            <a:ext cx="568360" cy="398804"/>
          </a:xfrm>
          <a:prstGeom prst="ellips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Tec. enf. emergente</a:t>
            </a:r>
            <a:endParaRPr lang="pt-BR" sz="59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97" name="Conector: Curvo 133"/>
          <p:cNvCxnSpPr>
            <a:stCxn id="96" idx="2"/>
            <a:endCxn id="24" idx="1"/>
          </p:cNvCxnSpPr>
          <p:nvPr/>
        </p:nvCxnSpPr>
        <p:spPr>
          <a:xfrm rot="10800000" flipV="1">
            <a:off x="3758977" y="4399547"/>
            <a:ext cx="24131" cy="536608"/>
          </a:xfrm>
          <a:prstGeom prst="curvedConnector3">
            <a:avLst>
              <a:gd name="adj1" fmla="val 1086842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: Curvo 133"/>
          <p:cNvCxnSpPr>
            <a:stCxn id="36" idx="1"/>
            <a:endCxn id="96" idx="2"/>
          </p:cNvCxnSpPr>
          <p:nvPr/>
        </p:nvCxnSpPr>
        <p:spPr>
          <a:xfrm rot="10800000" flipH="1" flipV="1">
            <a:off x="3783108" y="3951210"/>
            <a:ext cx="3175" cy="448337"/>
          </a:xfrm>
          <a:prstGeom prst="curvedConnector3">
            <a:avLst>
              <a:gd name="adj1" fmla="val -750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Curvo 133"/>
          <p:cNvCxnSpPr>
            <a:stCxn id="24" idx="3"/>
            <a:endCxn id="96" idx="6"/>
          </p:cNvCxnSpPr>
          <p:nvPr/>
        </p:nvCxnSpPr>
        <p:spPr>
          <a:xfrm flipH="1" flipV="1">
            <a:off x="4351468" y="4399547"/>
            <a:ext cx="57153" cy="536608"/>
          </a:xfrm>
          <a:prstGeom prst="curvedConnector3">
            <a:avLst>
              <a:gd name="adj1" fmla="val -416667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: Curvo 133"/>
          <p:cNvCxnSpPr>
            <a:stCxn id="96" idx="6"/>
            <a:endCxn id="36" idx="3"/>
          </p:cNvCxnSpPr>
          <p:nvPr/>
        </p:nvCxnSpPr>
        <p:spPr>
          <a:xfrm flipV="1">
            <a:off x="4351468" y="3951210"/>
            <a:ext cx="81285" cy="448337"/>
          </a:xfrm>
          <a:prstGeom prst="curvedConnector3">
            <a:avLst>
              <a:gd name="adj1" fmla="val 392969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: Curvo 120"/>
          <p:cNvCxnSpPr>
            <a:stCxn id="84" idx="2"/>
            <a:endCxn id="24" idx="1"/>
          </p:cNvCxnSpPr>
          <p:nvPr/>
        </p:nvCxnSpPr>
        <p:spPr>
          <a:xfrm rot="10800000">
            <a:off x="3758977" y="4936155"/>
            <a:ext cx="44453" cy="466753"/>
          </a:xfrm>
          <a:prstGeom prst="curvedConnector3">
            <a:avLst>
              <a:gd name="adj1" fmla="val 6357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: Curvo 120"/>
          <p:cNvCxnSpPr>
            <a:stCxn id="24" idx="3"/>
            <a:endCxn id="84" idx="6"/>
          </p:cNvCxnSpPr>
          <p:nvPr/>
        </p:nvCxnSpPr>
        <p:spPr>
          <a:xfrm flipH="1">
            <a:off x="4337497" y="4935520"/>
            <a:ext cx="71124" cy="467388"/>
          </a:xfrm>
          <a:prstGeom prst="curvedConnector3">
            <a:avLst>
              <a:gd name="adj1" fmla="val -334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aixaDeTexto 173"/>
          <p:cNvSpPr txBox="1"/>
          <p:nvPr/>
        </p:nvSpPr>
        <p:spPr>
          <a:xfrm>
            <a:off x="4267683" y="4392685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0" name="CaixaDeTexto 173"/>
          <p:cNvSpPr txBox="1"/>
          <p:nvPr/>
        </p:nvSpPr>
        <p:spPr>
          <a:xfrm>
            <a:off x="4267683" y="5376995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CaixaDeTexto 173"/>
          <p:cNvSpPr txBox="1"/>
          <p:nvPr/>
        </p:nvSpPr>
        <p:spPr>
          <a:xfrm>
            <a:off x="1758010" y="1163514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U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3" name="CaixaDeTexto 173"/>
          <p:cNvSpPr txBox="1"/>
          <p:nvPr/>
        </p:nvSpPr>
        <p:spPr>
          <a:xfrm>
            <a:off x="1770036" y="836981"/>
            <a:ext cx="403249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EL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CaixaDeTexto 173"/>
          <p:cNvSpPr txBox="1"/>
          <p:nvPr/>
        </p:nvSpPr>
        <p:spPr>
          <a:xfrm>
            <a:off x="4267683" y="6241282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Elipse 114"/>
          <p:cNvSpPr/>
          <p:nvPr/>
        </p:nvSpPr>
        <p:spPr>
          <a:xfrm>
            <a:off x="3803650" y="3298190"/>
            <a:ext cx="564515" cy="281940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bg2">
                    <a:lumMod val="75000"/>
                  </a:schemeClr>
                </a:solidFill>
              </a:rPr>
              <a:t>Sala emergente</a:t>
            </a:r>
            <a:endParaRPr lang="pt-BR" sz="59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16" name="Conector: Curvo 116"/>
          <p:cNvCxnSpPr>
            <a:stCxn id="36" idx="1"/>
            <a:endCxn id="115" idx="2"/>
          </p:cNvCxnSpPr>
          <p:nvPr/>
        </p:nvCxnSpPr>
        <p:spPr>
          <a:xfrm rot="10800000" flipH="1">
            <a:off x="3782695" y="3439160"/>
            <a:ext cx="20955" cy="511810"/>
          </a:xfrm>
          <a:prstGeom prst="curvedConnector3">
            <a:avLst>
              <a:gd name="adj1" fmla="val -1136364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: Curvo 116"/>
          <p:cNvCxnSpPr>
            <a:stCxn id="115" idx="6"/>
            <a:endCxn id="36" idx="3"/>
          </p:cNvCxnSpPr>
          <p:nvPr/>
        </p:nvCxnSpPr>
        <p:spPr>
          <a:xfrm>
            <a:off x="4368165" y="3439160"/>
            <a:ext cx="64135" cy="511810"/>
          </a:xfrm>
          <a:prstGeom prst="curvedConnector3">
            <a:avLst>
              <a:gd name="adj1" fmla="val 471287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aixaDeTexto 173"/>
          <p:cNvSpPr txBox="1"/>
          <p:nvPr/>
        </p:nvSpPr>
        <p:spPr>
          <a:xfrm>
            <a:off x="4267683" y="3409643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2" name="Conector: Curvo 65"/>
          <p:cNvCxnSpPr>
            <a:stCxn id="38" idx="1"/>
            <a:endCxn id="18" idx="4"/>
          </p:cNvCxnSpPr>
          <p:nvPr/>
        </p:nvCxnSpPr>
        <p:spPr>
          <a:xfrm rot="10800000">
            <a:off x="2835275" y="5269230"/>
            <a:ext cx="923290" cy="62928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aixaDeTexto 173"/>
          <p:cNvSpPr txBox="1"/>
          <p:nvPr/>
        </p:nvSpPr>
        <p:spPr>
          <a:xfrm>
            <a:off x="1545232" y="1467574"/>
            <a:ext cx="408965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EM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9" name="CaixaDeTexto 171"/>
          <p:cNvSpPr txBox="1"/>
          <p:nvPr/>
        </p:nvSpPr>
        <p:spPr>
          <a:xfrm>
            <a:off x="3608473" y="2231526"/>
            <a:ext cx="824280" cy="16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500" dirty="0">
                <a:solidFill>
                  <a:schemeClr val="tx1"/>
                </a:solidFill>
              </a:rPr>
              <a:t>Tri ( 3, 10, 7) mi</a:t>
            </a:r>
            <a:r>
              <a:rPr lang="pt-BR" sz="500" b="1" dirty="0">
                <a:solidFill>
                  <a:schemeClr val="tx1"/>
                </a:solidFill>
              </a:rPr>
              <a:t>n </a:t>
            </a:r>
            <a:endParaRPr lang="pt-BR" sz="500" b="1" dirty="0">
              <a:solidFill>
                <a:schemeClr val="tx1"/>
              </a:solidFill>
            </a:endParaRPr>
          </a:p>
        </p:txBody>
      </p:sp>
      <p:sp>
        <p:nvSpPr>
          <p:cNvPr id="136" name="CaixaDeTexto 171"/>
          <p:cNvSpPr txBox="1"/>
          <p:nvPr/>
        </p:nvSpPr>
        <p:spPr>
          <a:xfrm>
            <a:off x="1223906" y="4621176"/>
            <a:ext cx="949383" cy="16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BR" sz="500" dirty="0">
                <a:solidFill>
                  <a:schemeClr val="tx1"/>
                </a:solidFill>
              </a:rPr>
              <a:t>Tri ( 440, 520, 480) mi</a:t>
            </a:r>
            <a:r>
              <a:rPr lang="pt-BR" sz="500" b="1" dirty="0">
                <a:solidFill>
                  <a:schemeClr val="tx1"/>
                </a:solidFill>
              </a:rPr>
              <a:t>n </a:t>
            </a:r>
            <a:endParaRPr lang="pt-BR" sz="500" b="1" dirty="0">
              <a:solidFill>
                <a:schemeClr val="tx1"/>
              </a:solidFill>
            </a:endParaRPr>
          </a:p>
        </p:txBody>
      </p:sp>
      <p:cxnSp>
        <p:nvCxnSpPr>
          <p:cNvPr id="138" name="Conector: Curvo 68"/>
          <p:cNvCxnSpPr>
            <a:stCxn id="7" idx="3"/>
            <a:endCxn id="34" idx="2"/>
          </p:cNvCxnSpPr>
          <p:nvPr/>
        </p:nvCxnSpPr>
        <p:spPr>
          <a:xfrm flipH="1">
            <a:off x="1427115" y="1003361"/>
            <a:ext cx="342921" cy="2081021"/>
          </a:xfrm>
          <a:prstGeom prst="curvedConnector5">
            <a:avLst>
              <a:gd name="adj1" fmla="val -19444"/>
              <a:gd name="adj2" fmla="val 47849"/>
              <a:gd name="adj3" fmla="val 1694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ipse 139"/>
          <p:cNvSpPr/>
          <p:nvPr/>
        </p:nvSpPr>
        <p:spPr>
          <a:xfrm>
            <a:off x="1361036" y="4148759"/>
            <a:ext cx="592394" cy="43849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rgbClr val="FFC000"/>
                </a:solidFill>
              </a:rPr>
              <a:t>Téc.  Enf.  SRPA</a:t>
            </a:r>
            <a:endParaRPr lang="pt-BR" sz="590" dirty="0">
              <a:solidFill>
                <a:srgbClr val="FFC000"/>
              </a:solidFill>
            </a:endParaRPr>
          </a:p>
        </p:txBody>
      </p:sp>
      <p:cxnSp>
        <p:nvCxnSpPr>
          <p:cNvPr id="141" name="Conector: Curvo 105"/>
          <p:cNvCxnSpPr>
            <a:stCxn id="140" idx="2"/>
            <a:endCxn id="27" idx="1"/>
          </p:cNvCxnSpPr>
          <p:nvPr/>
        </p:nvCxnSpPr>
        <p:spPr>
          <a:xfrm rot="10800000" flipV="1">
            <a:off x="1303918" y="4368430"/>
            <a:ext cx="56518" cy="584235"/>
          </a:xfrm>
          <a:prstGeom prst="curvedConnector3">
            <a:avLst>
              <a:gd name="adj1" fmla="val 521348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: Curvo 105"/>
          <p:cNvCxnSpPr>
            <a:stCxn id="140" idx="6"/>
            <a:endCxn id="27" idx="3"/>
          </p:cNvCxnSpPr>
          <p:nvPr/>
        </p:nvCxnSpPr>
        <p:spPr>
          <a:xfrm>
            <a:off x="1953562" y="4368430"/>
            <a:ext cx="3175" cy="584235"/>
          </a:xfrm>
          <a:prstGeom prst="curvedConnector3">
            <a:avLst>
              <a:gd name="adj1" fmla="val 10600000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Elipse 143"/>
          <p:cNvSpPr/>
          <p:nvPr/>
        </p:nvSpPr>
        <p:spPr>
          <a:xfrm>
            <a:off x="1368022" y="3616597"/>
            <a:ext cx="592394" cy="438499"/>
          </a:xfrm>
          <a:prstGeom prst="ellipse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Enf.  SRPA</a:t>
            </a:r>
            <a:endParaRPr lang="pt-BR" sz="59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5" name="Conector: Curvo 105"/>
          <p:cNvCxnSpPr>
            <a:stCxn id="27" idx="1"/>
            <a:endCxn id="144" idx="2"/>
          </p:cNvCxnSpPr>
          <p:nvPr/>
        </p:nvCxnSpPr>
        <p:spPr>
          <a:xfrm rot="10800000" flipH="1">
            <a:off x="1304553" y="3836268"/>
            <a:ext cx="63504" cy="1116398"/>
          </a:xfrm>
          <a:prstGeom prst="curvedConnector3">
            <a:avLst>
              <a:gd name="adj1" fmla="val -375000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: Curvo 105"/>
          <p:cNvCxnSpPr>
            <a:stCxn id="144" idx="6"/>
            <a:endCxn id="27" idx="3"/>
          </p:cNvCxnSpPr>
          <p:nvPr/>
        </p:nvCxnSpPr>
        <p:spPr>
          <a:xfrm flipH="1">
            <a:off x="1954197" y="3836268"/>
            <a:ext cx="6350" cy="1116398"/>
          </a:xfrm>
          <a:prstGeom prst="curvedConnector3">
            <a:avLst>
              <a:gd name="adj1" fmla="val -3750000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CaixaDeTexto 173"/>
          <p:cNvSpPr txBox="1"/>
          <p:nvPr/>
        </p:nvSpPr>
        <p:spPr>
          <a:xfrm>
            <a:off x="1874222" y="3849092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0" name="CaixaDeTexto 173"/>
          <p:cNvSpPr txBox="1"/>
          <p:nvPr/>
        </p:nvSpPr>
        <p:spPr>
          <a:xfrm>
            <a:off x="1920580" y="4399670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51" name="Conector: Curvo 141"/>
          <p:cNvCxnSpPr>
            <a:stCxn id="31" idx="6"/>
            <a:endCxn id="22" idx="3"/>
          </p:cNvCxnSpPr>
          <p:nvPr/>
        </p:nvCxnSpPr>
        <p:spPr>
          <a:xfrm flipH="1" flipV="1">
            <a:off x="7259955" y="3110230"/>
            <a:ext cx="362585" cy="427990"/>
          </a:xfrm>
          <a:prstGeom prst="curvedConnector3">
            <a:avLst>
              <a:gd name="adj1" fmla="val -65674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: Curvo 141"/>
          <p:cNvCxnSpPr>
            <a:stCxn id="22" idx="1"/>
            <a:endCxn id="31" idx="2"/>
          </p:cNvCxnSpPr>
          <p:nvPr/>
        </p:nvCxnSpPr>
        <p:spPr>
          <a:xfrm rot="10800000" flipV="1">
            <a:off x="6445885" y="3110230"/>
            <a:ext cx="164465" cy="427990"/>
          </a:xfrm>
          <a:prstGeom prst="curvedConnector3">
            <a:avLst>
              <a:gd name="adj1" fmla="val 244788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CaixaDeTexto 171"/>
          <p:cNvSpPr txBox="1"/>
          <p:nvPr/>
        </p:nvSpPr>
        <p:spPr>
          <a:xfrm>
            <a:off x="6287770" y="165735"/>
            <a:ext cx="1691640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pt-BR" sz="500" dirty="0">
                <a:solidFill>
                  <a:schemeClr val="tx1"/>
                </a:solidFill>
              </a:rPr>
              <a:t>lognormvariate(-1.737, 46.013["pequeno"]))</a:t>
            </a:r>
            <a:r>
              <a:rPr lang="pt-BR" altLang="en-US" sz="500" dirty="0">
                <a:solidFill>
                  <a:schemeClr val="tx1"/>
                </a:solidFill>
              </a:rPr>
              <a:t> </a:t>
            </a:r>
            <a:r>
              <a:rPr lang="pt-BR" altLang="en-US" sz="500" dirty="0">
                <a:sym typeface="+mn-ea"/>
              </a:rPr>
              <a:t>min</a:t>
            </a:r>
            <a:endParaRPr lang="en-US" altLang="pt-BR" sz="500" dirty="0">
              <a:solidFill>
                <a:schemeClr val="tx1"/>
              </a:solidFill>
            </a:endParaRPr>
          </a:p>
          <a:p>
            <a:r>
              <a:rPr lang="en-US" altLang="pt-BR" sz="500" dirty="0">
                <a:solidFill>
                  <a:schemeClr val="tx1"/>
                </a:solidFill>
              </a:rPr>
              <a:t>lognormvariate(-30.631, 114.608["medio"]))</a:t>
            </a:r>
            <a:r>
              <a:rPr lang="pt-BR" altLang="en-US" sz="500" dirty="0">
                <a:solidFill>
                  <a:schemeClr val="tx1"/>
                </a:solidFill>
              </a:rPr>
              <a:t> </a:t>
            </a:r>
            <a:r>
              <a:rPr lang="pt-BR" altLang="en-US" sz="500" dirty="0">
                <a:sym typeface="+mn-ea"/>
              </a:rPr>
              <a:t>min</a:t>
            </a:r>
            <a:endParaRPr lang="en-US" altLang="pt-BR" sz="500" dirty="0">
              <a:solidFill>
                <a:schemeClr val="tx1"/>
              </a:solidFill>
            </a:endParaRPr>
          </a:p>
          <a:p>
            <a:r>
              <a:rPr lang="en-US" altLang="pt-BR" sz="500" dirty="0">
                <a:solidFill>
                  <a:schemeClr val="tx1"/>
                </a:solidFill>
              </a:rPr>
              <a:t>lognormvariate(-7.157, 79.362["grande"]))</a:t>
            </a:r>
            <a:r>
              <a:rPr lang="pt-BR" altLang="en-US" sz="500" dirty="0">
                <a:solidFill>
                  <a:schemeClr val="tx1"/>
                </a:solidFill>
              </a:rPr>
              <a:t> min</a:t>
            </a:r>
            <a:r>
              <a:rPr lang="pt-BR" sz="500" dirty="0">
                <a:solidFill>
                  <a:schemeClr val="tx1"/>
                </a:solidFill>
              </a:rPr>
              <a:t> </a:t>
            </a:r>
            <a:endParaRPr lang="pt-BR" sz="500" dirty="0">
              <a:solidFill>
                <a:schemeClr val="tx1"/>
              </a:solidFill>
            </a:endParaRPr>
          </a:p>
        </p:txBody>
      </p:sp>
      <p:sp>
        <p:nvSpPr>
          <p:cNvPr id="157" name="CaixaDeTexto 173"/>
          <p:cNvSpPr txBox="1"/>
          <p:nvPr/>
        </p:nvSpPr>
        <p:spPr>
          <a:xfrm>
            <a:off x="4792185" y="5183820"/>
            <a:ext cx="403249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EL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8" name="Elipse 157"/>
          <p:cNvSpPr/>
          <p:nvPr/>
        </p:nvSpPr>
        <p:spPr>
          <a:xfrm>
            <a:off x="3694838" y="1832721"/>
            <a:ext cx="568360" cy="398804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Tec. enf. emergente</a:t>
            </a:r>
            <a:endParaRPr lang="pt-BR" sz="59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0" name="Elipse 159"/>
          <p:cNvSpPr/>
          <p:nvPr/>
        </p:nvSpPr>
        <p:spPr>
          <a:xfrm>
            <a:off x="3652520" y="2766060"/>
            <a:ext cx="781050" cy="25273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9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Eq. médica emergente</a:t>
            </a:r>
            <a:endParaRPr lang="pt-BR" sz="59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3" name="Conector: Curvo 133"/>
          <p:cNvCxnSpPr>
            <a:stCxn id="158" idx="2"/>
            <a:endCxn id="30" idx="1"/>
          </p:cNvCxnSpPr>
          <p:nvPr/>
        </p:nvCxnSpPr>
        <p:spPr>
          <a:xfrm rot="10800000" flipV="1">
            <a:off x="3652925" y="2032123"/>
            <a:ext cx="41913" cy="514381"/>
          </a:xfrm>
          <a:prstGeom prst="curvedConnector3">
            <a:avLst>
              <a:gd name="adj1" fmla="val 668182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: Curvo 133"/>
          <p:cNvCxnSpPr>
            <a:stCxn id="30" idx="3"/>
            <a:endCxn id="158" idx="6"/>
          </p:cNvCxnSpPr>
          <p:nvPr/>
        </p:nvCxnSpPr>
        <p:spPr>
          <a:xfrm flipV="1">
            <a:off x="4194613" y="2032123"/>
            <a:ext cx="68584" cy="514381"/>
          </a:xfrm>
          <a:prstGeom prst="curvedConnector3">
            <a:avLst>
              <a:gd name="adj1" fmla="val 447222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: Curvo 127"/>
          <p:cNvCxnSpPr>
            <a:stCxn id="30" idx="1"/>
            <a:endCxn id="160" idx="2"/>
          </p:cNvCxnSpPr>
          <p:nvPr/>
        </p:nvCxnSpPr>
        <p:spPr>
          <a:xfrm rot="10800000" flipV="1">
            <a:off x="3652520" y="2546985"/>
            <a:ext cx="635" cy="345440"/>
          </a:xfrm>
          <a:prstGeom prst="curvedConnector3">
            <a:avLst>
              <a:gd name="adj1" fmla="val 3760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: Curvo 127"/>
          <p:cNvCxnSpPr>
            <a:stCxn id="30" idx="3"/>
            <a:endCxn id="160" idx="6"/>
          </p:cNvCxnSpPr>
          <p:nvPr/>
        </p:nvCxnSpPr>
        <p:spPr>
          <a:xfrm>
            <a:off x="4194810" y="2546985"/>
            <a:ext cx="238760" cy="345440"/>
          </a:xfrm>
          <a:prstGeom prst="curvedConnector3">
            <a:avLst>
              <a:gd name="adj1" fmla="val 1997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CaixaDeTexto 173"/>
          <p:cNvSpPr txBox="1"/>
          <p:nvPr/>
        </p:nvSpPr>
        <p:spPr>
          <a:xfrm>
            <a:off x="4220055" y="2054473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6" name="CaixaDeTexto 173"/>
          <p:cNvSpPr txBox="1"/>
          <p:nvPr/>
        </p:nvSpPr>
        <p:spPr>
          <a:xfrm>
            <a:off x="4371818" y="2679344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30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7" name="CaixaDeTexto 173"/>
          <p:cNvSpPr txBox="1"/>
          <p:nvPr/>
        </p:nvSpPr>
        <p:spPr>
          <a:xfrm>
            <a:off x="4267643" y="914456"/>
            <a:ext cx="403249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EL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8" name="CaixaDeTexto 173"/>
          <p:cNvSpPr txBox="1"/>
          <p:nvPr/>
        </p:nvSpPr>
        <p:spPr>
          <a:xfrm>
            <a:off x="4896371" y="1212412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U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0" name="Conector Angulado 179"/>
          <p:cNvCxnSpPr>
            <a:stCxn id="19" idx="3"/>
            <a:endCxn id="13" idx="4"/>
          </p:cNvCxnSpPr>
          <p:nvPr/>
        </p:nvCxnSpPr>
        <p:spPr>
          <a:xfrm flipH="1">
            <a:off x="5634355" y="649605"/>
            <a:ext cx="1537970" cy="4685030"/>
          </a:xfrm>
          <a:prstGeom prst="bentConnector4">
            <a:avLst>
              <a:gd name="adj1" fmla="val -57473"/>
              <a:gd name="adj2" fmla="val 12744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CaixaDeTexto 173"/>
          <p:cNvSpPr txBox="1"/>
          <p:nvPr/>
        </p:nvSpPr>
        <p:spPr>
          <a:xfrm>
            <a:off x="4566806" y="4781747"/>
            <a:ext cx="298832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U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2" name="CaixaDeTexto 173"/>
          <p:cNvSpPr txBox="1"/>
          <p:nvPr/>
        </p:nvSpPr>
        <p:spPr>
          <a:xfrm>
            <a:off x="4865647" y="4729569"/>
            <a:ext cx="408965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EM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3" name="Conector Angulado 182"/>
          <p:cNvCxnSpPr>
            <a:stCxn id="22" idx="3"/>
            <a:endCxn id="13" idx="5"/>
          </p:cNvCxnSpPr>
          <p:nvPr/>
        </p:nvCxnSpPr>
        <p:spPr>
          <a:xfrm flipH="1">
            <a:off x="5944870" y="3110230"/>
            <a:ext cx="1315085" cy="2138680"/>
          </a:xfrm>
          <a:prstGeom prst="bentConnector4">
            <a:avLst>
              <a:gd name="adj1" fmla="val -41477"/>
              <a:gd name="adj2" fmla="val 149792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Angulado 186"/>
          <p:cNvCxnSpPr>
            <a:stCxn id="36" idx="1"/>
          </p:cNvCxnSpPr>
          <p:nvPr/>
        </p:nvCxnSpPr>
        <p:spPr>
          <a:xfrm rot="10800000">
            <a:off x="708025" y="3493770"/>
            <a:ext cx="3074035" cy="457200"/>
          </a:xfrm>
          <a:prstGeom prst="bentConnector3">
            <a:avLst>
              <a:gd name="adj1" fmla="val 4999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de Seta Reta 188"/>
          <p:cNvCxnSpPr>
            <a:endCxn id="6" idx="4"/>
          </p:cNvCxnSpPr>
          <p:nvPr/>
        </p:nvCxnSpPr>
        <p:spPr>
          <a:xfrm flipV="1">
            <a:off x="698500" y="1117600"/>
            <a:ext cx="1270" cy="2386965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CaixaDeTexto 173"/>
          <p:cNvSpPr txBox="1"/>
          <p:nvPr/>
        </p:nvSpPr>
        <p:spPr>
          <a:xfrm>
            <a:off x="378460" y="815340"/>
            <a:ext cx="710565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45" dirty="0">
                <a:latin typeface="Times New Roman" panose="02020603050405020304" charset="0"/>
                <a:cs typeface="Times New Roman" panose="02020603050405020304" charset="0"/>
              </a:rPr>
              <a:t>Hospital</a:t>
            </a:r>
            <a:endParaRPr lang="pt-BR" sz="7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1" name="CaixaDeTexto 171"/>
          <p:cNvSpPr txBox="1"/>
          <p:nvPr/>
        </p:nvSpPr>
        <p:spPr>
          <a:xfrm>
            <a:off x="1050290" y="649605"/>
            <a:ext cx="972185" cy="137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pt-BR" sz="500" dirty="0">
                <a:solidFill>
                  <a:schemeClr val="tx1"/>
                </a:solidFill>
              </a:rPr>
              <a:t>expo(1/U(30,150))</a:t>
            </a:r>
            <a:r>
              <a:rPr lang="pt-BR" altLang="en-US" sz="500" dirty="0">
                <a:solidFill>
                  <a:schemeClr val="tx1"/>
                </a:solidFill>
              </a:rPr>
              <a:t> min</a:t>
            </a:r>
            <a:endParaRPr lang="pt-BR" altLang="en-US" sz="500" dirty="0">
              <a:solidFill>
                <a:schemeClr val="tx1"/>
              </a:solidFill>
            </a:endParaRPr>
          </a:p>
        </p:txBody>
      </p:sp>
      <p:sp>
        <p:nvSpPr>
          <p:cNvPr id="192" name="CaixaDeTexto 171"/>
          <p:cNvSpPr txBox="1"/>
          <p:nvPr/>
        </p:nvSpPr>
        <p:spPr>
          <a:xfrm>
            <a:off x="6205220" y="2596515"/>
            <a:ext cx="1691640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pt-BR" sz="500" dirty="0">
                <a:solidFill>
                  <a:schemeClr val="tx1"/>
                </a:solidFill>
              </a:rPr>
              <a:t>lognormvariate(-1.737, 46.013["pequeno"]))</a:t>
            </a:r>
            <a:r>
              <a:rPr lang="pt-BR" altLang="en-US" sz="500" dirty="0">
                <a:solidFill>
                  <a:schemeClr val="tx1"/>
                </a:solidFill>
              </a:rPr>
              <a:t> </a:t>
            </a:r>
            <a:r>
              <a:rPr lang="pt-BR" altLang="en-US" sz="500" dirty="0">
                <a:sym typeface="+mn-ea"/>
              </a:rPr>
              <a:t>min</a:t>
            </a:r>
            <a:endParaRPr lang="en-US" altLang="pt-BR" sz="500" dirty="0">
              <a:solidFill>
                <a:schemeClr val="tx1"/>
              </a:solidFill>
            </a:endParaRPr>
          </a:p>
          <a:p>
            <a:r>
              <a:rPr lang="en-US" altLang="pt-BR" sz="500" dirty="0">
                <a:solidFill>
                  <a:schemeClr val="tx1"/>
                </a:solidFill>
              </a:rPr>
              <a:t>lognormvariate(-30.631, 114.608["medio"]))</a:t>
            </a:r>
            <a:r>
              <a:rPr lang="pt-BR" altLang="en-US" sz="500" dirty="0">
                <a:solidFill>
                  <a:schemeClr val="tx1"/>
                </a:solidFill>
              </a:rPr>
              <a:t> </a:t>
            </a:r>
            <a:r>
              <a:rPr lang="pt-BR" altLang="en-US" sz="500" dirty="0">
                <a:sym typeface="+mn-ea"/>
              </a:rPr>
              <a:t>min</a:t>
            </a:r>
            <a:endParaRPr lang="en-US" altLang="pt-BR" sz="500" dirty="0">
              <a:solidFill>
                <a:schemeClr val="tx1"/>
              </a:solidFill>
            </a:endParaRPr>
          </a:p>
          <a:p>
            <a:r>
              <a:rPr lang="en-US" altLang="pt-BR" sz="500" dirty="0">
                <a:solidFill>
                  <a:schemeClr val="tx1"/>
                </a:solidFill>
              </a:rPr>
              <a:t>lognormvariate(-7.157, 79.362["grande"]))</a:t>
            </a:r>
            <a:r>
              <a:rPr lang="pt-BR" altLang="en-US" sz="500" dirty="0">
                <a:solidFill>
                  <a:schemeClr val="tx1"/>
                </a:solidFill>
              </a:rPr>
              <a:t> min</a:t>
            </a:r>
            <a:r>
              <a:rPr lang="pt-BR" sz="500" dirty="0">
                <a:solidFill>
                  <a:schemeClr val="tx1"/>
                </a:solidFill>
              </a:rPr>
              <a:t> </a:t>
            </a:r>
            <a:endParaRPr lang="pt-BR" sz="500" dirty="0">
              <a:solidFill>
                <a:schemeClr val="tx1"/>
              </a:solidFill>
            </a:endParaRPr>
          </a:p>
        </p:txBody>
      </p:sp>
      <p:sp>
        <p:nvSpPr>
          <p:cNvPr id="193" name="CaixaDeTexto 171"/>
          <p:cNvSpPr txBox="1"/>
          <p:nvPr/>
        </p:nvSpPr>
        <p:spPr>
          <a:xfrm>
            <a:off x="6445250" y="4199890"/>
            <a:ext cx="1691640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pt-BR" sz="500" dirty="0">
                <a:solidFill>
                  <a:schemeClr val="tx1"/>
                </a:solidFill>
              </a:rPr>
              <a:t>lognormvariate(-1.737, 46.013["pequeno"]))</a:t>
            </a:r>
            <a:r>
              <a:rPr lang="pt-BR" altLang="en-US" sz="500" dirty="0">
                <a:solidFill>
                  <a:schemeClr val="tx1"/>
                </a:solidFill>
              </a:rPr>
              <a:t> </a:t>
            </a:r>
            <a:r>
              <a:rPr lang="pt-BR" altLang="en-US" sz="500" dirty="0">
                <a:sym typeface="+mn-ea"/>
              </a:rPr>
              <a:t>min</a:t>
            </a:r>
            <a:endParaRPr lang="en-US" altLang="pt-BR" sz="500" dirty="0">
              <a:solidFill>
                <a:schemeClr val="tx1"/>
              </a:solidFill>
            </a:endParaRPr>
          </a:p>
          <a:p>
            <a:r>
              <a:rPr lang="en-US" altLang="pt-BR" sz="500" dirty="0">
                <a:solidFill>
                  <a:schemeClr val="tx1"/>
                </a:solidFill>
              </a:rPr>
              <a:t>lognormvariate(-30.631, 114.608["medio"]))</a:t>
            </a:r>
            <a:r>
              <a:rPr lang="pt-BR" altLang="en-US" sz="500" dirty="0">
                <a:solidFill>
                  <a:schemeClr val="tx1"/>
                </a:solidFill>
              </a:rPr>
              <a:t> </a:t>
            </a:r>
            <a:r>
              <a:rPr lang="pt-BR" altLang="en-US" sz="500" dirty="0">
                <a:sym typeface="+mn-ea"/>
              </a:rPr>
              <a:t>min</a:t>
            </a:r>
            <a:endParaRPr lang="en-US" altLang="pt-BR" sz="500" dirty="0">
              <a:solidFill>
                <a:schemeClr val="tx1"/>
              </a:solidFill>
            </a:endParaRPr>
          </a:p>
          <a:p>
            <a:r>
              <a:rPr lang="en-US" altLang="pt-BR" sz="500" dirty="0">
                <a:solidFill>
                  <a:schemeClr val="tx1"/>
                </a:solidFill>
              </a:rPr>
              <a:t>lognormvariate(-7.157, 79.362["grande"]))</a:t>
            </a:r>
            <a:r>
              <a:rPr lang="pt-BR" altLang="en-US" sz="500" dirty="0">
                <a:solidFill>
                  <a:schemeClr val="tx1"/>
                </a:solidFill>
              </a:rPr>
              <a:t> min</a:t>
            </a:r>
            <a:r>
              <a:rPr lang="pt-BR" sz="500" dirty="0">
                <a:solidFill>
                  <a:schemeClr val="tx1"/>
                </a:solidFill>
              </a:rPr>
              <a:t> </a:t>
            </a:r>
            <a:endParaRPr lang="pt-BR" sz="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1663</Words>
  <Application>WPS Presentation</Application>
  <PresentationFormat>Widescreen</PresentationFormat>
  <Paragraphs>174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Times New Roman</vt:lpstr>
      <vt:lpstr>Aptos</vt:lpstr>
      <vt:lpstr>Segoe UI</vt:lpstr>
      <vt:lpstr>Microsoft YaHei</vt:lpstr>
      <vt:lpstr>Arial Unicode MS</vt:lpstr>
      <vt:lpstr>Aptos Display</vt:lpstr>
      <vt:lpstr>Segoe UI Variable Display</vt:lpstr>
      <vt:lpstr>Tema do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RIBEIRO BATISTA</dc:creator>
  <cp:lastModifiedBy>milar</cp:lastModifiedBy>
  <cp:revision>64</cp:revision>
  <dcterms:created xsi:type="dcterms:W3CDTF">2025-09-09T21:47:00Z</dcterms:created>
  <dcterms:modified xsi:type="dcterms:W3CDTF">2025-11-12T14:29:31Z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Classificação da informação: Confidencial Grupo de Acesso: Destinatários deste e-mail</vt:lpwstr>
  </property>
  <property fmtid="{D5CDD505-2E9C-101B-9397-08002B2CF9AE}" pid="4" name="ICV">
    <vt:lpwstr>B3E1C997A50646F2B703BD79FFFC8989_13</vt:lpwstr>
  </property>
  <property fmtid="{D5CDD505-2E9C-101B-9397-08002B2CF9AE}" pid="5" name="KSOProductBuildVer">
    <vt:lpwstr>1046-12.2.0.23155</vt:lpwstr>
  </property>
</Properties>
</file>