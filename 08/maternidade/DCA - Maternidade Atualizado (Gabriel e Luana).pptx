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E881F-4173-4370-AB67-CE72FB1EEF4B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933B4-D72D-485F-8B29-F4D42AB92A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0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933B4-D72D-485F-8B29-F4D42AB92A6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19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8F7EE-BE34-6BC5-29EF-6A5C09B5C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3A992-56C7-961E-9794-CC94AC9F1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4728CC-F88C-B6FF-D679-024F0F02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681157-A0E1-200E-2845-9ECE6EBF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E8FCC-B865-975A-ED2B-49AF4CFB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79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21DB2-100F-D6AD-CD3E-F410E65B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27862-D3A4-9654-2FDB-4CAD516F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5ED2DF-14B2-507F-731D-3B368577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D41087-D701-D2DA-46F2-69BF4D48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F23F8F-42BA-8AE0-E2D0-8E6A677B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44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0AD7A-616A-238B-93DE-1BB4EC7E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C282F6-F9F9-29B5-5889-C53EB00EB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4F70C-9576-D90E-09C7-BC15F677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AF3403-898F-82CB-EF7D-3F0E3CEE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04B78C-B2A8-50D3-BCE9-6DEB2CF0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4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200E6-2FF5-BEC0-BFFC-472EBCFB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5C997B-8F27-D542-E940-32101C3C3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8EC31F-184E-AFDD-DC89-A54214D98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5B0598-E85D-8CAF-7766-218601FD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80291F-1F89-D9FB-552A-E0B02994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A20F66-958D-2AB6-B56A-247D0D84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27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8A002-8F7C-29AD-421D-A2E35764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DC59DE-A21C-7F68-7BCC-E4F1795C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29E2B0-A54F-DE13-105B-6F23B99CE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0A5635-0BF0-6DBF-6144-3698FD94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7ADA24-9D4A-6210-F9B5-149AC3F80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564F9B-C17C-41FF-5DAE-EF154808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EB7818-2906-027D-41AE-A9695E39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82E355-2694-AF58-10BF-4DF1C995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70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38E25-5655-1904-5EAE-C0888A4B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2AB9C0-15A0-D3BE-EB33-D09EFEE7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0AF6F4-17C3-CFE2-E301-02E6E105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623ACD-ECA6-68C8-77FD-6B11F01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99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261C08-7C04-3055-3955-162DC6D0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D16ADF-AE40-A158-C41F-5763F45A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6BC5B8-86B0-CA90-26C5-58DF2122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76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453B9-0268-27A9-B5A4-8492E6A5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3CBA0-02FC-50E2-FD6B-C70852254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D13F4E-F1C4-CB89-89AE-C41DB826B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55A0AA-E7AD-494C-92BA-0CA4DA65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546B34-46D4-903E-61D2-64A12BBF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957495-1E4A-464F-B213-C8C094C3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34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4F061-73B5-0681-E572-036E9CB1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4AC98C-0A2A-DC7C-16DA-0CA21E3FB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5C778C-1F78-5F6E-79BF-6D6BCAA01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5A306C-BFAE-C432-6850-FC395FBC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8C39D1-4E92-FE52-D9DA-B39FC024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70F018-C440-ECC8-35A8-76F63579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84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B9DCC-48C9-233F-67B6-808B10A5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195256-D4E1-80B0-10C2-10E366B0C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DFD64-6572-370F-FF4D-EFC74F4B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3D56D7-0236-3B4E-EA24-BEA4D027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4BE1A-6B63-FC82-ACE0-BD63807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41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572FB2-936C-E710-E643-6B0B55589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29F6C-CB45-E43A-C153-E18AE85B3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84F4F5-0DF1-80BF-B6AD-DB2CBFE4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415EED-99B4-F73D-C16E-79F63268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1A3A1-6A83-E8D1-5F55-C51F3185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7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34BCEE-6AA0-DB0D-6047-79C2F5AD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8A2A91-ADCA-D0B1-0EA8-464F62A85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2FC51-DF0F-F8D0-32E7-331D93F23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3E323-45A2-4916-A57C-4D9279AE3351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050EEE-04E2-4A8C-AC6E-BBB5BC05C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F2D3F8-C515-D829-2D34-FFE2ACCEC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20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354609DB-3A83-4956-FC22-C79763223D88}"/>
              </a:ext>
            </a:extLst>
          </p:cNvPr>
          <p:cNvGrpSpPr/>
          <p:nvPr/>
        </p:nvGrpSpPr>
        <p:grpSpPr>
          <a:xfrm>
            <a:off x="59969" y="5061264"/>
            <a:ext cx="606323" cy="502229"/>
            <a:chOff x="616635" y="2771335"/>
            <a:chExt cx="1324707" cy="109728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BB0379A-B30F-BE66-27F0-9F3774169A62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4513831E-CBAB-1C7D-C00D-418ACCE9F48F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4E7D5FC-E1DA-3307-4B96-E452D1AF8148}"/>
                </a:ext>
              </a:extLst>
            </p:cNvPr>
            <p:cNvSpPr txBox="1"/>
            <p:nvPr/>
          </p:nvSpPr>
          <p:spPr>
            <a:xfrm>
              <a:off x="1028113" y="3130061"/>
              <a:ext cx="729177" cy="437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B830D91-07A5-263D-23BA-E8F7E90842C7}"/>
              </a:ext>
            </a:extLst>
          </p:cNvPr>
          <p:cNvCxnSpPr>
            <a:cxnSpLocks/>
          </p:cNvCxnSpPr>
          <p:nvPr/>
        </p:nvCxnSpPr>
        <p:spPr>
          <a:xfrm>
            <a:off x="687220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374C46-9682-DB15-C3E2-E3B7950F38BC}"/>
              </a:ext>
            </a:extLst>
          </p:cNvPr>
          <p:cNvSpPr txBox="1"/>
          <p:nvPr/>
        </p:nvSpPr>
        <p:spPr>
          <a:xfrm>
            <a:off x="919017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CHEGADA</a:t>
            </a:r>
          </a:p>
          <a:p>
            <a:pPr algn="ctr"/>
            <a:endParaRPr lang="pt-BR" sz="700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D64655D-C665-D05E-96DD-A429DD171031}"/>
              </a:ext>
            </a:extLst>
          </p:cNvPr>
          <p:cNvCxnSpPr>
            <a:cxnSpLocks/>
          </p:cNvCxnSpPr>
          <p:nvPr/>
        </p:nvCxnSpPr>
        <p:spPr>
          <a:xfrm>
            <a:off x="1601533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C8615BA-9FA4-773D-83E1-ED70000E752F}"/>
              </a:ext>
            </a:extLst>
          </p:cNvPr>
          <p:cNvGrpSpPr/>
          <p:nvPr/>
        </p:nvGrpSpPr>
        <p:grpSpPr>
          <a:xfrm>
            <a:off x="1795503" y="5061264"/>
            <a:ext cx="573593" cy="502229"/>
            <a:chOff x="4449493" y="2967335"/>
            <a:chExt cx="1253198" cy="1097280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FB8CDE88-D637-AEB6-6F33-6847C703BCA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4BABFFA-D4D1-89BA-BF78-80552098F88D}"/>
                </a:ext>
              </a:extLst>
            </p:cNvPr>
            <p:cNvSpPr txBox="1"/>
            <p:nvPr/>
          </p:nvSpPr>
          <p:spPr>
            <a:xfrm>
              <a:off x="4449493" y="3105833"/>
              <a:ext cx="1253198" cy="67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Recepção</a:t>
              </a: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46EBD1E-3355-B083-365E-3E2478E7757E}"/>
              </a:ext>
            </a:extLst>
          </p:cNvPr>
          <p:cNvSpPr txBox="1"/>
          <p:nvPr/>
        </p:nvSpPr>
        <p:spPr>
          <a:xfrm>
            <a:off x="2563066" y="5050767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Entrada no Sistema</a:t>
            </a:r>
          </a:p>
          <a:p>
            <a:pPr algn="ctr"/>
            <a:endParaRPr lang="pt-BR" sz="700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CBF6ECEF-D9C3-1547-2E58-A38C88BABF0E}"/>
              </a:ext>
            </a:extLst>
          </p:cNvPr>
          <p:cNvCxnSpPr>
            <a:cxnSpLocks/>
          </p:cNvCxnSpPr>
          <p:nvPr/>
        </p:nvCxnSpPr>
        <p:spPr>
          <a:xfrm>
            <a:off x="2333414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DD75B63-4EE6-DC0B-49D2-D549E62242B3}"/>
              </a:ext>
            </a:extLst>
          </p:cNvPr>
          <p:cNvGrpSpPr/>
          <p:nvPr/>
        </p:nvGrpSpPr>
        <p:grpSpPr>
          <a:xfrm>
            <a:off x="2589359" y="4216705"/>
            <a:ext cx="573593" cy="502229"/>
            <a:chOff x="4449493" y="2967335"/>
            <a:chExt cx="1253198" cy="1097280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E42A73D2-961E-D0E5-9F3B-BBC97F4EF807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449CBFC-7F0C-10B5-DDF4-83DE48C3957A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Recepcionista</a:t>
              </a:r>
            </a:p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Livre</a:t>
              </a:r>
            </a:p>
          </p:txBody>
        </p:sp>
      </p:grpSp>
      <p:cxnSp>
        <p:nvCxnSpPr>
          <p:cNvPr id="40" name="Conector: Curvo 39">
            <a:extLst>
              <a:ext uri="{FF2B5EF4-FFF2-40B4-BE49-F238E27FC236}">
                <a16:creationId xmlns:a16="http://schemas.microsoft.com/office/drawing/2014/main" id="{E5237678-DE26-5517-0C53-A7E151831EB8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2479193" y="4471191"/>
            <a:ext cx="110166" cy="754256"/>
          </a:xfrm>
          <a:prstGeom prst="curvedConnector2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Curvo 49">
            <a:extLst>
              <a:ext uri="{FF2B5EF4-FFF2-40B4-BE49-F238E27FC236}">
                <a16:creationId xmlns:a16="http://schemas.microsoft.com/office/drawing/2014/main" id="{7C09B93F-8AEB-ABCD-F224-3B79F3B8B67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24183" y="474336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AA18B1AE-6CAE-28C7-6884-7C8EE029C462}"/>
              </a:ext>
            </a:extLst>
          </p:cNvPr>
          <p:cNvCxnSpPr>
            <a:cxnSpLocks/>
          </p:cNvCxnSpPr>
          <p:nvPr/>
        </p:nvCxnSpPr>
        <p:spPr>
          <a:xfrm>
            <a:off x="3247795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AD3F5CC8-94DF-8C98-B36D-D029694E3317}"/>
              </a:ext>
            </a:extLst>
          </p:cNvPr>
          <p:cNvSpPr txBox="1"/>
          <p:nvPr/>
        </p:nvSpPr>
        <p:spPr>
          <a:xfrm>
            <a:off x="4218183" y="5097433"/>
            <a:ext cx="682516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500" dirty="0"/>
              <a:t>Classificação</a:t>
            </a:r>
          </a:p>
          <a:p>
            <a:pPr algn="ctr"/>
            <a:r>
              <a:rPr lang="pt-BR" sz="500" dirty="0"/>
              <a:t>Risco Obstétrico</a:t>
            </a:r>
          </a:p>
          <a:p>
            <a:pPr algn="ctr"/>
            <a:endParaRPr lang="pt-BR" sz="700" dirty="0"/>
          </a:p>
        </p:txBody>
      </p: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4AF130A4-F863-E9E1-6E9C-4A01AEAC4B25}"/>
              </a:ext>
            </a:extLst>
          </p:cNvPr>
          <p:cNvGrpSpPr/>
          <p:nvPr/>
        </p:nvGrpSpPr>
        <p:grpSpPr>
          <a:xfrm>
            <a:off x="4297445" y="4309719"/>
            <a:ext cx="573593" cy="502229"/>
            <a:chOff x="4449493" y="2967335"/>
            <a:chExt cx="1253198" cy="1097280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66E00FEF-D2CB-207A-E847-8A81BFB5E1B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386F979E-D74B-AB7C-F8C8-105B475AE5B1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Enfermeiro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Livre</a:t>
              </a:r>
            </a:p>
          </p:txBody>
        </p:sp>
      </p:grpSp>
      <p:cxnSp>
        <p:nvCxnSpPr>
          <p:cNvPr id="74" name="Conector: Curvo 73">
            <a:extLst>
              <a:ext uri="{FF2B5EF4-FFF2-40B4-BE49-F238E27FC236}">
                <a16:creationId xmlns:a16="http://schemas.microsoft.com/office/drawing/2014/main" id="{A0D97863-7EFF-EE0E-0921-52C70775EE48}"/>
              </a:ext>
            </a:extLst>
          </p:cNvPr>
          <p:cNvCxnSpPr>
            <a:cxnSpLocks/>
            <a:stCxn id="73" idx="1"/>
          </p:cNvCxnSpPr>
          <p:nvPr/>
        </p:nvCxnSpPr>
        <p:spPr>
          <a:xfrm rot="10800000" flipV="1">
            <a:off x="4165383" y="4564205"/>
            <a:ext cx="132062" cy="653460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Curvo 74">
            <a:extLst>
              <a:ext uri="{FF2B5EF4-FFF2-40B4-BE49-F238E27FC236}">
                <a16:creationId xmlns:a16="http://schemas.microsoft.com/office/drawing/2014/main" id="{4B1A5A67-D0A7-30B8-C10C-9FDC84814599}"/>
              </a:ext>
            </a:extLst>
          </p:cNvPr>
          <p:cNvCxnSpPr>
            <a:cxnSpLocks/>
            <a:endCxn id="73" idx="3"/>
          </p:cNvCxnSpPr>
          <p:nvPr/>
        </p:nvCxnSpPr>
        <p:spPr>
          <a:xfrm rot="16200000" flipV="1">
            <a:off x="4569737" y="4865506"/>
            <a:ext cx="704712" cy="102109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094FCC4D-1BC0-F20D-DC80-62FE574782B4}"/>
              </a:ext>
            </a:extLst>
          </p:cNvPr>
          <p:cNvCxnSpPr>
            <a:cxnSpLocks/>
          </p:cNvCxnSpPr>
          <p:nvPr/>
        </p:nvCxnSpPr>
        <p:spPr>
          <a:xfrm flipV="1">
            <a:off x="4900699" y="5312379"/>
            <a:ext cx="422277" cy="37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5B046189-090E-3F64-4ACE-B95CA2911199}"/>
              </a:ext>
            </a:extLst>
          </p:cNvPr>
          <p:cNvGrpSpPr/>
          <p:nvPr/>
        </p:nvGrpSpPr>
        <p:grpSpPr>
          <a:xfrm>
            <a:off x="5292058" y="5061264"/>
            <a:ext cx="573593" cy="502229"/>
            <a:chOff x="4449493" y="2967335"/>
            <a:chExt cx="1253198" cy="1097280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9784D8AC-9D95-9E14-C113-868E6CA40E4C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02223F5A-F8F1-1440-543F-F3E0152562FC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Médico</a:t>
              </a:r>
            </a:p>
          </p:txBody>
        </p:sp>
      </p:grpSp>
      <p:sp>
        <p:nvSpPr>
          <p:cNvPr id="88" name="Elipse 87">
            <a:extLst>
              <a:ext uri="{FF2B5EF4-FFF2-40B4-BE49-F238E27FC236}">
                <a16:creationId xmlns:a16="http://schemas.microsoft.com/office/drawing/2014/main" id="{898B7375-911A-3C96-87FB-1BB07C473A2F}"/>
              </a:ext>
            </a:extLst>
          </p:cNvPr>
          <p:cNvSpPr/>
          <p:nvPr/>
        </p:nvSpPr>
        <p:spPr>
          <a:xfrm>
            <a:off x="5076929" y="5278844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7C12BC1-9182-820D-D2AB-842AA977E78B}"/>
              </a:ext>
            </a:extLst>
          </p:cNvPr>
          <p:cNvSpPr txBox="1"/>
          <p:nvPr/>
        </p:nvSpPr>
        <p:spPr>
          <a:xfrm>
            <a:off x="5044453" y="532957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1</a:t>
            </a:r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B08A37C1-9D18-8AC7-5BEA-4D17AB83C9F9}"/>
              </a:ext>
            </a:extLst>
          </p:cNvPr>
          <p:cNvCxnSpPr>
            <a:cxnSpLocks/>
          </p:cNvCxnSpPr>
          <p:nvPr/>
        </p:nvCxnSpPr>
        <p:spPr>
          <a:xfrm>
            <a:off x="5829969" y="5303710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2E4D042-D20F-F1A7-E1F4-F0B430BC6A26}"/>
              </a:ext>
            </a:extLst>
          </p:cNvPr>
          <p:cNvGrpSpPr/>
          <p:nvPr/>
        </p:nvGrpSpPr>
        <p:grpSpPr>
          <a:xfrm>
            <a:off x="6170690" y="5970796"/>
            <a:ext cx="573593" cy="502229"/>
            <a:chOff x="4449493" y="2967335"/>
            <a:chExt cx="1253198" cy="1097280"/>
          </a:xfrm>
        </p:grpSpPr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6FDFFF59-4EC1-BE94-6B53-26BC2A062F0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28FC2F13-151A-7533-43BB-2B0F3F4220D0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Médico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Livre</a:t>
              </a:r>
            </a:p>
          </p:txBody>
        </p:sp>
      </p:grp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4BBD7351-4C6E-C238-AB2F-4401671ABFAC}"/>
              </a:ext>
            </a:extLst>
          </p:cNvPr>
          <p:cNvSpPr txBox="1"/>
          <p:nvPr/>
        </p:nvSpPr>
        <p:spPr>
          <a:xfrm>
            <a:off x="6061767" y="5122593"/>
            <a:ext cx="68251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500" dirty="0"/>
              <a:t>Consulta e </a:t>
            </a:r>
          </a:p>
          <a:p>
            <a:pPr algn="ctr"/>
            <a:r>
              <a:rPr lang="pt-BR" sz="500" dirty="0"/>
              <a:t>Exame Clínico</a:t>
            </a:r>
          </a:p>
          <a:p>
            <a:pPr algn="ctr"/>
            <a:endParaRPr lang="pt-BR" sz="700" dirty="0"/>
          </a:p>
        </p:txBody>
      </p:sp>
      <p:cxnSp>
        <p:nvCxnSpPr>
          <p:cNvPr id="115" name="Conector: Curvo 114">
            <a:extLst>
              <a:ext uri="{FF2B5EF4-FFF2-40B4-BE49-F238E27FC236}">
                <a16:creationId xmlns:a16="http://schemas.microsoft.com/office/drawing/2014/main" id="{D804C228-7D01-F06C-EFF7-FA7ED5AFF634}"/>
              </a:ext>
            </a:extLst>
          </p:cNvPr>
          <p:cNvCxnSpPr>
            <a:cxnSpLocks/>
          </p:cNvCxnSpPr>
          <p:nvPr/>
        </p:nvCxnSpPr>
        <p:spPr>
          <a:xfrm>
            <a:off x="6769343" y="5472131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>
            <a:extLst>
              <a:ext uri="{FF2B5EF4-FFF2-40B4-BE49-F238E27FC236}">
                <a16:creationId xmlns:a16="http://schemas.microsoft.com/office/drawing/2014/main" id="{E2F7B31B-DE69-33FC-624D-EBF8CE52FA29}"/>
              </a:ext>
            </a:extLst>
          </p:cNvPr>
          <p:cNvCxnSpPr>
            <a:cxnSpLocks/>
          </p:cNvCxnSpPr>
          <p:nvPr/>
        </p:nvCxnSpPr>
        <p:spPr>
          <a:xfrm flipH="1" flipV="1">
            <a:off x="6027878" y="5520126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366849F4-2D00-06B9-C147-54948CF2D916}"/>
              </a:ext>
            </a:extLst>
          </p:cNvPr>
          <p:cNvCxnSpPr>
            <a:stCxn id="106" idx="3"/>
          </p:cNvCxnSpPr>
          <p:nvPr/>
        </p:nvCxnSpPr>
        <p:spPr>
          <a:xfrm>
            <a:off x="6744283" y="5353426"/>
            <a:ext cx="3927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0A7A034B-FB8C-015A-BBD9-F31F935C6556}"/>
              </a:ext>
            </a:extLst>
          </p:cNvPr>
          <p:cNvSpPr txBox="1"/>
          <p:nvPr/>
        </p:nvSpPr>
        <p:spPr>
          <a:xfrm>
            <a:off x="6496620" y="4536037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A</a:t>
            </a:r>
          </a:p>
        </p:txBody>
      </p:sp>
      <p:cxnSp>
        <p:nvCxnSpPr>
          <p:cNvPr id="147" name="Conector: Curvo 146">
            <a:extLst>
              <a:ext uri="{FF2B5EF4-FFF2-40B4-BE49-F238E27FC236}">
                <a16:creationId xmlns:a16="http://schemas.microsoft.com/office/drawing/2014/main" id="{8D5C0314-506A-D3DE-E0A5-57A574E37E0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27734" y="4823050"/>
            <a:ext cx="733651" cy="330270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3A316C2D-53DC-7468-7723-640E062934F9}"/>
              </a:ext>
            </a:extLst>
          </p:cNvPr>
          <p:cNvSpPr txBox="1"/>
          <p:nvPr/>
        </p:nvSpPr>
        <p:spPr>
          <a:xfrm>
            <a:off x="8129028" y="332897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B</a:t>
            </a:r>
          </a:p>
        </p:txBody>
      </p: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22CB7AC6-4758-1842-5A2D-151D910BC14F}"/>
              </a:ext>
            </a:extLst>
          </p:cNvPr>
          <p:cNvGrpSpPr/>
          <p:nvPr/>
        </p:nvGrpSpPr>
        <p:grpSpPr>
          <a:xfrm>
            <a:off x="3434441" y="5082029"/>
            <a:ext cx="573593" cy="502229"/>
            <a:chOff x="4449493" y="2967335"/>
            <a:chExt cx="1253198" cy="1097280"/>
          </a:xfrm>
        </p:grpSpPr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C8A80B4C-7DE8-4101-7813-DB4B858D90C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8FB46C15-3DA8-1370-D3DA-EE90ED390ACE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Triagem</a:t>
              </a:r>
            </a:p>
          </p:txBody>
        </p:sp>
      </p:grpSp>
      <p:cxnSp>
        <p:nvCxnSpPr>
          <p:cNvPr id="161" name="Conector de Seta Reta 160">
            <a:extLst>
              <a:ext uri="{FF2B5EF4-FFF2-40B4-BE49-F238E27FC236}">
                <a16:creationId xmlns:a16="http://schemas.microsoft.com/office/drawing/2014/main" id="{EEC5F7DD-47D0-3BAA-A65D-807D428DE9FA}"/>
              </a:ext>
            </a:extLst>
          </p:cNvPr>
          <p:cNvCxnSpPr>
            <a:cxnSpLocks/>
          </p:cNvCxnSpPr>
          <p:nvPr/>
        </p:nvCxnSpPr>
        <p:spPr>
          <a:xfrm>
            <a:off x="3972352" y="5332058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: Curvo 162">
            <a:extLst>
              <a:ext uri="{FF2B5EF4-FFF2-40B4-BE49-F238E27FC236}">
                <a16:creationId xmlns:a16="http://schemas.microsoft.com/office/drawing/2014/main" id="{2BE79914-4F95-967D-5AC9-C94D16158C74}"/>
              </a:ext>
            </a:extLst>
          </p:cNvPr>
          <p:cNvCxnSpPr>
            <a:endCxn id="4" idx="0"/>
          </p:cNvCxnSpPr>
          <p:nvPr/>
        </p:nvCxnSpPr>
        <p:spPr>
          <a:xfrm rot="10800000">
            <a:off x="415178" y="5061265"/>
            <a:ext cx="6721866" cy="292161"/>
          </a:xfrm>
          <a:prstGeom prst="curvedConnector4">
            <a:avLst>
              <a:gd name="adj1" fmla="val 5905"/>
              <a:gd name="adj2" fmla="val 4234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430DFE90-00A5-7425-126D-4F57E5889DD4}"/>
              </a:ext>
            </a:extLst>
          </p:cNvPr>
          <p:cNvGrpSpPr/>
          <p:nvPr/>
        </p:nvGrpSpPr>
        <p:grpSpPr>
          <a:xfrm>
            <a:off x="7442465" y="5071067"/>
            <a:ext cx="639729" cy="502229"/>
            <a:chOff x="4379847" y="2967335"/>
            <a:chExt cx="1397693" cy="1097280"/>
          </a:xfrm>
        </p:grpSpPr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1C02B4AA-C8A1-C0FB-165C-6A338E4D7F6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AB121A05-9249-3484-BB05-F74E5E4316FC}"/>
                </a:ext>
              </a:extLst>
            </p:cNvPr>
            <p:cNvSpPr txBox="1"/>
            <p:nvPr/>
          </p:nvSpPr>
          <p:spPr>
            <a:xfrm>
              <a:off x="4379847" y="3146069"/>
              <a:ext cx="1397693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Observação</a:t>
              </a:r>
            </a:p>
          </p:txBody>
        </p:sp>
      </p:grp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142FB61C-7FD1-42A1-F1CB-E2496B0F9FC0}"/>
              </a:ext>
            </a:extLst>
          </p:cNvPr>
          <p:cNvCxnSpPr>
            <a:cxnSpLocks/>
          </p:cNvCxnSpPr>
          <p:nvPr/>
        </p:nvCxnSpPr>
        <p:spPr>
          <a:xfrm>
            <a:off x="8020719" y="532898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28786725-BDD3-5E93-3E97-E03D5F560076}"/>
              </a:ext>
            </a:extLst>
          </p:cNvPr>
          <p:cNvSpPr txBox="1"/>
          <p:nvPr/>
        </p:nvSpPr>
        <p:spPr>
          <a:xfrm>
            <a:off x="8252517" y="5098157"/>
            <a:ext cx="8252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800" dirty="0"/>
              <a:t>Exames</a:t>
            </a:r>
          </a:p>
          <a:p>
            <a:pPr algn="ctr"/>
            <a:r>
              <a:rPr lang="pt-BR" sz="800" dirty="0"/>
              <a:t>e/ou</a:t>
            </a:r>
          </a:p>
          <a:p>
            <a:pPr algn="ctr"/>
            <a:r>
              <a:rPr lang="pt-BR" sz="800" dirty="0"/>
              <a:t>Observação</a:t>
            </a:r>
            <a:endParaRPr lang="pt-BR" sz="500" dirty="0"/>
          </a:p>
        </p:txBody>
      </p:sp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6F967547-5FA7-F021-6D3B-82B68FCFC36C}"/>
              </a:ext>
            </a:extLst>
          </p:cNvPr>
          <p:cNvGrpSpPr/>
          <p:nvPr/>
        </p:nvGrpSpPr>
        <p:grpSpPr>
          <a:xfrm>
            <a:off x="8361440" y="5911321"/>
            <a:ext cx="573593" cy="502229"/>
            <a:chOff x="4449493" y="2967335"/>
            <a:chExt cx="1253198" cy="1097280"/>
          </a:xfrm>
        </p:grpSpPr>
        <p:sp>
          <p:nvSpPr>
            <p:cNvPr id="172" name="Elipse 171">
              <a:extLst>
                <a:ext uri="{FF2B5EF4-FFF2-40B4-BE49-F238E27FC236}">
                  <a16:creationId xmlns:a16="http://schemas.microsoft.com/office/drawing/2014/main" id="{173C444F-4DA8-2F32-C3C3-DDF598B0222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73" name="CaixaDeTexto 172">
              <a:extLst>
                <a:ext uri="{FF2B5EF4-FFF2-40B4-BE49-F238E27FC236}">
                  <a16:creationId xmlns:a16="http://schemas.microsoft.com/office/drawing/2014/main" id="{842A9FE4-F817-7CA4-6938-410509E61921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3"/>
                  </a:solidFill>
                </a:rPr>
                <a:t>Recursos</a:t>
              </a:r>
            </a:p>
            <a:p>
              <a:pPr algn="ctr"/>
              <a:r>
                <a:rPr lang="pt-BR" sz="500" dirty="0">
                  <a:solidFill>
                    <a:schemeClr val="accent3"/>
                  </a:solidFill>
                </a:rPr>
                <a:t>Disponível</a:t>
              </a:r>
            </a:p>
          </p:txBody>
        </p:sp>
      </p:grpSp>
      <p:cxnSp>
        <p:nvCxnSpPr>
          <p:cNvPr id="175" name="Conector: Curvo 174">
            <a:extLst>
              <a:ext uri="{FF2B5EF4-FFF2-40B4-BE49-F238E27FC236}">
                <a16:creationId xmlns:a16="http://schemas.microsoft.com/office/drawing/2014/main" id="{FBC89A82-1674-5F31-7A69-6AC440903452}"/>
              </a:ext>
            </a:extLst>
          </p:cNvPr>
          <p:cNvCxnSpPr>
            <a:cxnSpLocks/>
          </p:cNvCxnSpPr>
          <p:nvPr/>
        </p:nvCxnSpPr>
        <p:spPr>
          <a:xfrm flipH="1" flipV="1">
            <a:off x="8218628" y="5460651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86626DFC-DB4C-F23D-32DA-324F650B3502}"/>
              </a:ext>
            </a:extLst>
          </p:cNvPr>
          <p:cNvSpPr txBox="1"/>
          <p:nvPr/>
        </p:nvSpPr>
        <p:spPr>
          <a:xfrm>
            <a:off x="7159425" y="464195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D</a:t>
            </a:r>
          </a:p>
        </p:txBody>
      </p:sp>
      <p:cxnSp>
        <p:nvCxnSpPr>
          <p:cNvPr id="180" name="Conector: Curvo 179">
            <a:extLst>
              <a:ext uri="{FF2B5EF4-FFF2-40B4-BE49-F238E27FC236}">
                <a16:creationId xmlns:a16="http://schemas.microsoft.com/office/drawing/2014/main" id="{9BF6F388-0C98-F077-1980-893D2570BCF2}"/>
              </a:ext>
            </a:extLst>
          </p:cNvPr>
          <p:cNvCxnSpPr>
            <a:cxnSpLocks/>
            <a:stCxn id="170" idx="3"/>
            <a:endCxn id="87" idx="1"/>
          </p:cNvCxnSpPr>
          <p:nvPr/>
        </p:nvCxnSpPr>
        <p:spPr>
          <a:xfrm flipH="1" flipV="1">
            <a:off x="5292058" y="5311885"/>
            <a:ext cx="3785671" cy="17105"/>
          </a:xfrm>
          <a:prstGeom prst="curvedConnector5">
            <a:avLst>
              <a:gd name="adj1" fmla="val -6877"/>
              <a:gd name="adj2" fmla="val -7745788"/>
              <a:gd name="adj3" fmla="val 1032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de Seta Reta 197">
            <a:extLst>
              <a:ext uri="{FF2B5EF4-FFF2-40B4-BE49-F238E27FC236}">
                <a16:creationId xmlns:a16="http://schemas.microsoft.com/office/drawing/2014/main" id="{87F2E622-6620-5D3B-33DE-BA2D79492CC2}"/>
              </a:ext>
            </a:extLst>
          </p:cNvPr>
          <p:cNvCxnSpPr>
            <a:cxnSpLocks/>
          </p:cNvCxnSpPr>
          <p:nvPr/>
        </p:nvCxnSpPr>
        <p:spPr>
          <a:xfrm flipV="1">
            <a:off x="7128578" y="5328824"/>
            <a:ext cx="349013" cy="246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Elipse 199">
            <a:extLst>
              <a:ext uri="{FF2B5EF4-FFF2-40B4-BE49-F238E27FC236}">
                <a16:creationId xmlns:a16="http://schemas.microsoft.com/office/drawing/2014/main" id="{8030A185-8775-5CE2-51E0-A34FF09EC190}"/>
              </a:ext>
            </a:extLst>
          </p:cNvPr>
          <p:cNvSpPr/>
          <p:nvPr/>
        </p:nvSpPr>
        <p:spPr>
          <a:xfrm>
            <a:off x="7417821" y="6612344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42D333DE-BDDB-73F2-880D-7AD3CEB3B406}"/>
              </a:ext>
            </a:extLst>
          </p:cNvPr>
          <p:cNvSpPr txBox="1"/>
          <p:nvPr/>
        </p:nvSpPr>
        <p:spPr>
          <a:xfrm>
            <a:off x="7394400" y="6657945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2</a:t>
            </a:r>
          </a:p>
        </p:txBody>
      </p:sp>
      <p:cxnSp>
        <p:nvCxnSpPr>
          <p:cNvPr id="223" name="Conector de Seta Reta 222">
            <a:extLst>
              <a:ext uri="{FF2B5EF4-FFF2-40B4-BE49-F238E27FC236}">
                <a16:creationId xmlns:a16="http://schemas.microsoft.com/office/drawing/2014/main" id="{B1DBD524-ABBD-B975-95E0-3E2FE30F48F2}"/>
              </a:ext>
            </a:extLst>
          </p:cNvPr>
          <p:cNvCxnSpPr>
            <a:cxnSpLocks/>
            <a:stCxn id="34" idx="7"/>
          </p:cNvCxnSpPr>
          <p:nvPr/>
        </p:nvCxnSpPr>
        <p:spPr>
          <a:xfrm>
            <a:off x="3265230" y="1827984"/>
            <a:ext cx="281326" cy="96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CaixaDeTexto 225">
            <a:extLst>
              <a:ext uri="{FF2B5EF4-FFF2-40B4-BE49-F238E27FC236}">
                <a16:creationId xmlns:a16="http://schemas.microsoft.com/office/drawing/2014/main" id="{EB4CBBB5-EDF2-25EA-7A67-1F8DE27075D9}"/>
              </a:ext>
            </a:extLst>
          </p:cNvPr>
          <p:cNvSpPr txBox="1"/>
          <p:nvPr/>
        </p:nvSpPr>
        <p:spPr>
          <a:xfrm>
            <a:off x="6725229" y="410484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C</a:t>
            </a:r>
          </a:p>
        </p:txBody>
      </p: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222C63DF-9B03-9687-062C-7F26E811A6AE}"/>
              </a:ext>
            </a:extLst>
          </p:cNvPr>
          <p:cNvGrpSpPr/>
          <p:nvPr/>
        </p:nvGrpSpPr>
        <p:grpSpPr>
          <a:xfrm>
            <a:off x="3479593" y="1575587"/>
            <a:ext cx="573593" cy="502229"/>
            <a:chOff x="4449493" y="2967335"/>
            <a:chExt cx="1253198" cy="1097280"/>
          </a:xfrm>
        </p:grpSpPr>
        <p:sp>
          <p:nvSpPr>
            <p:cNvPr id="206" name="Elipse 205">
              <a:extLst>
                <a:ext uri="{FF2B5EF4-FFF2-40B4-BE49-F238E27FC236}">
                  <a16:creationId xmlns:a16="http://schemas.microsoft.com/office/drawing/2014/main" id="{99C0F171-FEF0-C117-CFFF-C40FFF3B466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D9630230-914A-F2EC-A041-C2F869CBC9B4}"/>
                </a:ext>
              </a:extLst>
            </p:cNvPr>
            <p:cNvSpPr txBox="1"/>
            <p:nvPr/>
          </p:nvSpPr>
          <p:spPr>
            <a:xfrm>
              <a:off x="4449493" y="3201371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Parto</a:t>
              </a:r>
            </a:p>
          </p:txBody>
        </p:sp>
      </p:grp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614255BF-572E-F82A-D55E-630AFE32B2F4}"/>
              </a:ext>
            </a:extLst>
          </p:cNvPr>
          <p:cNvSpPr txBox="1"/>
          <p:nvPr/>
        </p:nvSpPr>
        <p:spPr>
          <a:xfrm>
            <a:off x="4247156" y="161895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Parto</a:t>
            </a:r>
          </a:p>
          <a:p>
            <a:pPr algn="ctr"/>
            <a:endParaRPr lang="pt-BR" sz="700" dirty="0"/>
          </a:p>
        </p:txBody>
      </p:sp>
      <p:cxnSp>
        <p:nvCxnSpPr>
          <p:cNvPr id="209" name="Conector de Seta Reta 208">
            <a:extLst>
              <a:ext uri="{FF2B5EF4-FFF2-40B4-BE49-F238E27FC236}">
                <a16:creationId xmlns:a16="http://schemas.microsoft.com/office/drawing/2014/main" id="{1BB590E3-9FA2-A763-0EA7-3B8A2ECE2650}"/>
              </a:ext>
            </a:extLst>
          </p:cNvPr>
          <p:cNvCxnSpPr>
            <a:cxnSpLocks/>
          </p:cNvCxnSpPr>
          <p:nvPr/>
        </p:nvCxnSpPr>
        <p:spPr>
          <a:xfrm>
            <a:off x="4017504" y="1826702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5407E52D-5CA4-730F-10BB-3F6DC3FF3907}"/>
              </a:ext>
            </a:extLst>
          </p:cNvPr>
          <p:cNvGrpSpPr/>
          <p:nvPr/>
        </p:nvGrpSpPr>
        <p:grpSpPr>
          <a:xfrm>
            <a:off x="4282838" y="777356"/>
            <a:ext cx="573593" cy="502229"/>
            <a:chOff x="4439869" y="2967335"/>
            <a:chExt cx="1253198" cy="1097280"/>
          </a:xfrm>
        </p:grpSpPr>
        <p:sp>
          <p:nvSpPr>
            <p:cNvPr id="228" name="Elipse 227">
              <a:extLst>
                <a:ext uri="{FF2B5EF4-FFF2-40B4-BE49-F238E27FC236}">
                  <a16:creationId xmlns:a16="http://schemas.microsoft.com/office/drawing/2014/main" id="{E25F5EA3-542D-2DC7-2D34-9F1EF29183B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29" name="CaixaDeTexto 228">
              <a:extLst>
                <a:ext uri="{FF2B5EF4-FFF2-40B4-BE49-F238E27FC236}">
                  <a16:creationId xmlns:a16="http://schemas.microsoft.com/office/drawing/2014/main" id="{B14DBF49-4A1C-2702-D5A7-465C44BE1767}"/>
                </a:ext>
              </a:extLst>
            </p:cNvPr>
            <p:cNvSpPr txBox="1"/>
            <p:nvPr/>
          </p:nvSpPr>
          <p:spPr>
            <a:xfrm>
              <a:off x="4439869" y="3170198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Bloco Obstétrico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30" name="Conector: Curvo 229">
            <a:extLst>
              <a:ext uri="{FF2B5EF4-FFF2-40B4-BE49-F238E27FC236}">
                <a16:creationId xmlns:a16="http://schemas.microsoft.com/office/drawing/2014/main" id="{8AFA7F26-1BC3-CB12-1854-61CE9441B8B0}"/>
              </a:ext>
            </a:extLst>
          </p:cNvPr>
          <p:cNvCxnSpPr>
            <a:cxnSpLocks/>
            <a:stCxn id="229" idx="1"/>
          </p:cNvCxnSpPr>
          <p:nvPr/>
        </p:nvCxnSpPr>
        <p:spPr>
          <a:xfrm rot="10800000" flipV="1">
            <a:off x="4172672" y="1031790"/>
            <a:ext cx="110166" cy="715784"/>
          </a:xfrm>
          <a:prstGeom prst="curved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: Curvo 230">
            <a:extLst>
              <a:ext uri="{FF2B5EF4-FFF2-40B4-BE49-F238E27FC236}">
                <a16:creationId xmlns:a16="http://schemas.microsoft.com/office/drawing/2014/main" id="{0A35076A-5A4B-816A-1391-BB74B12762E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14534" y="125763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DBDBF7BD-4A59-C157-FA01-26F3A0F50C53}"/>
              </a:ext>
            </a:extLst>
          </p:cNvPr>
          <p:cNvGrpSpPr/>
          <p:nvPr/>
        </p:nvGrpSpPr>
        <p:grpSpPr>
          <a:xfrm>
            <a:off x="5409835" y="826843"/>
            <a:ext cx="573593" cy="502229"/>
            <a:chOff x="4449493" y="2967335"/>
            <a:chExt cx="1253198" cy="1097280"/>
          </a:xfrm>
        </p:grpSpPr>
        <p:sp>
          <p:nvSpPr>
            <p:cNvPr id="233" name="Elipse 232">
              <a:extLst>
                <a:ext uri="{FF2B5EF4-FFF2-40B4-BE49-F238E27FC236}">
                  <a16:creationId xmlns:a16="http://schemas.microsoft.com/office/drawing/2014/main" id="{787C6382-48A0-3076-2127-80C2B3157941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34" name="CaixaDeTexto 233">
              <a:extLst>
                <a:ext uri="{FF2B5EF4-FFF2-40B4-BE49-F238E27FC236}">
                  <a16:creationId xmlns:a16="http://schemas.microsoft.com/office/drawing/2014/main" id="{DEB9EFA2-2EDD-A550-9740-A1DCFDF084DC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706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/>
                <a:t>Aguarda</a:t>
              </a:r>
            </a:p>
            <a:p>
              <a:pPr algn="ctr"/>
              <a:r>
                <a:rPr lang="pt-BR" sz="500" dirty="0"/>
                <a:t>Procedimento</a:t>
              </a:r>
            </a:p>
            <a:p>
              <a:pPr algn="ctr"/>
              <a:r>
                <a:rPr lang="pt-BR" sz="500" dirty="0"/>
                <a:t>Especial</a:t>
              </a:r>
            </a:p>
          </p:txBody>
        </p:sp>
      </p:grpSp>
      <p:sp>
        <p:nvSpPr>
          <p:cNvPr id="235" name="CaixaDeTexto 234">
            <a:extLst>
              <a:ext uri="{FF2B5EF4-FFF2-40B4-BE49-F238E27FC236}">
                <a16:creationId xmlns:a16="http://schemas.microsoft.com/office/drawing/2014/main" id="{07CBC50B-81C8-C43F-CCF2-B8D13BAEAE8E}"/>
              </a:ext>
            </a:extLst>
          </p:cNvPr>
          <p:cNvSpPr txBox="1"/>
          <p:nvPr/>
        </p:nvSpPr>
        <p:spPr>
          <a:xfrm>
            <a:off x="6179779" y="870208"/>
            <a:ext cx="761778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Procedimento</a:t>
            </a:r>
          </a:p>
          <a:p>
            <a:pPr algn="ctr"/>
            <a:r>
              <a:rPr lang="pt-BR" sz="700" dirty="0"/>
              <a:t>Cirúrgico</a:t>
            </a:r>
          </a:p>
          <a:p>
            <a:pPr algn="ctr"/>
            <a:r>
              <a:rPr lang="pt-BR" sz="700" dirty="0"/>
              <a:t>Especial</a:t>
            </a:r>
          </a:p>
        </p:txBody>
      </p:sp>
      <p:cxnSp>
        <p:nvCxnSpPr>
          <p:cNvPr id="236" name="Conector de Seta Reta 235">
            <a:extLst>
              <a:ext uri="{FF2B5EF4-FFF2-40B4-BE49-F238E27FC236}">
                <a16:creationId xmlns:a16="http://schemas.microsoft.com/office/drawing/2014/main" id="{686DC14F-04B9-9A6B-D833-77D1DB02BD34}"/>
              </a:ext>
            </a:extLst>
          </p:cNvPr>
          <p:cNvCxnSpPr>
            <a:cxnSpLocks/>
          </p:cNvCxnSpPr>
          <p:nvPr/>
        </p:nvCxnSpPr>
        <p:spPr>
          <a:xfrm>
            <a:off x="5947746" y="107795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: Curvo 239">
            <a:extLst>
              <a:ext uri="{FF2B5EF4-FFF2-40B4-BE49-F238E27FC236}">
                <a16:creationId xmlns:a16="http://schemas.microsoft.com/office/drawing/2014/main" id="{29AB38EC-0F90-D031-0254-4359AF4B081B}"/>
              </a:ext>
            </a:extLst>
          </p:cNvPr>
          <p:cNvCxnSpPr>
            <a:stCxn id="208" idx="3"/>
            <a:endCxn id="234" idx="1"/>
          </p:cNvCxnSpPr>
          <p:nvPr/>
        </p:nvCxnSpPr>
        <p:spPr>
          <a:xfrm flipV="1">
            <a:off x="4929672" y="1089257"/>
            <a:ext cx="480163" cy="737443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45E729C5-1A34-C885-ABBE-3E3D440B698F}"/>
              </a:ext>
            </a:extLst>
          </p:cNvPr>
          <p:cNvGrpSpPr/>
          <p:nvPr/>
        </p:nvGrpSpPr>
        <p:grpSpPr>
          <a:xfrm>
            <a:off x="7379675" y="837338"/>
            <a:ext cx="573593" cy="502229"/>
            <a:chOff x="4449493" y="2967335"/>
            <a:chExt cx="1253198" cy="1097280"/>
          </a:xfrm>
        </p:grpSpPr>
        <p:sp>
          <p:nvSpPr>
            <p:cNvPr id="242" name="Elipse 241">
              <a:extLst>
                <a:ext uri="{FF2B5EF4-FFF2-40B4-BE49-F238E27FC236}">
                  <a16:creationId xmlns:a16="http://schemas.microsoft.com/office/drawing/2014/main" id="{0E197DD7-77AE-FE9C-C3E2-847055DE67E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43" name="CaixaDeTexto 242">
              <a:extLst>
                <a:ext uri="{FF2B5EF4-FFF2-40B4-BE49-F238E27FC236}">
                  <a16:creationId xmlns:a16="http://schemas.microsoft.com/office/drawing/2014/main" id="{BDFC6DBF-82B4-FD43-DFF8-068F4263FAB1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sp>
        <p:nvSpPr>
          <p:cNvPr id="247" name="CaixaDeTexto 246">
            <a:extLst>
              <a:ext uri="{FF2B5EF4-FFF2-40B4-BE49-F238E27FC236}">
                <a16:creationId xmlns:a16="http://schemas.microsoft.com/office/drawing/2014/main" id="{45CC8E40-C85E-5E56-E739-5C9A2CF5A6ED}"/>
              </a:ext>
            </a:extLst>
          </p:cNvPr>
          <p:cNvSpPr txBox="1"/>
          <p:nvPr/>
        </p:nvSpPr>
        <p:spPr>
          <a:xfrm>
            <a:off x="5131887" y="1031790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F</a:t>
            </a:r>
          </a:p>
        </p:txBody>
      </p:sp>
      <p:sp>
        <p:nvSpPr>
          <p:cNvPr id="248" name="CaixaDeTexto 247">
            <a:extLst>
              <a:ext uri="{FF2B5EF4-FFF2-40B4-BE49-F238E27FC236}">
                <a16:creationId xmlns:a16="http://schemas.microsoft.com/office/drawing/2014/main" id="{A573FC1A-334C-9F89-26F9-783703A5ED0D}"/>
              </a:ext>
            </a:extLst>
          </p:cNvPr>
          <p:cNvSpPr txBox="1"/>
          <p:nvPr/>
        </p:nvSpPr>
        <p:spPr>
          <a:xfrm>
            <a:off x="5317145" y="1671524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G</a:t>
            </a:r>
          </a:p>
        </p:txBody>
      </p: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6FEA6C1C-5B33-43B4-D0A7-7C0B58755D3E}"/>
              </a:ext>
            </a:extLst>
          </p:cNvPr>
          <p:cNvGrpSpPr/>
          <p:nvPr/>
        </p:nvGrpSpPr>
        <p:grpSpPr>
          <a:xfrm>
            <a:off x="6272287" y="65536"/>
            <a:ext cx="573593" cy="502229"/>
            <a:chOff x="4449493" y="2967335"/>
            <a:chExt cx="1253198" cy="1097280"/>
          </a:xfrm>
        </p:grpSpPr>
        <p:sp>
          <p:nvSpPr>
            <p:cNvPr id="250" name="Elipse 249">
              <a:extLst>
                <a:ext uri="{FF2B5EF4-FFF2-40B4-BE49-F238E27FC236}">
                  <a16:creationId xmlns:a16="http://schemas.microsoft.com/office/drawing/2014/main" id="{A9D3C3BF-9F92-C1F9-54F3-3F0A18BF5804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92D05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1" name="CaixaDeTexto 250">
              <a:extLst>
                <a:ext uri="{FF2B5EF4-FFF2-40B4-BE49-F238E27FC236}">
                  <a16:creationId xmlns:a16="http://schemas.microsoft.com/office/drawing/2014/main" id="{BD4E5D8E-EC75-28EC-B68C-A09D07E28C2F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92D050"/>
                  </a:solidFill>
                </a:rPr>
                <a:t>Equipe Médica</a:t>
              </a:r>
            </a:p>
            <a:p>
              <a:pPr algn="ctr"/>
              <a:r>
                <a:rPr lang="pt-BR" sz="500" dirty="0">
                  <a:solidFill>
                    <a:srgbClr val="92D050"/>
                  </a:solidFill>
                </a:rPr>
                <a:t>Disponível</a:t>
              </a:r>
            </a:p>
          </p:txBody>
        </p:sp>
      </p:grpSp>
      <p:cxnSp>
        <p:nvCxnSpPr>
          <p:cNvPr id="252" name="Conector: Curvo 251">
            <a:extLst>
              <a:ext uri="{FF2B5EF4-FFF2-40B4-BE49-F238E27FC236}">
                <a16:creationId xmlns:a16="http://schemas.microsoft.com/office/drawing/2014/main" id="{4A4D8ADE-DB8C-6186-6BA4-930F012E80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22121" y="317075"/>
            <a:ext cx="132062" cy="653460"/>
          </a:xfrm>
          <a:prstGeom prst="curvedConnector2">
            <a:avLst/>
          </a:prstGeom>
          <a:ln w="1905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ector: Curvo 252">
            <a:extLst>
              <a:ext uri="{FF2B5EF4-FFF2-40B4-BE49-F238E27FC236}">
                <a16:creationId xmlns:a16="http://schemas.microsoft.com/office/drawing/2014/main" id="{FB59CA07-078B-CC56-AD74-B14CC99ED384}"/>
              </a:ext>
            </a:extLst>
          </p:cNvPr>
          <p:cNvCxnSpPr>
            <a:cxnSpLocks/>
            <a:endCxn id="251" idx="3"/>
          </p:cNvCxnSpPr>
          <p:nvPr/>
        </p:nvCxnSpPr>
        <p:spPr>
          <a:xfrm rot="16200000" flipV="1">
            <a:off x="6585020" y="580883"/>
            <a:ext cx="687891" cy="166169"/>
          </a:xfrm>
          <a:prstGeom prst="curvedConnector2">
            <a:avLst/>
          </a:prstGeom>
          <a:ln w="1905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8C773A4-0F11-8A03-4D0E-3EB6DCEF8FB6}"/>
              </a:ext>
            </a:extLst>
          </p:cNvPr>
          <p:cNvCxnSpPr>
            <a:cxnSpLocks/>
            <a:stCxn id="235" idx="3"/>
            <a:endCxn id="243" idx="1"/>
          </p:cNvCxnSpPr>
          <p:nvPr/>
        </p:nvCxnSpPr>
        <p:spPr>
          <a:xfrm flipV="1">
            <a:off x="6941557" y="1076669"/>
            <a:ext cx="438118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: Curvo 263">
            <a:extLst>
              <a:ext uri="{FF2B5EF4-FFF2-40B4-BE49-F238E27FC236}">
                <a16:creationId xmlns:a16="http://schemas.microsoft.com/office/drawing/2014/main" id="{8369AA57-CBBF-A3F1-ABA6-6EC2E0F2F2E5}"/>
              </a:ext>
            </a:extLst>
          </p:cNvPr>
          <p:cNvCxnSpPr>
            <a:stCxn id="208" idx="3"/>
            <a:endCxn id="243" idx="1"/>
          </p:cNvCxnSpPr>
          <p:nvPr/>
        </p:nvCxnSpPr>
        <p:spPr>
          <a:xfrm flipV="1">
            <a:off x="4929672" y="1076669"/>
            <a:ext cx="2450003" cy="750031"/>
          </a:xfrm>
          <a:prstGeom prst="curvedConnector3">
            <a:avLst>
              <a:gd name="adj1" fmla="val 9924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Agrupar 265">
            <a:extLst>
              <a:ext uri="{FF2B5EF4-FFF2-40B4-BE49-F238E27FC236}">
                <a16:creationId xmlns:a16="http://schemas.microsoft.com/office/drawing/2014/main" id="{FF6B8395-651A-DD65-6F47-F331540CE5BE}"/>
              </a:ext>
            </a:extLst>
          </p:cNvPr>
          <p:cNvGrpSpPr/>
          <p:nvPr/>
        </p:nvGrpSpPr>
        <p:grpSpPr>
          <a:xfrm>
            <a:off x="5068173" y="2060372"/>
            <a:ext cx="573593" cy="502229"/>
            <a:chOff x="4448610" y="2967335"/>
            <a:chExt cx="1253198" cy="1097280"/>
          </a:xfrm>
        </p:grpSpPr>
        <p:sp>
          <p:nvSpPr>
            <p:cNvPr id="267" name="Elipse 266">
              <a:extLst>
                <a:ext uri="{FF2B5EF4-FFF2-40B4-BE49-F238E27FC236}">
                  <a16:creationId xmlns:a16="http://schemas.microsoft.com/office/drawing/2014/main" id="{45887B76-CA80-74A0-BEE2-3C8F03B4C694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68" name="CaixaDeTexto 267">
              <a:extLst>
                <a:ext uri="{FF2B5EF4-FFF2-40B4-BE49-F238E27FC236}">
                  <a16:creationId xmlns:a16="http://schemas.microsoft.com/office/drawing/2014/main" id="{30ABB679-63E2-0644-843C-41176DA9E8EA}"/>
                </a:ext>
              </a:extLst>
            </p:cNvPr>
            <p:cNvSpPr txBox="1"/>
            <p:nvPr/>
          </p:nvSpPr>
          <p:spPr>
            <a:xfrm>
              <a:off x="4448610" y="3088896"/>
              <a:ext cx="1253198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Cuidados</a:t>
              </a:r>
            </a:p>
            <a:p>
              <a:pPr algn="ctr"/>
              <a:r>
                <a:rPr lang="pt-BR" sz="700" dirty="0"/>
                <a:t> ao RN</a:t>
              </a:r>
            </a:p>
          </p:txBody>
        </p:sp>
      </p:grp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4CFEA0BE-C083-6AE8-E366-B2B2A6A13851}"/>
              </a:ext>
            </a:extLst>
          </p:cNvPr>
          <p:cNvSpPr txBox="1"/>
          <p:nvPr/>
        </p:nvSpPr>
        <p:spPr>
          <a:xfrm>
            <a:off x="5836140" y="2049875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Cuidados ao RN</a:t>
            </a:r>
          </a:p>
          <a:p>
            <a:pPr algn="ctr"/>
            <a:endParaRPr lang="pt-BR" sz="700" dirty="0"/>
          </a:p>
        </p:txBody>
      </p:sp>
      <p:cxnSp>
        <p:nvCxnSpPr>
          <p:cNvPr id="270" name="Conector de Seta Reta 269">
            <a:extLst>
              <a:ext uri="{FF2B5EF4-FFF2-40B4-BE49-F238E27FC236}">
                <a16:creationId xmlns:a16="http://schemas.microsoft.com/office/drawing/2014/main" id="{D7C31665-4CCA-DD24-75B7-1BE698BB06A5}"/>
              </a:ext>
            </a:extLst>
          </p:cNvPr>
          <p:cNvCxnSpPr>
            <a:cxnSpLocks/>
          </p:cNvCxnSpPr>
          <p:nvPr/>
        </p:nvCxnSpPr>
        <p:spPr>
          <a:xfrm>
            <a:off x="5606488" y="2311487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de Seta Reta 271">
            <a:extLst>
              <a:ext uri="{FF2B5EF4-FFF2-40B4-BE49-F238E27FC236}">
                <a16:creationId xmlns:a16="http://schemas.microsoft.com/office/drawing/2014/main" id="{2EDCF862-102E-2B4E-E2C9-D31FCD276ED5}"/>
              </a:ext>
            </a:extLst>
          </p:cNvPr>
          <p:cNvCxnSpPr>
            <a:cxnSpLocks/>
            <a:stCxn id="208" idx="2"/>
            <a:endCxn id="268" idx="1"/>
          </p:cNvCxnSpPr>
          <p:nvPr/>
        </p:nvCxnSpPr>
        <p:spPr>
          <a:xfrm>
            <a:off x="4588414" y="2034449"/>
            <a:ext cx="479759" cy="28931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71113C42-C29C-ADFA-9270-CE5C5162BFB7}"/>
              </a:ext>
            </a:extLst>
          </p:cNvPr>
          <p:cNvGrpSpPr/>
          <p:nvPr/>
        </p:nvGrpSpPr>
        <p:grpSpPr>
          <a:xfrm>
            <a:off x="4348545" y="2749856"/>
            <a:ext cx="573593" cy="502229"/>
            <a:chOff x="4448610" y="2967335"/>
            <a:chExt cx="1253198" cy="1097280"/>
          </a:xfrm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F4360C8F-AE76-6B61-5195-1964BEA1F653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76" name="CaixaDeTexto 275">
              <a:extLst>
                <a:ext uri="{FF2B5EF4-FFF2-40B4-BE49-F238E27FC236}">
                  <a16:creationId xmlns:a16="http://schemas.microsoft.com/office/drawing/2014/main" id="{2EE436BE-A43A-F73C-8443-2A4C952D6B0C}"/>
                </a:ext>
              </a:extLst>
            </p:cNvPr>
            <p:cNvSpPr txBox="1"/>
            <p:nvPr/>
          </p:nvSpPr>
          <p:spPr>
            <a:xfrm>
              <a:off x="4448610" y="3088896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UCP</a:t>
              </a:r>
            </a:p>
          </p:txBody>
        </p:sp>
      </p:grp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6EDBC879-9D2D-48BE-CE17-D35EBAD2EE8E}"/>
              </a:ext>
            </a:extLst>
          </p:cNvPr>
          <p:cNvSpPr txBox="1"/>
          <p:nvPr/>
        </p:nvSpPr>
        <p:spPr>
          <a:xfrm>
            <a:off x="5116512" y="2793220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UCP</a:t>
            </a:r>
          </a:p>
          <a:p>
            <a:pPr algn="ctr"/>
            <a:endParaRPr lang="pt-BR" sz="700" dirty="0"/>
          </a:p>
        </p:txBody>
      </p:sp>
      <p:cxnSp>
        <p:nvCxnSpPr>
          <p:cNvPr id="278" name="Conector de Seta Reta 277">
            <a:extLst>
              <a:ext uri="{FF2B5EF4-FFF2-40B4-BE49-F238E27FC236}">
                <a16:creationId xmlns:a16="http://schemas.microsoft.com/office/drawing/2014/main" id="{C1A98261-4664-303C-F9F6-98BCD8498E4E}"/>
              </a:ext>
            </a:extLst>
          </p:cNvPr>
          <p:cNvCxnSpPr>
            <a:cxnSpLocks/>
          </p:cNvCxnSpPr>
          <p:nvPr/>
        </p:nvCxnSpPr>
        <p:spPr>
          <a:xfrm>
            <a:off x="4886860" y="3000971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: Curvo 279">
            <a:extLst>
              <a:ext uri="{FF2B5EF4-FFF2-40B4-BE49-F238E27FC236}">
                <a16:creationId xmlns:a16="http://schemas.microsoft.com/office/drawing/2014/main" id="{40D14603-4702-9544-B011-5DF0BDF41BE9}"/>
              </a:ext>
            </a:extLst>
          </p:cNvPr>
          <p:cNvCxnSpPr>
            <a:stCxn id="208" idx="2"/>
            <a:endCxn id="276" idx="1"/>
          </p:cNvCxnSpPr>
          <p:nvPr/>
        </p:nvCxnSpPr>
        <p:spPr>
          <a:xfrm rot="5400000">
            <a:off x="4006013" y="2376982"/>
            <a:ext cx="924935" cy="239869"/>
          </a:xfrm>
          <a:prstGeom prst="curvedConnector4">
            <a:avLst>
              <a:gd name="adj1" fmla="val 41681"/>
              <a:gd name="adj2" fmla="val 19530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CaixaDeTexto 284">
            <a:extLst>
              <a:ext uri="{FF2B5EF4-FFF2-40B4-BE49-F238E27FC236}">
                <a16:creationId xmlns:a16="http://schemas.microsoft.com/office/drawing/2014/main" id="{EAF2FE0C-EB58-6BB2-54AE-952A4D4B20D3}"/>
              </a:ext>
            </a:extLst>
          </p:cNvPr>
          <p:cNvSpPr txBox="1"/>
          <p:nvPr/>
        </p:nvSpPr>
        <p:spPr>
          <a:xfrm>
            <a:off x="4701617" y="211576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H</a:t>
            </a:r>
          </a:p>
        </p:txBody>
      </p:sp>
      <p:sp>
        <p:nvSpPr>
          <p:cNvPr id="286" name="CaixaDeTexto 285">
            <a:extLst>
              <a:ext uri="{FF2B5EF4-FFF2-40B4-BE49-F238E27FC236}">
                <a16:creationId xmlns:a16="http://schemas.microsoft.com/office/drawing/2014/main" id="{15B98126-0DD8-84D9-83A4-109DB22CCAF7}"/>
              </a:ext>
            </a:extLst>
          </p:cNvPr>
          <p:cNvSpPr txBox="1"/>
          <p:nvPr/>
        </p:nvSpPr>
        <p:spPr>
          <a:xfrm>
            <a:off x="3946159" y="2506779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3CA50E5C-41C2-7ED0-9622-7869B0273288}"/>
              </a:ext>
            </a:extLst>
          </p:cNvPr>
          <p:cNvGrpSpPr/>
          <p:nvPr/>
        </p:nvGrpSpPr>
        <p:grpSpPr>
          <a:xfrm>
            <a:off x="7360196" y="1713559"/>
            <a:ext cx="573593" cy="502229"/>
            <a:chOff x="4449493" y="2967335"/>
            <a:chExt cx="1253198" cy="1097280"/>
          </a:xfrm>
        </p:grpSpPr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689A9B25-E159-519C-ABAF-F9E4649FE4E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89" name="CaixaDeTexto 288">
              <a:extLst>
                <a:ext uri="{FF2B5EF4-FFF2-40B4-BE49-F238E27FC236}">
                  <a16:creationId xmlns:a16="http://schemas.microsoft.com/office/drawing/2014/main" id="{9ECC5E93-8701-1010-4BA7-B709FD6B4779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cxnSp>
        <p:nvCxnSpPr>
          <p:cNvPr id="291" name="Conector: Curvo 290">
            <a:extLst>
              <a:ext uri="{FF2B5EF4-FFF2-40B4-BE49-F238E27FC236}">
                <a16:creationId xmlns:a16="http://schemas.microsoft.com/office/drawing/2014/main" id="{291BA616-9D0A-FDFF-CC1B-5011538265B3}"/>
              </a:ext>
            </a:extLst>
          </p:cNvPr>
          <p:cNvCxnSpPr>
            <a:stCxn id="269" idx="3"/>
            <a:endCxn id="289" idx="1"/>
          </p:cNvCxnSpPr>
          <p:nvPr/>
        </p:nvCxnSpPr>
        <p:spPr>
          <a:xfrm flipV="1">
            <a:off x="6518656" y="1952890"/>
            <a:ext cx="841540" cy="358595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: Curvo 292">
            <a:extLst>
              <a:ext uri="{FF2B5EF4-FFF2-40B4-BE49-F238E27FC236}">
                <a16:creationId xmlns:a16="http://schemas.microsoft.com/office/drawing/2014/main" id="{8180058C-4602-2182-AD90-A49BAAD0BB5D}"/>
              </a:ext>
            </a:extLst>
          </p:cNvPr>
          <p:cNvCxnSpPr>
            <a:stCxn id="277" idx="3"/>
            <a:endCxn id="289" idx="1"/>
          </p:cNvCxnSpPr>
          <p:nvPr/>
        </p:nvCxnSpPr>
        <p:spPr>
          <a:xfrm flipV="1">
            <a:off x="5799028" y="1952890"/>
            <a:ext cx="1561168" cy="1048079"/>
          </a:xfrm>
          <a:prstGeom prst="curvedConnector3">
            <a:avLst>
              <a:gd name="adj1" fmla="val 9555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015A7B05-28F2-23B7-57BC-B450D4DE6281}"/>
              </a:ext>
            </a:extLst>
          </p:cNvPr>
          <p:cNvGrpSpPr/>
          <p:nvPr/>
        </p:nvGrpSpPr>
        <p:grpSpPr>
          <a:xfrm>
            <a:off x="5194952" y="3477297"/>
            <a:ext cx="573593" cy="502229"/>
            <a:chOff x="4452032" y="2967335"/>
            <a:chExt cx="1253198" cy="1097280"/>
          </a:xfrm>
        </p:grpSpPr>
        <p:sp>
          <p:nvSpPr>
            <p:cNvPr id="296" name="Elipse 295">
              <a:extLst>
                <a:ext uri="{FF2B5EF4-FFF2-40B4-BE49-F238E27FC236}">
                  <a16:creationId xmlns:a16="http://schemas.microsoft.com/office/drawing/2014/main" id="{75727C0B-9E2C-CF72-00F4-2EE6FB38E7D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97" name="CaixaDeTexto 296">
              <a:extLst>
                <a:ext uri="{FF2B5EF4-FFF2-40B4-BE49-F238E27FC236}">
                  <a16:creationId xmlns:a16="http://schemas.microsoft.com/office/drawing/2014/main" id="{3B9EEA34-11C2-CAB1-F1D4-ABFA5CEBD42A}"/>
                </a:ext>
              </a:extLst>
            </p:cNvPr>
            <p:cNvSpPr txBox="1"/>
            <p:nvPr/>
          </p:nvSpPr>
          <p:spPr>
            <a:xfrm>
              <a:off x="4452032" y="3173943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Leito/Equipe UCP</a:t>
              </a:r>
            </a:p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Disponível</a:t>
              </a:r>
            </a:p>
          </p:txBody>
        </p:sp>
      </p:grpSp>
      <p:cxnSp>
        <p:nvCxnSpPr>
          <p:cNvPr id="298" name="Conector: Curvo 297">
            <a:extLst>
              <a:ext uri="{FF2B5EF4-FFF2-40B4-BE49-F238E27FC236}">
                <a16:creationId xmlns:a16="http://schemas.microsoft.com/office/drawing/2014/main" id="{1BB8E84E-15CB-8A73-82D1-9EFFC58DA824}"/>
              </a:ext>
            </a:extLst>
          </p:cNvPr>
          <p:cNvCxnSpPr>
            <a:cxnSpLocks/>
          </p:cNvCxnSpPr>
          <p:nvPr/>
        </p:nvCxnSpPr>
        <p:spPr>
          <a:xfrm>
            <a:off x="5810404" y="3055370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ector: Curvo 298">
            <a:extLst>
              <a:ext uri="{FF2B5EF4-FFF2-40B4-BE49-F238E27FC236}">
                <a16:creationId xmlns:a16="http://schemas.microsoft.com/office/drawing/2014/main" id="{9CC891EB-B9EF-A1F9-A61A-16EEE7AC6F23}"/>
              </a:ext>
            </a:extLst>
          </p:cNvPr>
          <p:cNvCxnSpPr>
            <a:cxnSpLocks/>
          </p:cNvCxnSpPr>
          <p:nvPr/>
        </p:nvCxnSpPr>
        <p:spPr>
          <a:xfrm flipH="1" flipV="1">
            <a:off x="5082623" y="3102822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aixaDeTexto 299">
            <a:extLst>
              <a:ext uri="{FF2B5EF4-FFF2-40B4-BE49-F238E27FC236}">
                <a16:creationId xmlns:a16="http://schemas.microsoft.com/office/drawing/2014/main" id="{443E1D5A-FE00-9C01-3A94-AAAC6B103327}"/>
              </a:ext>
            </a:extLst>
          </p:cNvPr>
          <p:cNvSpPr txBox="1"/>
          <p:nvPr/>
        </p:nvSpPr>
        <p:spPr>
          <a:xfrm>
            <a:off x="8315951" y="870208"/>
            <a:ext cx="761778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Alojamento</a:t>
            </a:r>
          </a:p>
          <a:p>
            <a:pPr algn="ctr"/>
            <a:r>
              <a:rPr lang="pt-BR" sz="700" dirty="0"/>
              <a:t>Conjunto</a:t>
            </a:r>
          </a:p>
        </p:txBody>
      </p:sp>
      <p:cxnSp>
        <p:nvCxnSpPr>
          <p:cNvPr id="302" name="Conector de Seta Reta 301">
            <a:extLst>
              <a:ext uri="{FF2B5EF4-FFF2-40B4-BE49-F238E27FC236}">
                <a16:creationId xmlns:a16="http://schemas.microsoft.com/office/drawing/2014/main" id="{97CC7A71-BB83-813C-9CE7-1B5A72537263}"/>
              </a:ext>
            </a:extLst>
          </p:cNvPr>
          <p:cNvCxnSpPr>
            <a:cxnSpLocks/>
          </p:cNvCxnSpPr>
          <p:nvPr/>
        </p:nvCxnSpPr>
        <p:spPr>
          <a:xfrm>
            <a:off x="7924748" y="1076669"/>
            <a:ext cx="362683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ector: Curvo 303">
            <a:extLst>
              <a:ext uri="{FF2B5EF4-FFF2-40B4-BE49-F238E27FC236}">
                <a16:creationId xmlns:a16="http://schemas.microsoft.com/office/drawing/2014/main" id="{6D627452-2633-3720-D976-AE9D9ABC268A}"/>
              </a:ext>
            </a:extLst>
          </p:cNvPr>
          <p:cNvCxnSpPr>
            <a:stCxn id="289" idx="3"/>
            <a:endCxn id="300" idx="1"/>
          </p:cNvCxnSpPr>
          <p:nvPr/>
        </p:nvCxnSpPr>
        <p:spPr>
          <a:xfrm flipV="1">
            <a:off x="7933789" y="1077957"/>
            <a:ext cx="382162" cy="874933"/>
          </a:xfrm>
          <a:prstGeom prst="curvedConnector3">
            <a:avLst>
              <a:gd name="adj1" fmla="val 7990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6" name="Agrupar 305">
            <a:extLst>
              <a:ext uri="{FF2B5EF4-FFF2-40B4-BE49-F238E27FC236}">
                <a16:creationId xmlns:a16="http://schemas.microsoft.com/office/drawing/2014/main" id="{F281A9C7-BC34-90C8-FC8B-3A19FC5E8227}"/>
              </a:ext>
            </a:extLst>
          </p:cNvPr>
          <p:cNvGrpSpPr/>
          <p:nvPr/>
        </p:nvGrpSpPr>
        <p:grpSpPr>
          <a:xfrm>
            <a:off x="6708888" y="3189670"/>
            <a:ext cx="606323" cy="502229"/>
            <a:chOff x="616635" y="2771335"/>
            <a:chExt cx="1324707" cy="1097280"/>
          </a:xfrm>
        </p:grpSpPr>
        <p:sp>
          <p:nvSpPr>
            <p:cNvPr id="307" name="Elipse 306">
              <a:extLst>
                <a:ext uri="{FF2B5EF4-FFF2-40B4-BE49-F238E27FC236}">
                  <a16:creationId xmlns:a16="http://schemas.microsoft.com/office/drawing/2014/main" id="{113538FE-52F9-0A66-BD50-F50F2AAC63E6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BA11FD0D-EDBA-40E1-BB16-0862C9C763D5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09" name="CaixaDeTexto 308">
              <a:extLst>
                <a:ext uri="{FF2B5EF4-FFF2-40B4-BE49-F238E27FC236}">
                  <a16:creationId xmlns:a16="http://schemas.microsoft.com/office/drawing/2014/main" id="{B36AF4D8-4300-4118-5711-FB9B0433B4AD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Óbito</a:t>
              </a:r>
            </a:p>
          </p:txBody>
        </p:sp>
      </p:grpSp>
      <p:cxnSp>
        <p:nvCxnSpPr>
          <p:cNvPr id="311" name="Conector: Curvo 310">
            <a:extLst>
              <a:ext uri="{FF2B5EF4-FFF2-40B4-BE49-F238E27FC236}">
                <a16:creationId xmlns:a16="http://schemas.microsoft.com/office/drawing/2014/main" id="{96CF7FAC-6792-4ADB-BF1C-A21EDF308241}"/>
              </a:ext>
            </a:extLst>
          </p:cNvPr>
          <p:cNvCxnSpPr>
            <a:stCxn id="277" idx="3"/>
            <a:endCxn id="307" idx="2"/>
          </p:cNvCxnSpPr>
          <p:nvPr/>
        </p:nvCxnSpPr>
        <p:spPr>
          <a:xfrm>
            <a:off x="5799028" y="3000969"/>
            <a:ext cx="909860" cy="4398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CaixaDeTexto 311">
            <a:extLst>
              <a:ext uri="{FF2B5EF4-FFF2-40B4-BE49-F238E27FC236}">
                <a16:creationId xmlns:a16="http://schemas.microsoft.com/office/drawing/2014/main" id="{2DADDC2F-C8CD-2B89-C9F7-EC3C87FE35D3}"/>
              </a:ext>
            </a:extLst>
          </p:cNvPr>
          <p:cNvSpPr txBox="1"/>
          <p:nvPr/>
        </p:nvSpPr>
        <p:spPr>
          <a:xfrm>
            <a:off x="6294944" y="279101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sp>
        <p:nvSpPr>
          <p:cNvPr id="313" name="CaixaDeTexto 312">
            <a:extLst>
              <a:ext uri="{FF2B5EF4-FFF2-40B4-BE49-F238E27FC236}">
                <a16:creationId xmlns:a16="http://schemas.microsoft.com/office/drawing/2014/main" id="{7387DB32-5D17-6701-B00A-A3F517F08DF7}"/>
              </a:ext>
            </a:extLst>
          </p:cNvPr>
          <p:cNvSpPr txBox="1"/>
          <p:nvPr/>
        </p:nvSpPr>
        <p:spPr>
          <a:xfrm>
            <a:off x="6227188" y="306252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J</a:t>
            </a:r>
          </a:p>
        </p:txBody>
      </p:sp>
      <p:grpSp>
        <p:nvGrpSpPr>
          <p:cNvPr id="314" name="Agrupar 313">
            <a:extLst>
              <a:ext uri="{FF2B5EF4-FFF2-40B4-BE49-F238E27FC236}">
                <a16:creationId xmlns:a16="http://schemas.microsoft.com/office/drawing/2014/main" id="{9CBBB9D2-3D47-808E-A428-318D0D94DCFC}"/>
              </a:ext>
            </a:extLst>
          </p:cNvPr>
          <p:cNvGrpSpPr/>
          <p:nvPr/>
        </p:nvGrpSpPr>
        <p:grpSpPr>
          <a:xfrm>
            <a:off x="8396927" y="83766"/>
            <a:ext cx="573593" cy="502229"/>
            <a:chOff x="4449493" y="2967335"/>
            <a:chExt cx="1253198" cy="1097280"/>
          </a:xfrm>
        </p:grpSpPr>
        <p:sp>
          <p:nvSpPr>
            <p:cNvPr id="315" name="Elipse 314">
              <a:extLst>
                <a:ext uri="{FF2B5EF4-FFF2-40B4-BE49-F238E27FC236}">
                  <a16:creationId xmlns:a16="http://schemas.microsoft.com/office/drawing/2014/main" id="{94DA2590-7641-49C4-0704-481449B2FD20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16" name="CaixaDeTexto 315">
              <a:extLst>
                <a:ext uri="{FF2B5EF4-FFF2-40B4-BE49-F238E27FC236}">
                  <a16:creationId xmlns:a16="http://schemas.microsoft.com/office/drawing/2014/main" id="{BE4C5880-BACE-2597-323B-43DC22AEF485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FFFF00"/>
                  </a:solidFill>
                </a:rPr>
                <a:t>Alojamento</a:t>
              </a:r>
            </a:p>
            <a:p>
              <a:pPr algn="ctr"/>
              <a:r>
                <a:rPr lang="pt-BR" sz="500" dirty="0">
                  <a:solidFill>
                    <a:srgbClr val="FFFF00"/>
                  </a:solidFill>
                </a:rPr>
                <a:t>Disponível</a:t>
              </a:r>
            </a:p>
          </p:txBody>
        </p:sp>
      </p:grpSp>
      <p:cxnSp>
        <p:nvCxnSpPr>
          <p:cNvPr id="317" name="Conector: Curvo 316">
            <a:extLst>
              <a:ext uri="{FF2B5EF4-FFF2-40B4-BE49-F238E27FC236}">
                <a16:creationId xmlns:a16="http://schemas.microsoft.com/office/drawing/2014/main" id="{FA57AEB0-D38F-D83E-5BB5-A08FD85AB2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46761" y="335305"/>
            <a:ext cx="132062" cy="653460"/>
          </a:xfrm>
          <a:prstGeom prst="curvedConnector2">
            <a:avLst/>
          </a:prstGeom>
          <a:ln w="19050">
            <a:solidFill>
              <a:srgbClr val="FFFF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ector: Curvo 317">
            <a:extLst>
              <a:ext uri="{FF2B5EF4-FFF2-40B4-BE49-F238E27FC236}">
                <a16:creationId xmlns:a16="http://schemas.microsoft.com/office/drawing/2014/main" id="{D2181DB7-F9A5-1790-1076-772AB0B267A4}"/>
              </a:ext>
            </a:extLst>
          </p:cNvPr>
          <p:cNvCxnSpPr>
            <a:cxnSpLocks/>
            <a:endCxn id="316" idx="3"/>
          </p:cNvCxnSpPr>
          <p:nvPr/>
        </p:nvCxnSpPr>
        <p:spPr>
          <a:xfrm rot="16200000" flipV="1">
            <a:off x="8709660" y="599113"/>
            <a:ext cx="687891" cy="166169"/>
          </a:xfrm>
          <a:prstGeom prst="curvedConnector2">
            <a:avLst/>
          </a:prstGeom>
          <a:ln w="19050">
            <a:solidFill>
              <a:srgbClr val="FFFF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9" name="Agrupar 318">
            <a:extLst>
              <a:ext uri="{FF2B5EF4-FFF2-40B4-BE49-F238E27FC236}">
                <a16:creationId xmlns:a16="http://schemas.microsoft.com/office/drawing/2014/main" id="{DCA190E2-8CD2-C39B-6EB7-864586397631}"/>
              </a:ext>
            </a:extLst>
          </p:cNvPr>
          <p:cNvGrpSpPr/>
          <p:nvPr/>
        </p:nvGrpSpPr>
        <p:grpSpPr>
          <a:xfrm>
            <a:off x="7935531" y="2435115"/>
            <a:ext cx="573593" cy="502229"/>
            <a:chOff x="4448608" y="2967335"/>
            <a:chExt cx="1253197" cy="1097280"/>
          </a:xfrm>
        </p:grpSpPr>
        <p:sp>
          <p:nvSpPr>
            <p:cNvPr id="320" name="Elipse 319">
              <a:extLst>
                <a:ext uri="{FF2B5EF4-FFF2-40B4-BE49-F238E27FC236}">
                  <a16:creationId xmlns:a16="http://schemas.microsoft.com/office/drawing/2014/main" id="{59E9ADED-428D-9169-9B3C-AA178CEB43F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1" name="CaixaDeTexto 320">
              <a:extLst>
                <a:ext uri="{FF2B5EF4-FFF2-40B4-BE49-F238E27FC236}">
                  <a16:creationId xmlns:a16="http://schemas.microsoft.com/office/drawing/2014/main" id="{A7EA3EE4-B8BC-01C4-6097-9CB6B1AE5D3C}"/>
                </a:ext>
              </a:extLst>
            </p:cNvPr>
            <p:cNvSpPr txBox="1"/>
            <p:nvPr/>
          </p:nvSpPr>
          <p:spPr>
            <a:xfrm>
              <a:off x="4448608" y="3088896"/>
              <a:ext cx="1253197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Testes</a:t>
              </a:r>
            </a:p>
            <a:p>
              <a:pPr algn="ctr"/>
              <a:r>
                <a:rPr lang="pt-BR" sz="700" dirty="0"/>
                <a:t>Neonatais</a:t>
              </a:r>
            </a:p>
          </p:txBody>
        </p:sp>
      </p:grp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CD9A9A04-B886-1E48-5C0D-8E68C9E28AD5}"/>
              </a:ext>
            </a:extLst>
          </p:cNvPr>
          <p:cNvSpPr txBox="1"/>
          <p:nvPr/>
        </p:nvSpPr>
        <p:spPr>
          <a:xfrm>
            <a:off x="8703498" y="2424618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Testes Neonatais</a:t>
            </a:r>
          </a:p>
          <a:p>
            <a:pPr algn="ctr"/>
            <a:endParaRPr lang="pt-BR" sz="700" dirty="0"/>
          </a:p>
        </p:txBody>
      </p:sp>
      <p:cxnSp>
        <p:nvCxnSpPr>
          <p:cNvPr id="323" name="Conector de Seta Reta 322">
            <a:extLst>
              <a:ext uri="{FF2B5EF4-FFF2-40B4-BE49-F238E27FC236}">
                <a16:creationId xmlns:a16="http://schemas.microsoft.com/office/drawing/2014/main" id="{50DD9CF4-09DC-B8BE-E91E-7C15DFA86A0D}"/>
              </a:ext>
            </a:extLst>
          </p:cNvPr>
          <p:cNvCxnSpPr>
            <a:cxnSpLocks/>
          </p:cNvCxnSpPr>
          <p:nvPr/>
        </p:nvCxnSpPr>
        <p:spPr>
          <a:xfrm>
            <a:off x="8473846" y="2686230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BBCBFA75-D90E-ACDD-6D1D-AD15849148C5}"/>
              </a:ext>
            </a:extLst>
          </p:cNvPr>
          <p:cNvGrpSpPr/>
          <p:nvPr/>
        </p:nvGrpSpPr>
        <p:grpSpPr>
          <a:xfrm>
            <a:off x="9352047" y="853405"/>
            <a:ext cx="573593" cy="502229"/>
            <a:chOff x="4449493" y="2967335"/>
            <a:chExt cx="1253198" cy="1097280"/>
          </a:xfrm>
        </p:grpSpPr>
        <p:sp>
          <p:nvSpPr>
            <p:cNvPr id="325" name="Elipse 324">
              <a:extLst>
                <a:ext uri="{FF2B5EF4-FFF2-40B4-BE49-F238E27FC236}">
                  <a16:creationId xmlns:a16="http://schemas.microsoft.com/office/drawing/2014/main" id="{54BD4826-9F3C-7716-0DF0-15633E459BE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6" name="CaixaDeTexto 325">
              <a:extLst>
                <a:ext uri="{FF2B5EF4-FFF2-40B4-BE49-F238E27FC236}">
                  <a16:creationId xmlns:a16="http://schemas.microsoft.com/office/drawing/2014/main" id="{15EFF839-0D83-4C76-039D-6A513460F8E5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CD93B47D-E62F-2EA7-4C7D-92F87C9A82A0}"/>
              </a:ext>
            </a:extLst>
          </p:cNvPr>
          <p:cNvGrpSpPr/>
          <p:nvPr/>
        </p:nvGrpSpPr>
        <p:grpSpPr>
          <a:xfrm>
            <a:off x="9356760" y="1644708"/>
            <a:ext cx="573593" cy="502229"/>
            <a:chOff x="4449493" y="2967335"/>
            <a:chExt cx="1253198" cy="1097280"/>
          </a:xfrm>
        </p:grpSpPr>
        <p:sp>
          <p:nvSpPr>
            <p:cNvPr id="328" name="Elipse 327">
              <a:extLst>
                <a:ext uri="{FF2B5EF4-FFF2-40B4-BE49-F238E27FC236}">
                  <a16:creationId xmlns:a16="http://schemas.microsoft.com/office/drawing/2014/main" id="{90DFC96B-4ADE-8ABB-F2C1-0C12FD6D251D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9" name="CaixaDeTexto 328">
              <a:extLst>
                <a:ext uri="{FF2B5EF4-FFF2-40B4-BE49-F238E27FC236}">
                  <a16:creationId xmlns:a16="http://schemas.microsoft.com/office/drawing/2014/main" id="{FE67A868-3277-1E24-2C85-8C25CEA56C00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cxnSp>
        <p:nvCxnSpPr>
          <p:cNvPr id="331" name="Conector: Curvo 330">
            <a:extLst>
              <a:ext uri="{FF2B5EF4-FFF2-40B4-BE49-F238E27FC236}">
                <a16:creationId xmlns:a16="http://schemas.microsoft.com/office/drawing/2014/main" id="{7198609D-C073-CFE2-B385-C7FDB78728BF}"/>
              </a:ext>
            </a:extLst>
          </p:cNvPr>
          <p:cNvCxnSpPr>
            <a:stCxn id="300" idx="2"/>
            <a:endCxn id="321" idx="1"/>
          </p:cNvCxnSpPr>
          <p:nvPr/>
        </p:nvCxnSpPr>
        <p:spPr>
          <a:xfrm rot="5400000">
            <a:off x="7609788" y="1611450"/>
            <a:ext cx="1412797" cy="761309"/>
          </a:xfrm>
          <a:prstGeom prst="curvedConnector4">
            <a:avLst>
              <a:gd name="adj1" fmla="val 52896"/>
              <a:gd name="adj2" fmla="val 104003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: Curvo 335">
            <a:extLst>
              <a:ext uri="{FF2B5EF4-FFF2-40B4-BE49-F238E27FC236}">
                <a16:creationId xmlns:a16="http://schemas.microsoft.com/office/drawing/2014/main" id="{081FD3B3-39DE-FA89-9638-3AB9B386B140}"/>
              </a:ext>
            </a:extLst>
          </p:cNvPr>
          <p:cNvCxnSpPr>
            <a:stCxn id="322" idx="3"/>
            <a:endCxn id="328" idx="4"/>
          </p:cNvCxnSpPr>
          <p:nvPr/>
        </p:nvCxnSpPr>
        <p:spPr>
          <a:xfrm flipV="1">
            <a:off x="9386014" y="2146937"/>
            <a:ext cx="257543" cy="539291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: Curvo 337">
            <a:extLst>
              <a:ext uri="{FF2B5EF4-FFF2-40B4-BE49-F238E27FC236}">
                <a16:creationId xmlns:a16="http://schemas.microsoft.com/office/drawing/2014/main" id="{42C93675-B0ED-92A1-4B28-3A7C7262B4B9}"/>
              </a:ext>
            </a:extLst>
          </p:cNvPr>
          <p:cNvCxnSpPr>
            <a:cxnSpLocks/>
          </p:cNvCxnSpPr>
          <p:nvPr/>
        </p:nvCxnSpPr>
        <p:spPr>
          <a:xfrm>
            <a:off x="9085349" y="1077957"/>
            <a:ext cx="274318" cy="14779"/>
          </a:xfrm>
          <a:prstGeom prst="curvedConnector3">
            <a:avLst>
              <a:gd name="adj1" fmla="val 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CaixaDeTexto 339">
            <a:extLst>
              <a:ext uri="{FF2B5EF4-FFF2-40B4-BE49-F238E27FC236}">
                <a16:creationId xmlns:a16="http://schemas.microsoft.com/office/drawing/2014/main" id="{C912050D-E5E0-AEB6-4004-D82030CB3DA8}"/>
              </a:ext>
            </a:extLst>
          </p:cNvPr>
          <p:cNvSpPr txBox="1"/>
          <p:nvPr/>
        </p:nvSpPr>
        <p:spPr>
          <a:xfrm>
            <a:off x="10379719" y="1297795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Alta Médica</a:t>
            </a:r>
          </a:p>
        </p:txBody>
      </p:sp>
      <p:cxnSp>
        <p:nvCxnSpPr>
          <p:cNvPr id="342" name="Conector: Curvo 341">
            <a:extLst>
              <a:ext uri="{FF2B5EF4-FFF2-40B4-BE49-F238E27FC236}">
                <a16:creationId xmlns:a16="http://schemas.microsoft.com/office/drawing/2014/main" id="{25B55845-CDD4-7B83-2737-8BD2B604C032}"/>
              </a:ext>
            </a:extLst>
          </p:cNvPr>
          <p:cNvCxnSpPr>
            <a:stCxn id="329" idx="3"/>
          </p:cNvCxnSpPr>
          <p:nvPr/>
        </p:nvCxnSpPr>
        <p:spPr>
          <a:xfrm flipV="1">
            <a:off x="9930353" y="1515423"/>
            <a:ext cx="406587" cy="3686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ector: Curvo 343">
            <a:extLst>
              <a:ext uri="{FF2B5EF4-FFF2-40B4-BE49-F238E27FC236}">
                <a16:creationId xmlns:a16="http://schemas.microsoft.com/office/drawing/2014/main" id="{89B6550A-61A0-5406-424E-70AB48AEDFB7}"/>
              </a:ext>
            </a:extLst>
          </p:cNvPr>
          <p:cNvCxnSpPr>
            <a:stCxn id="326" idx="3"/>
            <a:endCxn id="340" idx="1"/>
          </p:cNvCxnSpPr>
          <p:nvPr/>
        </p:nvCxnSpPr>
        <p:spPr>
          <a:xfrm>
            <a:off x="9925640" y="1092736"/>
            <a:ext cx="454079" cy="358948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Agrupar 344">
            <a:extLst>
              <a:ext uri="{FF2B5EF4-FFF2-40B4-BE49-F238E27FC236}">
                <a16:creationId xmlns:a16="http://schemas.microsoft.com/office/drawing/2014/main" id="{89D41010-6852-EE1C-309F-8C8586E01CF7}"/>
              </a:ext>
            </a:extLst>
          </p:cNvPr>
          <p:cNvGrpSpPr/>
          <p:nvPr/>
        </p:nvGrpSpPr>
        <p:grpSpPr>
          <a:xfrm>
            <a:off x="11525708" y="1200569"/>
            <a:ext cx="606323" cy="502229"/>
            <a:chOff x="616635" y="2771335"/>
            <a:chExt cx="1324707" cy="1097280"/>
          </a:xfrm>
        </p:grpSpPr>
        <p:sp>
          <p:nvSpPr>
            <p:cNvPr id="346" name="Elipse 345">
              <a:extLst>
                <a:ext uri="{FF2B5EF4-FFF2-40B4-BE49-F238E27FC236}">
                  <a16:creationId xmlns:a16="http://schemas.microsoft.com/office/drawing/2014/main" id="{83CB2F18-3DC1-1A23-205B-0A725A64EAC7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47" name="Elipse 346">
              <a:extLst>
                <a:ext uri="{FF2B5EF4-FFF2-40B4-BE49-F238E27FC236}">
                  <a16:creationId xmlns:a16="http://schemas.microsoft.com/office/drawing/2014/main" id="{697C0F39-46C5-69AA-C676-6ACF6C800AB7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48" name="CaixaDeTexto 347">
              <a:extLst>
                <a:ext uri="{FF2B5EF4-FFF2-40B4-BE49-F238E27FC236}">
                  <a16:creationId xmlns:a16="http://schemas.microsoft.com/office/drawing/2014/main" id="{006C0468-82C1-B0C6-6B99-9CC218C35DD1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350" name="Conector de Seta Reta 349">
            <a:extLst>
              <a:ext uri="{FF2B5EF4-FFF2-40B4-BE49-F238E27FC236}">
                <a16:creationId xmlns:a16="http://schemas.microsoft.com/office/drawing/2014/main" id="{656463FA-5EE0-ADE2-55CC-B88548606FF5}"/>
              </a:ext>
            </a:extLst>
          </p:cNvPr>
          <p:cNvCxnSpPr>
            <a:stCxn id="340" idx="3"/>
            <a:endCxn id="346" idx="2"/>
          </p:cNvCxnSpPr>
          <p:nvPr/>
        </p:nvCxnSpPr>
        <p:spPr>
          <a:xfrm>
            <a:off x="11141497" y="1451684"/>
            <a:ext cx="384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: Curvo 354">
            <a:extLst>
              <a:ext uri="{FF2B5EF4-FFF2-40B4-BE49-F238E27FC236}">
                <a16:creationId xmlns:a16="http://schemas.microsoft.com/office/drawing/2014/main" id="{E9F55F2F-D047-B85E-B241-713406538117}"/>
              </a:ext>
            </a:extLst>
          </p:cNvPr>
          <p:cNvCxnSpPr>
            <a:cxnSpLocks/>
            <a:stCxn id="340" idx="3"/>
            <a:endCxn id="346" idx="3"/>
          </p:cNvCxnSpPr>
          <p:nvPr/>
        </p:nvCxnSpPr>
        <p:spPr>
          <a:xfrm>
            <a:off x="11141497" y="1451684"/>
            <a:ext cx="457761" cy="177564"/>
          </a:xfrm>
          <a:prstGeom prst="curvedConnector4">
            <a:avLst>
              <a:gd name="adj1" fmla="val 18661"/>
              <a:gd name="adj2" fmla="val 108582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1" name="Agrupar 360">
            <a:extLst>
              <a:ext uri="{FF2B5EF4-FFF2-40B4-BE49-F238E27FC236}">
                <a16:creationId xmlns:a16="http://schemas.microsoft.com/office/drawing/2014/main" id="{DF26C0DF-6B27-075E-D782-DE7B1308B5EF}"/>
              </a:ext>
            </a:extLst>
          </p:cNvPr>
          <p:cNvGrpSpPr/>
          <p:nvPr/>
        </p:nvGrpSpPr>
        <p:grpSpPr>
          <a:xfrm>
            <a:off x="7479403" y="4368981"/>
            <a:ext cx="606323" cy="502229"/>
            <a:chOff x="616635" y="2771335"/>
            <a:chExt cx="1324707" cy="1097280"/>
          </a:xfrm>
        </p:grpSpPr>
        <p:sp>
          <p:nvSpPr>
            <p:cNvPr id="362" name="Elipse 361">
              <a:extLst>
                <a:ext uri="{FF2B5EF4-FFF2-40B4-BE49-F238E27FC236}">
                  <a16:creationId xmlns:a16="http://schemas.microsoft.com/office/drawing/2014/main" id="{C0E2082B-9350-A67C-8499-C6AD993A6A20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63" name="Elipse 362">
              <a:extLst>
                <a:ext uri="{FF2B5EF4-FFF2-40B4-BE49-F238E27FC236}">
                  <a16:creationId xmlns:a16="http://schemas.microsoft.com/office/drawing/2014/main" id="{6F2B1C63-D34E-6FAB-FA96-FFF533930B0E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4" name="CaixaDeTexto 363">
              <a:extLst>
                <a:ext uri="{FF2B5EF4-FFF2-40B4-BE49-F238E27FC236}">
                  <a16:creationId xmlns:a16="http://schemas.microsoft.com/office/drawing/2014/main" id="{CFE767CD-3E85-317B-1C20-DF73F659A56C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pt-BR" sz="700" dirty="0"/>
            </a:p>
          </p:txBody>
        </p:sp>
      </p:grpSp>
      <p:grpSp>
        <p:nvGrpSpPr>
          <p:cNvPr id="371" name="Agrupar 370">
            <a:extLst>
              <a:ext uri="{FF2B5EF4-FFF2-40B4-BE49-F238E27FC236}">
                <a16:creationId xmlns:a16="http://schemas.microsoft.com/office/drawing/2014/main" id="{5C3212C8-9A7C-983E-2082-F016622A175E}"/>
              </a:ext>
            </a:extLst>
          </p:cNvPr>
          <p:cNvGrpSpPr/>
          <p:nvPr/>
        </p:nvGrpSpPr>
        <p:grpSpPr>
          <a:xfrm>
            <a:off x="95103" y="362376"/>
            <a:ext cx="2119098" cy="923330"/>
            <a:chOff x="415177" y="362376"/>
            <a:chExt cx="2119098" cy="923330"/>
          </a:xfrm>
        </p:grpSpPr>
        <p:sp>
          <p:nvSpPr>
            <p:cNvPr id="367" name="CaixaDeTexto 366">
              <a:extLst>
                <a:ext uri="{FF2B5EF4-FFF2-40B4-BE49-F238E27FC236}">
                  <a16:creationId xmlns:a16="http://schemas.microsoft.com/office/drawing/2014/main" id="{7CAED163-39D4-1BDA-D5A5-4EFB0E433306}"/>
                </a:ext>
              </a:extLst>
            </p:cNvPr>
            <p:cNvSpPr txBox="1"/>
            <p:nvPr/>
          </p:nvSpPr>
          <p:spPr>
            <a:xfrm>
              <a:off x="415177" y="362376"/>
              <a:ext cx="16363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Entidades:</a:t>
              </a:r>
            </a:p>
            <a:p>
              <a:r>
                <a:rPr lang="pt-BR" dirty="0"/>
                <a:t>Gestante</a:t>
              </a:r>
            </a:p>
            <a:p>
              <a:r>
                <a:rPr lang="pt-BR" dirty="0"/>
                <a:t>Recém-nascido</a:t>
              </a:r>
            </a:p>
          </p:txBody>
        </p:sp>
        <p:cxnSp>
          <p:nvCxnSpPr>
            <p:cNvPr id="369" name="Conector reto 368">
              <a:extLst>
                <a:ext uri="{FF2B5EF4-FFF2-40B4-BE49-F238E27FC236}">
                  <a16:creationId xmlns:a16="http://schemas.microsoft.com/office/drawing/2014/main" id="{44080968-6483-73C4-41EF-55CC5520C282}"/>
                </a:ext>
              </a:extLst>
            </p:cNvPr>
            <p:cNvCxnSpPr/>
            <p:nvPr/>
          </p:nvCxnSpPr>
          <p:spPr>
            <a:xfrm>
              <a:off x="1458271" y="87020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to 369">
              <a:extLst>
                <a:ext uri="{FF2B5EF4-FFF2-40B4-BE49-F238E27FC236}">
                  <a16:creationId xmlns:a16="http://schemas.microsoft.com/office/drawing/2014/main" id="{2DD4A8D2-8D30-5EBF-AF15-711AE6B15187}"/>
                </a:ext>
              </a:extLst>
            </p:cNvPr>
            <p:cNvCxnSpPr/>
            <p:nvPr/>
          </p:nvCxnSpPr>
          <p:spPr>
            <a:xfrm>
              <a:off x="2015954" y="111653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3" name="CaixaDeTexto 372">
            <a:extLst>
              <a:ext uri="{FF2B5EF4-FFF2-40B4-BE49-F238E27FC236}">
                <a16:creationId xmlns:a16="http://schemas.microsoft.com/office/drawing/2014/main" id="{DD41B517-A1E7-1CD3-591A-2AAFF133E9CB}"/>
              </a:ext>
            </a:extLst>
          </p:cNvPr>
          <p:cNvSpPr txBox="1"/>
          <p:nvPr/>
        </p:nvSpPr>
        <p:spPr>
          <a:xfrm>
            <a:off x="95102" y="1501288"/>
            <a:ext cx="28647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Pontos de Atribuição:</a:t>
            </a:r>
          </a:p>
          <a:p>
            <a:pPr marL="342900" indent="-342900">
              <a:buAutoNum type="arabicParenR"/>
            </a:pPr>
            <a:r>
              <a:rPr lang="pt-BR" dirty="0"/>
              <a:t>Classificação Risco</a:t>
            </a:r>
          </a:p>
          <a:p>
            <a:pPr marL="342900" indent="-342900">
              <a:buAutoNum type="arabicParenR"/>
            </a:pPr>
            <a:r>
              <a:rPr lang="pt-BR" dirty="0"/>
              <a:t>Prioridade de atendimento</a:t>
            </a:r>
          </a:p>
          <a:p>
            <a:pPr marL="342900" indent="-342900">
              <a:buAutoNum type="arabicParenR"/>
            </a:pPr>
            <a:r>
              <a:rPr lang="pt-BR" dirty="0"/>
              <a:t>Contador de óbitos</a:t>
            </a:r>
          </a:p>
        </p:txBody>
      </p:sp>
      <p:sp>
        <p:nvSpPr>
          <p:cNvPr id="376" name="Elipse 375">
            <a:extLst>
              <a:ext uri="{FF2B5EF4-FFF2-40B4-BE49-F238E27FC236}">
                <a16:creationId xmlns:a16="http://schemas.microsoft.com/office/drawing/2014/main" id="{6B0F3410-67FB-87D8-3F2A-2142FA59A180}"/>
              </a:ext>
            </a:extLst>
          </p:cNvPr>
          <p:cNvSpPr/>
          <p:nvPr/>
        </p:nvSpPr>
        <p:spPr>
          <a:xfrm>
            <a:off x="6452227" y="3374312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377" name="CaixaDeTexto 376">
            <a:extLst>
              <a:ext uri="{FF2B5EF4-FFF2-40B4-BE49-F238E27FC236}">
                <a16:creationId xmlns:a16="http://schemas.microsoft.com/office/drawing/2014/main" id="{F9899539-742C-14D4-6F1D-143DCB588256}"/>
              </a:ext>
            </a:extLst>
          </p:cNvPr>
          <p:cNvSpPr txBox="1"/>
          <p:nvPr/>
        </p:nvSpPr>
        <p:spPr>
          <a:xfrm>
            <a:off x="6407495" y="3443703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B8C90C-DCD2-DD57-C05A-C9D0A21158E6}"/>
              </a:ext>
            </a:extLst>
          </p:cNvPr>
          <p:cNvSpPr txBox="1"/>
          <p:nvPr/>
        </p:nvSpPr>
        <p:spPr>
          <a:xfrm>
            <a:off x="7526457" y="4522855"/>
            <a:ext cx="6045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/>
              <a:t>Internação</a:t>
            </a: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B21861DF-0A98-64A8-E170-50A932DCEE00}"/>
              </a:ext>
            </a:extLst>
          </p:cNvPr>
          <p:cNvSpPr/>
          <p:nvPr/>
        </p:nvSpPr>
        <p:spPr>
          <a:xfrm>
            <a:off x="9042400" y="5467350"/>
            <a:ext cx="203767" cy="673100"/>
          </a:xfrm>
          <a:custGeom>
            <a:avLst/>
            <a:gdLst>
              <a:gd name="connsiteX0" fmla="*/ 69850 w 203767"/>
              <a:gd name="connsiteY0" fmla="*/ 0 h 673100"/>
              <a:gd name="connsiteX1" fmla="*/ 165100 w 203767"/>
              <a:gd name="connsiteY1" fmla="*/ 152400 h 673100"/>
              <a:gd name="connsiteX2" fmla="*/ 203200 w 203767"/>
              <a:gd name="connsiteY2" fmla="*/ 393700 h 673100"/>
              <a:gd name="connsiteX3" fmla="*/ 139700 w 203767"/>
              <a:gd name="connsiteY3" fmla="*/ 584200 h 673100"/>
              <a:gd name="connsiteX4" fmla="*/ 0 w 203767"/>
              <a:gd name="connsiteY4" fmla="*/ 67310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767" h="673100">
                <a:moveTo>
                  <a:pt x="69850" y="0"/>
                </a:moveTo>
                <a:cubicBezTo>
                  <a:pt x="106362" y="43391"/>
                  <a:pt x="142875" y="86783"/>
                  <a:pt x="165100" y="152400"/>
                </a:cubicBezTo>
                <a:cubicBezTo>
                  <a:pt x="187325" y="218017"/>
                  <a:pt x="207433" y="321733"/>
                  <a:pt x="203200" y="393700"/>
                </a:cubicBezTo>
                <a:cubicBezTo>
                  <a:pt x="198967" y="465667"/>
                  <a:pt x="173567" y="537634"/>
                  <a:pt x="139700" y="584200"/>
                </a:cubicBezTo>
                <a:cubicBezTo>
                  <a:pt x="105833" y="630766"/>
                  <a:pt x="52916" y="651933"/>
                  <a:pt x="0" y="673100"/>
                </a:cubicBezTo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BC0084D6-2419-1B6E-984A-3E2FD7B50184}"/>
              </a:ext>
            </a:extLst>
          </p:cNvPr>
          <p:cNvCxnSpPr>
            <a:stCxn id="17" idx="4"/>
            <a:endCxn id="173" idx="3"/>
          </p:cNvCxnSpPr>
          <p:nvPr/>
        </p:nvCxnSpPr>
        <p:spPr>
          <a:xfrm flipH="1">
            <a:off x="8935033" y="6140450"/>
            <a:ext cx="107367" cy="2535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69B1EFB9-A159-8D52-E1AF-C4C719639CEE}"/>
              </a:ext>
            </a:extLst>
          </p:cNvPr>
          <p:cNvSpPr/>
          <p:nvPr/>
        </p:nvSpPr>
        <p:spPr>
          <a:xfrm>
            <a:off x="3095570" y="1827984"/>
            <a:ext cx="4008235" cy="3505200"/>
          </a:xfrm>
          <a:custGeom>
            <a:avLst/>
            <a:gdLst>
              <a:gd name="connsiteX0" fmla="*/ 4008235 w 4008235"/>
              <a:gd name="connsiteY0" fmla="*/ 3505200 h 3505200"/>
              <a:gd name="connsiteX1" fmla="*/ 3903460 w 4008235"/>
              <a:gd name="connsiteY1" fmla="*/ 2705100 h 3505200"/>
              <a:gd name="connsiteX2" fmla="*/ 3493885 w 4008235"/>
              <a:gd name="connsiteY2" fmla="*/ 2333625 h 3505200"/>
              <a:gd name="connsiteX3" fmla="*/ 2503285 w 4008235"/>
              <a:gd name="connsiteY3" fmla="*/ 2276475 h 3505200"/>
              <a:gd name="connsiteX4" fmla="*/ 1665085 w 4008235"/>
              <a:gd name="connsiteY4" fmla="*/ 2162175 h 3505200"/>
              <a:gd name="connsiteX5" fmla="*/ 388735 w 4008235"/>
              <a:gd name="connsiteY5" fmla="*/ 1885950 h 3505200"/>
              <a:gd name="connsiteX6" fmla="*/ 7735 w 4008235"/>
              <a:gd name="connsiteY6" fmla="*/ 1362075 h 3505200"/>
              <a:gd name="connsiteX7" fmla="*/ 169660 w 4008235"/>
              <a:gd name="connsiteY7" fmla="*/ 0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8235" h="3505200">
                <a:moveTo>
                  <a:pt x="4008235" y="3505200"/>
                </a:moveTo>
                <a:cubicBezTo>
                  <a:pt x="3998710" y="3202781"/>
                  <a:pt x="3989185" y="2900362"/>
                  <a:pt x="3903460" y="2705100"/>
                </a:cubicBezTo>
                <a:cubicBezTo>
                  <a:pt x="3817735" y="2509838"/>
                  <a:pt x="3727247" y="2405062"/>
                  <a:pt x="3493885" y="2333625"/>
                </a:cubicBezTo>
                <a:cubicBezTo>
                  <a:pt x="3260523" y="2262188"/>
                  <a:pt x="2808085" y="2305050"/>
                  <a:pt x="2503285" y="2276475"/>
                </a:cubicBezTo>
                <a:cubicBezTo>
                  <a:pt x="2198485" y="2247900"/>
                  <a:pt x="2017510" y="2227262"/>
                  <a:pt x="1665085" y="2162175"/>
                </a:cubicBezTo>
                <a:cubicBezTo>
                  <a:pt x="1312660" y="2097087"/>
                  <a:pt x="664960" y="2019300"/>
                  <a:pt x="388735" y="1885950"/>
                </a:cubicBezTo>
                <a:cubicBezTo>
                  <a:pt x="112510" y="1752600"/>
                  <a:pt x="44247" y="1676400"/>
                  <a:pt x="7735" y="1362075"/>
                </a:cubicBezTo>
                <a:cubicBezTo>
                  <a:pt x="-28778" y="1047750"/>
                  <a:pt x="70441" y="523875"/>
                  <a:pt x="16966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B8EBFFC-76BB-122C-A0B8-5435B6F6BD04}"/>
              </a:ext>
            </a:extLst>
          </p:cNvPr>
          <p:cNvSpPr txBox="1"/>
          <p:nvPr/>
        </p:nvSpPr>
        <p:spPr>
          <a:xfrm>
            <a:off x="7247191" y="517881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C77BC1F-094B-B272-1F7C-A8DBCE40F8BF}"/>
              </a:ext>
            </a:extLst>
          </p:cNvPr>
          <p:cNvSpPr txBox="1"/>
          <p:nvPr/>
        </p:nvSpPr>
        <p:spPr>
          <a:xfrm>
            <a:off x="9628934" y="3047204"/>
            <a:ext cx="286472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Desvios:</a:t>
            </a:r>
          </a:p>
          <a:p>
            <a:pPr marL="342900" indent="-342900">
              <a:buAutoNum type="alphaUcParenR"/>
            </a:pPr>
            <a:r>
              <a:rPr lang="pt-BR" sz="1600" dirty="0"/>
              <a:t>Atendimento concluído</a:t>
            </a:r>
          </a:p>
          <a:p>
            <a:pPr marL="342900" indent="-342900">
              <a:buAutoNum type="alphaUcParenR"/>
            </a:pPr>
            <a:r>
              <a:rPr lang="pt-BR" sz="1600" dirty="0"/>
              <a:t>Procedimento especial</a:t>
            </a:r>
          </a:p>
          <a:p>
            <a:pPr marL="342900" indent="-342900">
              <a:buAutoNum type="alphaUcParenR"/>
            </a:pPr>
            <a:r>
              <a:rPr lang="pt-BR" sz="1600" dirty="0"/>
              <a:t>Trabalho de parto</a:t>
            </a:r>
          </a:p>
          <a:p>
            <a:pPr marL="342900" indent="-342900">
              <a:buAutoNum type="alphaUcParenR"/>
            </a:pPr>
            <a:r>
              <a:rPr lang="pt-BR" sz="1600" dirty="0"/>
              <a:t>Internação externa</a:t>
            </a:r>
          </a:p>
          <a:p>
            <a:pPr marL="342900" indent="-342900">
              <a:buAutoNum type="alphaUcParenR"/>
            </a:pPr>
            <a:r>
              <a:rPr lang="pt-BR" sz="1600" dirty="0"/>
              <a:t>Exames e Observação</a:t>
            </a:r>
          </a:p>
          <a:p>
            <a:pPr marL="342900" indent="-342900">
              <a:buAutoNum type="alphaUcParenR"/>
            </a:pPr>
            <a:r>
              <a:rPr lang="pt-BR" sz="1600" dirty="0"/>
              <a:t>Procedimento Especial</a:t>
            </a:r>
          </a:p>
          <a:p>
            <a:pPr marL="342900" indent="-342900">
              <a:buAutoNum type="alphaUcParenR"/>
            </a:pPr>
            <a:r>
              <a:rPr lang="pt-BR" sz="1600" dirty="0"/>
              <a:t>Alojamento</a:t>
            </a:r>
          </a:p>
          <a:p>
            <a:pPr marL="342900" indent="-342900">
              <a:buAutoNum type="alphaUcParenR"/>
            </a:pPr>
            <a:r>
              <a:rPr lang="pt-BR" sz="1600" dirty="0"/>
              <a:t>Primeiros Cuidados RN</a:t>
            </a:r>
          </a:p>
          <a:p>
            <a:pPr marL="342900" indent="-342900">
              <a:buAutoNum type="alphaUcParenR"/>
            </a:pPr>
            <a:r>
              <a:rPr lang="pt-BR" sz="1600" dirty="0"/>
              <a:t>Cuidados Progressivos</a:t>
            </a:r>
          </a:p>
          <a:p>
            <a:pPr marL="342900" indent="-342900">
              <a:buAutoNum type="alphaUcParenR"/>
            </a:pPr>
            <a:endParaRPr lang="pt-BR" sz="1600" dirty="0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2B80AD3D-E880-D514-28AE-8306B7C7065D}"/>
              </a:ext>
            </a:extLst>
          </p:cNvPr>
          <p:cNvSpPr/>
          <p:nvPr/>
        </p:nvSpPr>
        <p:spPr>
          <a:xfrm>
            <a:off x="2837932" y="475643"/>
            <a:ext cx="4243352" cy="4872534"/>
          </a:xfrm>
          <a:custGeom>
            <a:avLst/>
            <a:gdLst>
              <a:gd name="connsiteX0" fmla="*/ 4243352 w 4243352"/>
              <a:gd name="connsiteY0" fmla="*/ 4872534 h 4872534"/>
              <a:gd name="connsiteX1" fmla="*/ 4094496 w 4243352"/>
              <a:gd name="connsiteY1" fmla="*/ 4511027 h 4872534"/>
              <a:gd name="connsiteX2" fmla="*/ 3977538 w 4243352"/>
              <a:gd name="connsiteY2" fmla="*/ 4043194 h 4872534"/>
              <a:gd name="connsiteX3" fmla="*/ 3499073 w 4243352"/>
              <a:gd name="connsiteY3" fmla="*/ 3862441 h 4872534"/>
              <a:gd name="connsiteX4" fmla="*/ 2605938 w 4243352"/>
              <a:gd name="connsiteY4" fmla="*/ 3692320 h 4872534"/>
              <a:gd name="connsiteX5" fmla="*/ 1500152 w 4243352"/>
              <a:gd name="connsiteY5" fmla="*/ 3554097 h 4872534"/>
              <a:gd name="connsiteX6" fmla="*/ 723975 w 4243352"/>
              <a:gd name="connsiteY6" fmla="*/ 3511566 h 4872534"/>
              <a:gd name="connsiteX7" fmla="*/ 181715 w 4243352"/>
              <a:gd name="connsiteY7" fmla="*/ 3245752 h 4872534"/>
              <a:gd name="connsiteX8" fmla="*/ 961 w 4243352"/>
              <a:gd name="connsiteY8" fmla="*/ 2512106 h 4872534"/>
              <a:gd name="connsiteX9" fmla="*/ 128552 w 4243352"/>
              <a:gd name="connsiteY9" fmla="*/ 1587073 h 4872534"/>
              <a:gd name="connsiteX10" fmla="*/ 500691 w 4243352"/>
              <a:gd name="connsiteY10" fmla="*/ 438757 h 4872534"/>
              <a:gd name="connsiteX11" fmla="*/ 925994 w 4243352"/>
              <a:gd name="connsiteY11" fmla="*/ 55985 h 4872534"/>
              <a:gd name="connsiteX12" fmla="*/ 1797863 w 4243352"/>
              <a:gd name="connsiteY12" fmla="*/ 24087 h 4872534"/>
              <a:gd name="connsiteX13" fmla="*/ 2276328 w 4243352"/>
              <a:gd name="connsiteY13" fmla="*/ 268636 h 4872534"/>
              <a:gd name="connsiteX14" fmla="*/ 2382654 w 4243352"/>
              <a:gd name="connsiteY14" fmla="*/ 491920 h 4872534"/>
              <a:gd name="connsiteX15" fmla="*/ 2457082 w 4243352"/>
              <a:gd name="connsiteY15" fmla="*/ 513185 h 487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3352" h="4872534">
                <a:moveTo>
                  <a:pt x="4243352" y="4872534"/>
                </a:moveTo>
                <a:cubicBezTo>
                  <a:pt x="4191075" y="4760892"/>
                  <a:pt x="4138798" y="4649250"/>
                  <a:pt x="4094496" y="4511027"/>
                </a:cubicBezTo>
                <a:cubicBezTo>
                  <a:pt x="4050194" y="4372804"/>
                  <a:pt x="4076775" y="4151292"/>
                  <a:pt x="3977538" y="4043194"/>
                </a:cubicBezTo>
                <a:cubicBezTo>
                  <a:pt x="3878301" y="3935096"/>
                  <a:pt x="3727673" y="3920920"/>
                  <a:pt x="3499073" y="3862441"/>
                </a:cubicBezTo>
                <a:cubicBezTo>
                  <a:pt x="3270473" y="3803962"/>
                  <a:pt x="2939092" y="3743711"/>
                  <a:pt x="2605938" y="3692320"/>
                </a:cubicBezTo>
                <a:cubicBezTo>
                  <a:pt x="2272784" y="3640929"/>
                  <a:pt x="1813812" y="3584223"/>
                  <a:pt x="1500152" y="3554097"/>
                </a:cubicBezTo>
                <a:cubicBezTo>
                  <a:pt x="1186492" y="3523971"/>
                  <a:pt x="943715" y="3562957"/>
                  <a:pt x="723975" y="3511566"/>
                </a:cubicBezTo>
                <a:cubicBezTo>
                  <a:pt x="504235" y="3460175"/>
                  <a:pt x="302217" y="3412329"/>
                  <a:pt x="181715" y="3245752"/>
                </a:cubicBezTo>
                <a:cubicBezTo>
                  <a:pt x="61213" y="3079175"/>
                  <a:pt x="9821" y="2788552"/>
                  <a:pt x="961" y="2512106"/>
                </a:cubicBezTo>
                <a:cubicBezTo>
                  <a:pt x="-7899" y="2235660"/>
                  <a:pt x="45264" y="1932631"/>
                  <a:pt x="128552" y="1587073"/>
                </a:cubicBezTo>
                <a:cubicBezTo>
                  <a:pt x="211840" y="1241515"/>
                  <a:pt x="367784" y="693938"/>
                  <a:pt x="500691" y="438757"/>
                </a:cubicBezTo>
                <a:cubicBezTo>
                  <a:pt x="633598" y="183576"/>
                  <a:pt x="709799" y="125097"/>
                  <a:pt x="925994" y="55985"/>
                </a:cubicBezTo>
                <a:cubicBezTo>
                  <a:pt x="1142189" y="-13127"/>
                  <a:pt x="1572807" y="-11355"/>
                  <a:pt x="1797863" y="24087"/>
                </a:cubicBezTo>
                <a:cubicBezTo>
                  <a:pt x="2022919" y="59529"/>
                  <a:pt x="2178863" y="190664"/>
                  <a:pt x="2276328" y="268636"/>
                </a:cubicBezTo>
                <a:cubicBezTo>
                  <a:pt x="2373793" y="346608"/>
                  <a:pt x="2352528" y="451162"/>
                  <a:pt x="2382654" y="491920"/>
                </a:cubicBezTo>
                <a:cubicBezTo>
                  <a:pt x="2412780" y="532678"/>
                  <a:pt x="2434931" y="522931"/>
                  <a:pt x="2457082" y="51318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5B28A956-4C57-2ED8-8E31-89DEC14E88EE}"/>
              </a:ext>
            </a:extLst>
          </p:cNvPr>
          <p:cNvCxnSpPr/>
          <p:nvPr/>
        </p:nvCxnSpPr>
        <p:spPr>
          <a:xfrm>
            <a:off x="5292058" y="991147"/>
            <a:ext cx="964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862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139</Words>
  <Application>Microsoft Office PowerPoint</Application>
  <PresentationFormat>Widescreen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MARCOS DE MORAIS NASCIMENTO</dc:creator>
  <cp:lastModifiedBy>GABRIEL MARCOS DE MORAIS NASCIMENTO</cp:lastModifiedBy>
  <cp:revision>46</cp:revision>
  <dcterms:created xsi:type="dcterms:W3CDTF">2025-09-10T01:20:06Z</dcterms:created>
  <dcterms:modified xsi:type="dcterms:W3CDTF">2025-09-17T03:13:35Z</dcterms:modified>
</cp:coreProperties>
</file>